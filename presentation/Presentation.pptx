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1" r:id="rId1"/>
  </p:sldMasterIdLst>
  <p:sldIdLst>
    <p:sldId id="256" r:id="rId2"/>
    <p:sldId id="257" r:id="rId3"/>
    <p:sldId id="259" r:id="rId4"/>
    <p:sldId id="264" r:id="rId5"/>
    <p:sldId id="262" r:id="rId6"/>
    <p:sldId id="263" r:id="rId7"/>
    <p:sldId id="265" r:id="rId8"/>
    <p:sldId id="266" r:id="rId9"/>
    <p:sldId id="267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8" r:id="rId19"/>
    <p:sldId id="277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1"/>
    <p:restoredTop sz="95982"/>
  </p:normalViewPr>
  <p:slideViewPr>
    <p:cSldViewPr snapToGrid="0">
      <p:cViewPr varScale="1">
        <p:scale>
          <a:sx n="117" d="100"/>
          <a:sy n="117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_rels/data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/Relationships>
</file>

<file path=ppt/diagrams/_rels/data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3" Type="http://schemas.openxmlformats.org/officeDocument/2006/relationships/image" Target="../media/image36.png"/><Relationship Id="rId7" Type="http://schemas.openxmlformats.org/officeDocument/2006/relationships/image" Target="../media/image54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4" Type="http://schemas.openxmlformats.org/officeDocument/2006/relationships/image" Target="../media/image3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_rels/drawing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/Relationships>
</file>

<file path=ppt/diagrams/_rels/drawing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3" Type="http://schemas.openxmlformats.org/officeDocument/2006/relationships/image" Target="../media/image36.png"/><Relationship Id="rId7" Type="http://schemas.openxmlformats.org/officeDocument/2006/relationships/image" Target="../media/image54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4" Type="http://schemas.openxmlformats.org/officeDocument/2006/relationships/image" Target="../media/image3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2CA222B-B846-47A2-8FDE-8B7514A2509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2BA4D274-844F-455E-88DA-E01E9973B666}">
      <dgm:prSet/>
      <dgm:spPr/>
      <dgm:t>
        <a:bodyPr/>
        <a:lstStyle/>
        <a:p>
          <a:r>
            <a:rPr lang="en-US"/>
            <a:t>Credit scoring is a standard risk assessment practice in UK banking.</a:t>
          </a:r>
        </a:p>
      </dgm:t>
    </dgm:pt>
    <dgm:pt modelId="{D7AC962E-D9D7-420B-82FF-F258321A1FF8}" type="parTrans" cxnId="{A0DFAE54-D44F-4A5E-AA0F-16E6EBD164A5}">
      <dgm:prSet/>
      <dgm:spPr/>
      <dgm:t>
        <a:bodyPr/>
        <a:lstStyle/>
        <a:p>
          <a:endParaRPr lang="en-US"/>
        </a:p>
      </dgm:t>
    </dgm:pt>
    <dgm:pt modelId="{48C29485-9418-4530-9B1A-C3E03A9EF003}" type="sibTrans" cxnId="{A0DFAE54-D44F-4A5E-AA0F-16E6EBD164A5}">
      <dgm:prSet/>
      <dgm:spPr/>
      <dgm:t>
        <a:bodyPr/>
        <a:lstStyle/>
        <a:p>
          <a:endParaRPr lang="en-US"/>
        </a:p>
      </dgm:t>
    </dgm:pt>
    <dgm:pt modelId="{46494C66-D7FB-4D65-A540-0F18661BD048}">
      <dgm:prSet/>
      <dgm:spPr/>
      <dgm:t>
        <a:bodyPr/>
        <a:lstStyle/>
        <a:p>
          <a:r>
            <a:rPr lang="en-US"/>
            <a:t>Demographic and financial data are analyzed to identify default drivers.</a:t>
          </a:r>
        </a:p>
      </dgm:t>
    </dgm:pt>
    <dgm:pt modelId="{E5218A32-B7AC-4F4D-A875-C79F341D30EA}" type="parTrans" cxnId="{E4E33BAF-C64D-4B41-8441-DD2FC208FA5D}">
      <dgm:prSet/>
      <dgm:spPr/>
      <dgm:t>
        <a:bodyPr/>
        <a:lstStyle/>
        <a:p>
          <a:endParaRPr lang="en-US"/>
        </a:p>
      </dgm:t>
    </dgm:pt>
    <dgm:pt modelId="{77579045-4B53-4080-8104-CE30CF87CD82}" type="sibTrans" cxnId="{E4E33BAF-C64D-4B41-8441-DD2FC208FA5D}">
      <dgm:prSet/>
      <dgm:spPr/>
      <dgm:t>
        <a:bodyPr/>
        <a:lstStyle/>
        <a:p>
          <a:endParaRPr lang="en-US"/>
        </a:p>
      </dgm:t>
    </dgm:pt>
    <dgm:pt modelId="{A9B1BA51-CFEB-4338-899D-0DED643B8688}">
      <dgm:prSet/>
      <dgm:spPr/>
      <dgm:t>
        <a:bodyPr/>
        <a:lstStyle/>
        <a:p>
          <a:r>
            <a:rPr lang="en-US"/>
            <a:t>The project uses real customer data including credit details, profiles, and feedback.</a:t>
          </a:r>
        </a:p>
      </dgm:t>
    </dgm:pt>
    <dgm:pt modelId="{0BD2D69B-01E3-475A-85B0-6743E1029279}" type="parTrans" cxnId="{920DBF50-72A1-4CAB-903D-D9BE2C96FAB4}">
      <dgm:prSet/>
      <dgm:spPr/>
      <dgm:t>
        <a:bodyPr/>
        <a:lstStyle/>
        <a:p>
          <a:endParaRPr lang="en-US"/>
        </a:p>
      </dgm:t>
    </dgm:pt>
    <dgm:pt modelId="{9354D2AE-AAB3-4F6D-AD38-A6B5701E0E45}" type="sibTrans" cxnId="{920DBF50-72A1-4CAB-903D-D9BE2C96FAB4}">
      <dgm:prSet/>
      <dgm:spPr/>
      <dgm:t>
        <a:bodyPr/>
        <a:lstStyle/>
        <a:p>
          <a:endParaRPr lang="en-US"/>
        </a:p>
      </dgm:t>
    </dgm:pt>
    <dgm:pt modelId="{E76DBA06-2A27-4516-A9DE-FC8BE476A560}" type="pres">
      <dgm:prSet presAssocID="{82CA222B-B846-47A2-8FDE-8B7514A2509F}" presName="root" presStyleCnt="0">
        <dgm:presLayoutVars>
          <dgm:dir/>
          <dgm:resizeHandles val="exact"/>
        </dgm:presLayoutVars>
      </dgm:prSet>
      <dgm:spPr/>
    </dgm:pt>
    <dgm:pt modelId="{CD7DBB97-02C7-4459-857B-D35E5A42F994}" type="pres">
      <dgm:prSet presAssocID="{2BA4D274-844F-455E-88DA-E01E9973B666}" presName="compNode" presStyleCnt="0"/>
      <dgm:spPr/>
    </dgm:pt>
    <dgm:pt modelId="{DBA4163E-5F76-49DA-92B1-DE825823D9EE}" type="pres">
      <dgm:prSet presAssocID="{2BA4D274-844F-455E-88DA-E01E9973B666}" presName="bgRect" presStyleLbl="bgShp" presStyleIdx="0" presStyleCnt="3"/>
      <dgm:spPr/>
    </dgm:pt>
    <dgm:pt modelId="{2FC1D778-C0DB-47D3-A90D-C4E3A0B9DC5E}" type="pres">
      <dgm:prSet presAssocID="{2BA4D274-844F-455E-88DA-E01E9973B66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06526B13-38D0-4CBA-85C5-4BBCC9DE6BC5}" type="pres">
      <dgm:prSet presAssocID="{2BA4D274-844F-455E-88DA-E01E9973B666}" presName="spaceRect" presStyleCnt="0"/>
      <dgm:spPr/>
    </dgm:pt>
    <dgm:pt modelId="{DA474B3F-5905-4129-B666-014DDB58C5BF}" type="pres">
      <dgm:prSet presAssocID="{2BA4D274-844F-455E-88DA-E01E9973B666}" presName="parTx" presStyleLbl="revTx" presStyleIdx="0" presStyleCnt="3">
        <dgm:presLayoutVars>
          <dgm:chMax val="0"/>
          <dgm:chPref val="0"/>
        </dgm:presLayoutVars>
      </dgm:prSet>
      <dgm:spPr/>
    </dgm:pt>
    <dgm:pt modelId="{09965B53-3B5F-4BB4-8DD1-D8860B2ED5DD}" type="pres">
      <dgm:prSet presAssocID="{48C29485-9418-4530-9B1A-C3E03A9EF003}" presName="sibTrans" presStyleCnt="0"/>
      <dgm:spPr/>
    </dgm:pt>
    <dgm:pt modelId="{1A6E6363-8A2E-4B9D-9E8C-A69120D885C8}" type="pres">
      <dgm:prSet presAssocID="{46494C66-D7FB-4D65-A540-0F18661BD048}" presName="compNode" presStyleCnt="0"/>
      <dgm:spPr/>
    </dgm:pt>
    <dgm:pt modelId="{AB343A72-43CD-4DB2-A546-26681672D5AA}" type="pres">
      <dgm:prSet presAssocID="{46494C66-D7FB-4D65-A540-0F18661BD048}" presName="bgRect" presStyleLbl="bgShp" presStyleIdx="1" presStyleCnt="3"/>
      <dgm:spPr/>
    </dgm:pt>
    <dgm:pt modelId="{D0E328D9-ED29-4425-8DA6-DFC8D9A841A5}" type="pres">
      <dgm:prSet presAssocID="{46494C66-D7FB-4D65-A540-0F18661BD04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1536CABA-138A-49A0-BDD7-426E53387FC2}" type="pres">
      <dgm:prSet presAssocID="{46494C66-D7FB-4D65-A540-0F18661BD048}" presName="spaceRect" presStyleCnt="0"/>
      <dgm:spPr/>
    </dgm:pt>
    <dgm:pt modelId="{4D2DCA44-4F45-42AE-847F-F8AE30D1C1FB}" type="pres">
      <dgm:prSet presAssocID="{46494C66-D7FB-4D65-A540-0F18661BD048}" presName="parTx" presStyleLbl="revTx" presStyleIdx="1" presStyleCnt="3">
        <dgm:presLayoutVars>
          <dgm:chMax val="0"/>
          <dgm:chPref val="0"/>
        </dgm:presLayoutVars>
      </dgm:prSet>
      <dgm:spPr/>
    </dgm:pt>
    <dgm:pt modelId="{2F5EE7FF-AED2-4A7D-B306-463588F3DDB9}" type="pres">
      <dgm:prSet presAssocID="{77579045-4B53-4080-8104-CE30CF87CD82}" presName="sibTrans" presStyleCnt="0"/>
      <dgm:spPr/>
    </dgm:pt>
    <dgm:pt modelId="{81FB1392-C985-4522-9C92-3F474A5FCC56}" type="pres">
      <dgm:prSet presAssocID="{A9B1BA51-CFEB-4338-899D-0DED643B8688}" presName="compNode" presStyleCnt="0"/>
      <dgm:spPr/>
    </dgm:pt>
    <dgm:pt modelId="{38EB7959-A65D-43EC-8D4A-C66ED5D0B653}" type="pres">
      <dgm:prSet presAssocID="{A9B1BA51-CFEB-4338-899D-0DED643B8688}" presName="bgRect" presStyleLbl="bgShp" presStyleIdx="2" presStyleCnt="3"/>
      <dgm:spPr/>
    </dgm:pt>
    <dgm:pt modelId="{926DCFD5-2C63-44C2-87F8-9EC8402678CA}" type="pres">
      <dgm:prSet presAssocID="{A9B1BA51-CFEB-4338-899D-0DED643B868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F89B0754-5E1A-42F3-9992-666B70D231C6}" type="pres">
      <dgm:prSet presAssocID="{A9B1BA51-CFEB-4338-899D-0DED643B8688}" presName="spaceRect" presStyleCnt="0"/>
      <dgm:spPr/>
    </dgm:pt>
    <dgm:pt modelId="{433C4E5C-19FA-4DB0-8C87-B5290F625745}" type="pres">
      <dgm:prSet presAssocID="{A9B1BA51-CFEB-4338-899D-0DED643B868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20DBF50-72A1-4CAB-903D-D9BE2C96FAB4}" srcId="{82CA222B-B846-47A2-8FDE-8B7514A2509F}" destId="{A9B1BA51-CFEB-4338-899D-0DED643B8688}" srcOrd="2" destOrd="0" parTransId="{0BD2D69B-01E3-475A-85B0-6743E1029279}" sibTransId="{9354D2AE-AAB3-4F6D-AD38-A6B5701E0E45}"/>
    <dgm:cxn modelId="{A0DFAE54-D44F-4A5E-AA0F-16E6EBD164A5}" srcId="{82CA222B-B846-47A2-8FDE-8B7514A2509F}" destId="{2BA4D274-844F-455E-88DA-E01E9973B666}" srcOrd="0" destOrd="0" parTransId="{D7AC962E-D9D7-420B-82FF-F258321A1FF8}" sibTransId="{48C29485-9418-4530-9B1A-C3E03A9EF003}"/>
    <dgm:cxn modelId="{F41F5259-66EB-41E6-A66F-A34D818312B4}" type="presOf" srcId="{A9B1BA51-CFEB-4338-899D-0DED643B8688}" destId="{433C4E5C-19FA-4DB0-8C87-B5290F625745}" srcOrd="0" destOrd="0" presId="urn:microsoft.com/office/officeart/2018/2/layout/IconVerticalSolidList"/>
    <dgm:cxn modelId="{7DE6E77F-85E7-487E-90E1-A8EBE0907698}" type="presOf" srcId="{46494C66-D7FB-4D65-A540-0F18661BD048}" destId="{4D2DCA44-4F45-42AE-847F-F8AE30D1C1FB}" srcOrd="0" destOrd="0" presId="urn:microsoft.com/office/officeart/2018/2/layout/IconVerticalSolidList"/>
    <dgm:cxn modelId="{E4E33BAF-C64D-4B41-8441-DD2FC208FA5D}" srcId="{82CA222B-B846-47A2-8FDE-8B7514A2509F}" destId="{46494C66-D7FB-4D65-A540-0F18661BD048}" srcOrd="1" destOrd="0" parTransId="{E5218A32-B7AC-4F4D-A875-C79F341D30EA}" sibTransId="{77579045-4B53-4080-8104-CE30CF87CD82}"/>
    <dgm:cxn modelId="{F96472EE-A505-43C7-AE50-E9D0172CF0C1}" type="presOf" srcId="{2BA4D274-844F-455E-88DA-E01E9973B666}" destId="{DA474B3F-5905-4129-B666-014DDB58C5BF}" srcOrd="0" destOrd="0" presId="urn:microsoft.com/office/officeart/2018/2/layout/IconVerticalSolidList"/>
    <dgm:cxn modelId="{571611F4-6D9B-49CA-B3AE-478A2FFCBA39}" type="presOf" srcId="{82CA222B-B846-47A2-8FDE-8B7514A2509F}" destId="{E76DBA06-2A27-4516-A9DE-FC8BE476A560}" srcOrd="0" destOrd="0" presId="urn:microsoft.com/office/officeart/2018/2/layout/IconVerticalSolidList"/>
    <dgm:cxn modelId="{2DC8882F-4A67-42C6-A6CB-F9A5D802519A}" type="presParOf" srcId="{E76DBA06-2A27-4516-A9DE-FC8BE476A560}" destId="{CD7DBB97-02C7-4459-857B-D35E5A42F994}" srcOrd="0" destOrd="0" presId="urn:microsoft.com/office/officeart/2018/2/layout/IconVerticalSolidList"/>
    <dgm:cxn modelId="{92631FAA-03E2-4197-B3C3-2C4C42131821}" type="presParOf" srcId="{CD7DBB97-02C7-4459-857B-D35E5A42F994}" destId="{DBA4163E-5F76-49DA-92B1-DE825823D9EE}" srcOrd="0" destOrd="0" presId="urn:microsoft.com/office/officeart/2018/2/layout/IconVerticalSolidList"/>
    <dgm:cxn modelId="{285D92C0-6D3F-4831-BE9D-E32AECA8A0E3}" type="presParOf" srcId="{CD7DBB97-02C7-4459-857B-D35E5A42F994}" destId="{2FC1D778-C0DB-47D3-A90D-C4E3A0B9DC5E}" srcOrd="1" destOrd="0" presId="urn:microsoft.com/office/officeart/2018/2/layout/IconVerticalSolidList"/>
    <dgm:cxn modelId="{114F3B29-01B2-4526-997B-045F2B4F2F5E}" type="presParOf" srcId="{CD7DBB97-02C7-4459-857B-D35E5A42F994}" destId="{06526B13-38D0-4CBA-85C5-4BBCC9DE6BC5}" srcOrd="2" destOrd="0" presId="urn:microsoft.com/office/officeart/2018/2/layout/IconVerticalSolidList"/>
    <dgm:cxn modelId="{8698FCC5-8032-4B59-BCFD-B213C0885F45}" type="presParOf" srcId="{CD7DBB97-02C7-4459-857B-D35E5A42F994}" destId="{DA474B3F-5905-4129-B666-014DDB58C5BF}" srcOrd="3" destOrd="0" presId="urn:microsoft.com/office/officeart/2018/2/layout/IconVerticalSolidList"/>
    <dgm:cxn modelId="{1ADAE84A-2BDB-4108-BB5E-13D16AD67313}" type="presParOf" srcId="{E76DBA06-2A27-4516-A9DE-FC8BE476A560}" destId="{09965B53-3B5F-4BB4-8DD1-D8860B2ED5DD}" srcOrd="1" destOrd="0" presId="urn:microsoft.com/office/officeart/2018/2/layout/IconVerticalSolidList"/>
    <dgm:cxn modelId="{A7A8B3CC-2FAF-4574-982F-ACFFEE93A2D5}" type="presParOf" srcId="{E76DBA06-2A27-4516-A9DE-FC8BE476A560}" destId="{1A6E6363-8A2E-4B9D-9E8C-A69120D885C8}" srcOrd="2" destOrd="0" presId="urn:microsoft.com/office/officeart/2018/2/layout/IconVerticalSolidList"/>
    <dgm:cxn modelId="{89748846-BB08-41B8-B7BC-1D3B1EE57001}" type="presParOf" srcId="{1A6E6363-8A2E-4B9D-9E8C-A69120D885C8}" destId="{AB343A72-43CD-4DB2-A546-26681672D5AA}" srcOrd="0" destOrd="0" presId="urn:microsoft.com/office/officeart/2018/2/layout/IconVerticalSolidList"/>
    <dgm:cxn modelId="{DB7A1631-E268-42F4-B021-DCF089E81430}" type="presParOf" srcId="{1A6E6363-8A2E-4B9D-9E8C-A69120D885C8}" destId="{D0E328D9-ED29-4425-8DA6-DFC8D9A841A5}" srcOrd="1" destOrd="0" presId="urn:microsoft.com/office/officeart/2018/2/layout/IconVerticalSolidList"/>
    <dgm:cxn modelId="{2E34D5E8-B5C1-431E-9BC1-CABCD88ACD16}" type="presParOf" srcId="{1A6E6363-8A2E-4B9D-9E8C-A69120D885C8}" destId="{1536CABA-138A-49A0-BDD7-426E53387FC2}" srcOrd="2" destOrd="0" presId="urn:microsoft.com/office/officeart/2018/2/layout/IconVerticalSolidList"/>
    <dgm:cxn modelId="{224C15A4-4A3C-45C6-8BDD-9AD1253E958F}" type="presParOf" srcId="{1A6E6363-8A2E-4B9D-9E8C-A69120D885C8}" destId="{4D2DCA44-4F45-42AE-847F-F8AE30D1C1FB}" srcOrd="3" destOrd="0" presId="urn:microsoft.com/office/officeart/2018/2/layout/IconVerticalSolidList"/>
    <dgm:cxn modelId="{5D1C40DA-CE8F-4980-9FE8-B808AFCD16D6}" type="presParOf" srcId="{E76DBA06-2A27-4516-A9DE-FC8BE476A560}" destId="{2F5EE7FF-AED2-4A7D-B306-463588F3DDB9}" srcOrd="3" destOrd="0" presId="urn:microsoft.com/office/officeart/2018/2/layout/IconVerticalSolidList"/>
    <dgm:cxn modelId="{42D870C1-1F2F-4252-B8E3-3261B38D2B24}" type="presParOf" srcId="{E76DBA06-2A27-4516-A9DE-FC8BE476A560}" destId="{81FB1392-C985-4522-9C92-3F474A5FCC56}" srcOrd="4" destOrd="0" presId="urn:microsoft.com/office/officeart/2018/2/layout/IconVerticalSolidList"/>
    <dgm:cxn modelId="{D4537B53-9679-44B3-94D0-ECFD25F640A9}" type="presParOf" srcId="{81FB1392-C985-4522-9C92-3F474A5FCC56}" destId="{38EB7959-A65D-43EC-8D4A-C66ED5D0B653}" srcOrd="0" destOrd="0" presId="urn:microsoft.com/office/officeart/2018/2/layout/IconVerticalSolidList"/>
    <dgm:cxn modelId="{E47437A8-BF2B-4304-8B0E-B0D62E9D0D33}" type="presParOf" srcId="{81FB1392-C985-4522-9C92-3F474A5FCC56}" destId="{926DCFD5-2C63-44C2-87F8-9EC8402678CA}" srcOrd="1" destOrd="0" presId="urn:microsoft.com/office/officeart/2018/2/layout/IconVerticalSolidList"/>
    <dgm:cxn modelId="{C4A4D88E-0955-4806-B624-6B217E589AAA}" type="presParOf" srcId="{81FB1392-C985-4522-9C92-3F474A5FCC56}" destId="{F89B0754-5E1A-42F3-9992-666B70D231C6}" srcOrd="2" destOrd="0" presId="urn:microsoft.com/office/officeart/2018/2/layout/IconVerticalSolidList"/>
    <dgm:cxn modelId="{08133969-507F-408B-8BD9-48E3D7E95596}" type="presParOf" srcId="{81FB1392-C985-4522-9C92-3F474A5FCC56}" destId="{433C4E5C-19FA-4DB0-8C87-B5290F62574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E12182C-24EE-7B4B-B54A-A4508AA0C037}" type="doc">
      <dgm:prSet loTypeId="urn:microsoft.com/office/officeart/2005/8/layout/lProcess3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1BF5387-A3FB-6948-B3CA-C0FEE3E81BD1}">
      <dgm:prSet custT="1"/>
      <dgm:spPr/>
      <dgm:t>
        <a:bodyPr/>
        <a:lstStyle/>
        <a:p>
          <a:r>
            <a:rPr lang="en-US" sz="2000" dirty="0"/>
            <a:t>Debt-to-income shows largest variability</a:t>
          </a:r>
        </a:p>
      </dgm:t>
    </dgm:pt>
    <dgm:pt modelId="{7190B179-CA5F-EE44-B3F3-0EE61DC793AE}" type="parTrans" cxnId="{5A30706B-C1D8-E940-8544-49F743C8717C}">
      <dgm:prSet/>
      <dgm:spPr/>
      <dgm:t>
        <a:bodyPr/>
        <a:lstStyle/>
        <a:p>
          <a:endParaRPr lang="en-US"/>
        </a:p>
      </dgm:t>
    </dgm:pt>
    <dgm:pt modelId="{674243BA-B6C2-754B-BB18-7A21A5EBD087}" type="sibTrans" cxnId="{5A30706B-C1D8-E940-8544-49F743C8717C}">
      <dgm:prSet/>
      <dgm:spPr/>
      <dgm:t>
        <a:bodyPr/>
        <a:lstStyle/>
        <a:p>
          <a:endParaRPr lang="en-US"/>
        </a:p>
      </dgm:t>
    </dgm:pt>
    <dgm:pt modelId="{CA367707-2E7F-1E4F-9EEC-558C9FDAE40E}">
      <dgm:prSet custT="1"/>
      <dgm:spPr/>
      <dgm:t>
        <a:bodyPr/>
        <a:lstStyle/>
        <a:p>
          <a:r>
            <a:rPr lang="en-US" sz="2000" dirty="0"/>
            <a:t>Credit debt has moderate spread</a:t>
          </a:r>
        </a:p>
      </dgm:t>
    </dgm:pt>
    <dgm:pt modelId="{5B9FFAA9-28F5-F243-B594-667A95BC64C8}" type="parTrans" cxnId="{DDD3C249-9C40-4542-9DE9-8AE47178C8C0}">
      <dgm:prSet/>
      <dgm:spPr/>
      <dgm:t>
        <a:bodyPr/>
        <a:lstStyle/>
        <a:p>
          <a:endParaRPr lang="en-US"/>
        </a:p>
      </dgm:t>
    </dgm:pt>
    <dgm:pt modelId="{9864B1A4-DFC6-FA48-AEE5-A4C928263F0E}" type="sibTrans" cxnId="{DDD3C249-9C40-4542-9DE9-8AE47178C8C0}">
      <dgm:prSet/>
      <dgm:spPr/>
      <dgm:t>
        <a:bodyPr/>
        <a:lstStyle/>
        <a:p>
          <a:endParaRPr lang="en-US"/>
        </a:p>
      </dgm:t>
    </dgm:pt>
    <dgm:pt modelId="{72E9AD6F-27C3-AB47-8AA3-0792EF2B689C}">
      <dgm:prSet custT="1"/>
      <dgm:spPr/>
      <dgm:t>
        <a:bodyPr/>
        <a:lstStyle/>
        <a:p>
          <a:r>
            <a:rPr lang="en-US" sz="2000" dirty="0"/>
            <a:t>Other debt is more stable</a:t>
          </a:r>
        </a:p>
      </dgm:t>
    </dgm:pt>
    <dgm:pt modelId="{577EDB35-C0C0-4A43-A130-A273FD1B9020}" type="parTrans" cxnId="{09D2398F-AA10-EE46-9E37-8F5EAF022DC8}">
      <dgm:prSet/>
      <dgm:spPr/>
      <dgm:t>
        <a:bodyPr/>
        <a:lstStyle/>
        <a:p>
          <a:endParaRPr lang="en-US"/>
        </a:p>
      </dgm:t>
    </dgm:pt>
    <dgm:pt modelId="{334A1CFF-4A72-9440-90DC-8005EA60C5BB}" type="sibTrans" cxnId="{09D2398F-AA10-EE46-9E37-8F5EAF022DC8}">
      <dgm:prSet/>
      <dgm:spPr/>
      <dgm:t>
        <a:bodyPr/>
        <a:lstStyle/>
        <a:p>
          <a:endParaRPr lang="en-US"/>
        </a:p>
      </dgm:t>
    </dgm:pt>
    <dgm:pt modelId="{8C88E08F-07D5-2648-84D4-9DEF0CC9B00E}" type="pres">
      <dgm:prSet presAssocID="{2E12182C-24EE-7B4B-B54A-A4508AA0C037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1B0F2485-91E5-2348-8456-C2EBA78A357C}" type="pres">
      <dgm:prSet presAssocID="{41BF5387-A3FB-6948-B3CA-C0FEE3E81BD1}" presName="horFlow" presStyleCnt="0"/>
      <dgm:spPr/>
    </dgm:pt>
    <dgm:pt modelId="{7E3F1BBF-1FCB-8F43-A267-F6420D40FE5C}" type="pres">
      <dgm:prSet presAssocID="{41BF5387-A3FB-6948-B3CA-C0FEE3E81BD1}" presName="bigChev" presStyleLbl="node1" presStyleIdx="0" presStyleCnt="3" custScaleX="135450" custScaleY="83773"/>
      <dgm:spPr/>
    </dgm:pt>
    <dgm:pt modelId="{C5471E95-71FF-4546-BF05-55ADB96B9E52}" type="pres">
      <dgm:prSet presAssocID="{41BF5387-A3FB-6948-B3CA-C0FEE3E81BD1}" presName="vSp" presStyleCnt="0"/>
      <dgm:spPr/>
    </dgm:pt>
    <dgm:pt modelId="{298EE13C-9CCF-8149-87F9-DFD04F8EED1F}" type="pres">
      <dgm:prSet presAssocID="{CA367707-2E7F-1E4F-9EEC-558C9FDAE40E}" presName="horFlow" presStyleCnt="0"/>
      <dgm:spPr/>
    </dgm:pt>
    <dgm:pt modelId="{7ABCB6D8-447A-F84A-B23C-3402CEE4D7E6}" type="pres">
      <dgm:prSet presAssocID="{CA367707-2E7F-1E4F-9EEC-558C9FDAE40E}" presName="bigChev" presStyleLbl="node1" presStyleIdx="1" presStyleCnt="3" custScaleX="135450" custScaleY="83773"/>
      <dgm:spPr/>
    </dgm:pt>
    <dgm:pt modelId="{FD123134-373F-774D-B150-01528C6D46AB}" type="pres">
      <dgm:prSet presAssocID="{CA367707-2E7F-1E4F-9EEC-558C9FDAE40E}" presName="vSp" presStyleCnt="0"/>
      <dgm:spPr/>
    </dgm:pt>
    <dgm:pt modelId="{5FF000AC-693A-ED45-A0B5-83A408ABEA4A}" type="pres">
      <dgm:prSet presAssocID="{72E9AD6F-27C3-AB47-8AA3-0792EF2B689C}" presName="horFlow" presStyleCnt="0"/>
      <dgm:spPr/>
    </dgm:pt>
    <dgm:pt modelId="{8B5C5585-A2CA-6640-B3C9-F4ACFC871C4F}" type="pres">
      <dgm:prSet presAssocID="{72E9AD6F-27C3-AB47-8AA3-0792EF2B689C}" presName="bigChev" presStyleLbl="node1" presStyleIdx="2" presStyleCnt="3" custScaleX="135450" custScaleY="83773"/>
      <dgm:spPr/>
    </dgm:pt>
  </dgm:ptLst>
  <dgm:cxnLst>
    <dgm:cxn modelId="{DDD3C249-9C40-4542-9DE9-8AE47178C8C0}" srcId="{2E12182C-24EE-7B4B-B54A-A4508AA0C037}" destId="{CA367707-2E7F-1E4F-9EEC-558C9FDAE40E}" srcOrd="1" destOrd="0" parTransId="{5B9FFAA9-28F5-F243-B594-667A95BC64C8}" sibTransId="{9864B1A4-DFC6-FA48-AEE5-A4C928263F0E}"/>
    <dgm:cxn modelId="{5A30706B-C1D8-E940-8544-49F743C8717C}" srcId="{2E12182C-24EE-7B4B-B54A-A4508AA0C037}" destId="{41BF5387-A3FB-6948-B3CA-C0FEE3E81BD1}" srcOrd="0" destOrd="0" parTransId="{7190B179-CA5F-EE44-B3F3-0EE61DC793AE}" sibTransId="{674243BA-B6C2-754B-BB18-7A21A5EBD087}"/>
    <dgm:cxn modelId="{06006D80-53E8-4842-ACBA-595FBAB66CD8}" type="presOf" srcId="{41BF5387-A3FB-6948-B3CA-C0FEE3E81BD1}" destId="{7E3F1BBF-1FCB-8F43-A267-F6420D40FE5C}" srcOrd="0" destOrd="0" presId="urn:microsoft.com/office/officeart/2005/8/layout/lProcess3"/>
    <dgm:cxn modelId="{09D2398F-AA10-EE46-9E37-8F5EAF022DC8}" srcId="{2E12182C-24EE-7B4B-B54A-A4508AA0C037}" destId="{72E9AD6F-27C3-AB47-8AA3-0792EF2B689C}" srcOrd="2" destOrd="0" parTransId="{577EDB35-C0C0-4A43-A130-A273FD1B9020}" sibTransId="{334A1CFF-4A72-9440-90DC-8005EA60C5BB}"/>
    <dgm:cxn modelId="{C6BE3AB3-482A-B645-B34D-0D8E2036CA26}" type="presOf" srcId="{2E12182C-24EE-7B4B-B54A-A4508AA0C037}" destId="{8C88E08F-07D5-2648-84D4-9DEF0CC9B00E}" srcOrd="0" destOrd="0" presId="urn:microsoft.com/office/officeart/2005/8/layout/lProcess3"/>
    <dgm:cxn modelId="{60AAA0BD-ED17-9748-96E6-B0D51A717E6C}" type="presOf" srcId="{72E9AD6F-27C3-AB47-8AA3-0792EF2B689C}" destId="{8B5C5585-A2CA-6640-B3C9-F4ACFC871C4F}" srcOrd="0" destOrd="0" presId="urn:microsoft.com/office/officeart/2005/8/layout/lProcess3"/>
    <dgm:cxn modelId="{6FB5EEDD-F4B6-BB48-8360-154D5ABB96CD}" type="presOf" srcId="{CA367707-2E7F-1E4F-9EEC-558C9FDAE40E}" destId="{7ABCB6D8-447A-F84A-B23C-3402CEE4D7E6}" srcOrd="0" destOrd="0" presId="urn:microsoft.com/office/officeart/2005/8/layout/lProcess3"/>
    <dgm:cxn modelId="{9F324273-A5A3-E840-B422-E35C9E5A6680}" type="presParOf" srcId="{8C88E08F-07D5-2648-84D4-9DEF0CC9B00E}" destId="{1B0F2485-91E5-2348-8456-C2EBA78A357C}" srcOrd="0" destOrd="0" presId="urn:microsoft.com/office/officeart/2005/8/layout/lProcess3"/>
    <dgm:cxn modelId="{85445779-ED21-5048-898B-C5FFB8CB0DA5}" type="presParOf" srcId="{1B0F2485-91E5-2348-8456-C2EBA78A357C}" destId="{7E3F1BBF-1FCB-8F43-A267-F6420D40FE5C}" srcOrd="0" destOrd="0" presId="urn:microsoft.com/office/officeart/2005/8/layout/lProcess3"/>
    <dgm:cxn modelId="{00735475-AEA7-5942-8C5A-70E51323C15B}" type="presParOf" srcId="{8C88E08F-07D5-2648-84D4-9DEF0CC9B00E}" destId="{C5471E95-71FF-4546-BF05-55ADB96B9E52}" srcOrd="1" destOrd="0" presId="urn:microsoft.com/office/officeart/2005/8/layout/lProcess3"/>
    <dgm:cxn modelId="{E120B5A2-E407-A044-8D5C-4694E0139A11}" type="presParOf" srcId="{8C88E08F-07D5-2648-84D4-9DEF0CC9B00E}" destId="{298EE13C-9CCF-8149-87F9-DFD04F8EED1F}" srcOrd="2" destOrd="0" presId="urn:microsoft.com/office/officeart/2005/8/layout/lProcess3"/>
    <dgm:cxn modelId="{1C3E6961-38F6-AB4D-86E1-D21FED7BFCF5}" type="presParOf" srcId="{298EE13C-9CCF-8149-87F9-DFD04F8EED1F}" destId="{7ABCB6D8-447A-F84A-B23C-3402CEE4D7E6}" srcOrd="0" destOrd="0" presId="urn:microsoft.com/office/officeart/2005/8/layout/lProcess3"/>
    <dgm:cxn modelId="{1BF67D69-00A7-2D42-8CB4-BA7F0AAF1185}" type="presParOf" srcId="{8C88E08F-07D5-2648-84D4-9DEF0CC9B00E}" destId="{FD123134-373F-774D-B150-01528C6D46AB}" srcOrd="3" destOrd="0" presId="urn:microsoft.com/office/officeart/2005/8/layout/lProcess3"/>
    <dgm:cxn modelId="{724B4990-86D7-AA43-AA24-241292BA374B}" type="presParOf" srcId="{8C88E08F-07D5-2648-84D4-9DEF0CC9B00E}" destId="{5FF000AC-693A-ED45-A0B5-83A408ABEA4A}" srcOrd="4" destOrd="0" presId="urn:microsoft.com/office/officeart/2005/8/layout/lProcess3"/>
    <dgm:cxn modelId="{5DA24674-9759-3342-8380-32080578404B}" type="presParOf" srcId="{5FF000AC-693A-ED45-A0B5-83A408ABEA4A}" destId="{8B5C5585-A2CA-6640-B3C9-F4ACFC871C4F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96034BA-C824-524C-ACCC-4D34AFA1E136}" type="doc">
      <dgm:prSet loTypeId="urn:microsoft.com/office/officeart/2005/8/layout/lProcess3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DF3663E-C503-E942-91BE-795C769C2BC3}">
      <dgm:prSet/>
      <dgm:spPr/>
      <dgm:t>
        <a:bodyPr/>
        <a:lstStyle/>
        <a:p>
          <a:r>
            <a:rPr lang="en-US" dirty="0"/>
            <a:t>Higher debt-to-income</a:t>
          </a:r>
          <a:endParaRPr lang="en-UA" dirty="0"/>
        </a:p>
      </dgm:t>
    </dgm:pt>
    <dgm:pt modelId="{0EC51CB5-DE49-8840-B4B1-847933AC8101}" type="parTrans" cxnId="{11CEA2CB-B9DE-3C45-A7F9-104B0EDC39C5}">
      <dgm:prSet/>
      <dgm:spPr/>
      <dgm:t>
        <a:bodyPr/>
        <a:lstStyle/>
        <a:p>
          <a:endParaRPr lang="en-US"/>
        </a:p>
      </dgm:t>
    </dgm:pt>
    <dgm:pt modelId="{AD0FE4A1-8BA6-D24D-A70F-83716F6EE75E}" type="sibTrans" cxnId="{11CEA2CB-B9DE-3C45-A7F9-104B0EDC39C5}">
      <dgm:prSet/>
      <dgm:spPr/>
      <dgm:t>
        <a:bodyPr/>
        <a:lstStyle/>
        <a:p>
          <a:endParaRPr lang="en-US"/>
        </a:p>
      </dgm:t>
    </dgm:pt>
    <dgm:pt modelId="{752EE1D4-ABEB-9748-BC2A-4B42918623BE}">
      <dgm:prSet/>
      <dgm:spPr/>
      <dgm:t>
        <a:bodyPr/>
        <a:lstStyle/>
        <a:p>
          <a:r>
            <a:rPr lang="en-US" dirty="0"/>
            <a:t>Employment duration</a:t>
          </a:r>
        </a:p>
      </dgm:t>
    </dgm:pt>
    <dgm:pt modelId="{0817F0DB-553A-494A-B075-EBAB8A635690}" type="parTrans" cxnId="{46A9F987-870D-ED48-B38D-0A861367177E}">
      <dgm:prSet/>
      <dgm:spPr/>
      <dgm:t>
        <a:bodyPr/>
        <a:lstStyle/>
        <a:p>
          <a:endParaRPr lang="en-US"/>
        </a:p>
      </dgm:t>
    </dgm:pt>
    <dgm:pt modelId="{D4B99348-1C22-EE46-B740-6013FF98B2D7}" type="sibTrans" cxnId="{46A9F987-870D-ED48-B38D-0A861367177E}">
      <dgm:prSet/>
      <dgm:spPr/>
      <dgm:t>
        <a:bodyPr/>
        <a:lstStyle/>
        <a:p>
          <a:endParaRPr lang="en-US"/>
        </a:p>
      </dgm:t>
    </dgm:pt>
    <dgm:pt modelId="{E4D86491-784F-424D-9434-4ABE7ED98185}">
      <dgm:prSet/>
      <dgm:spPr/>
      <dgm:t>
        <a:bodyPr/>
        <a:lstStyle/>
        <a:p>
          <a:r>
            <a:rPr lang="en-US" dirty="0"/>
            <a:t>Other debts</a:t>
          </a:r>
        </a:p>
      </dgm:t>
    </dgm:pt>
    <dgm:pt modelId="{E74269DF-A7A5-1C42-9DA8-31295FEDF471}" type="parTrans" cxnId="{33036ECB-D299-8648-978E-531C1FAFAEAC}">
      <dgm:prSet/>
      <dgm:spPr/>
      <dgm:t>
        <a:bodyPr/>
        <a:lstStyle/>
        <a:p>
          <a:endParaRPr lang="en-US"/>
        </a:p>
      </dgm:t>
    </dgm:pt>
    <dgm:pt modelId="{FAC5E019-B2F7-6E4A-9C28-81331DCD7953}" type="sibTrans" cxnId="{33036ECB-D299-8648-978E-531C1FAFAEAC}">
      <dgm:prSet/>
      <dgm:spPr/>
      <dgm:t>
        <a:bodyPr/>
        <a:lstStyle/>
        <a:p>
          <a:endParaRPr lang="en-US"/>
        </a:p>
      </dgm:t>
    </dgm:pt>
    <dgm:pt modelId="{3BBF214D-154B-5A48-853B-5D4145412298}">
      <dgm:prSet/>
      <dgm:spPr/>
      <dgm:t>
        <a:bodyPr/>
        <a:lstStyle/>
        <a:p>
          <a:r>
            <a:rPr lang="en-US"/>
            <a:t>higher default risk</a:t>
          </a:r>
        </a:p>
      </dgm:t>
    </dgm:pt>
    <dgm:pt modelId="{26F9EABB-F9C3-724C-A28A-885EFF83DD53}" type="parTrans" cxnId="{C94A0190-A5CD-1248-82CA-8A3AA11A34A8}">
      <dgm:prSet/>
      <dgm:spPr/>
      <dgm:t>
        <a:bodyPr/>
        <a:lstStyle/>
        <a:p>
          <a:endParaRPr lang="en-US"/>
        </a:p>
      </dgm:t>
    </dgm:pt>
    <dgm:pt modelId="{18746050-0909-8242-93E2-8110FBEB4BA8}" type="sibTrans" cxnId="{C94A0190-A5CD-1248-82CA-8A3AA11A34A8}">
      <dgm:prSet/>
      <dgm:spPr/>
      <dgm:t>
        <a:bodyPr/>
        <a:lstStyle/>
        <a:p>
          <a:endParaRPr lang="en-US"/>
        </a:p>
      </dgm:t>
    </dgm:pt>
    <dgm:pt modelId="{A943D0B7-EB4E-F94F-ADDE-9B6FB15B07D6}">
      <dgm:prSet/>
      <dgm:spPr/>
      <dgm:t>
        <a:bodyPr/>
        <a:lstStyle/>
        <a:p>
          <a:r>
            <a:rPr lang="en-US"/>
            <a:t>lower risk</a:t>
          </a:r>
        </a:p>
      </dgm:t>
    </dgm:pt>
    <dgm:pt modelId="{3A100B08-FD2D-B044-BE5E-42913A2C0CF8}" type="parTrans" cxnId="{1167CE91-72CE-BB47-9D39-BDB20282E5C9}">
      <dgm:prSet/>
      <dgm:spPr/>
      <dgm:t>
        <a:bodyPr/>
        <a:lstStyle/>
        <a:p>
          <a:endParaRPr lang="en-US"/>
        </a:p>
      </dgm:t>
    </dgm:pt>
    <dgm:pt modelId="{9ECA1A89-0CE2-D74B-B003-2F7ECDE5662A}" type="sibTrans" cxnId="{1167CE91-72CE-BB47-9D39-BDB20282E5C9}">
      <dgm:prSet/>
      <dgm:spPr/>
      <dgm:t>
        <a:bodyPr/>
        <a:lstStyle/>
        <a:p>
          <a:endParaRPr lang="en-US"/>
        </a:p>
      </dgm:t>
    </dgm:pt>
    <dgm:pt modelId="{CD0B52FA-CC1D-DF46-A922-D6E77DA17DF7}">
      <dgm:prSet/>
      <dgm:spPr/>
      <dgm:t>
        <a:bodyPr/>
        <a:lstStyle/>
        <a:p>
          <a:r>
            <a:rPr lang="en-US"/>
            <a:t>show weaker separation</a:t>
          </a:r>
        </a:p>
      </dgm:t>
    </dgm:pt>
    <dgm:pt modelId="{E2369A55-1050-B44E-947C-DCD5769F130E}" type="parTrans" cxnId="{CAD073F9-284A-6A4D-B1A2-82C6566448B3}">
      <dgm:prSet/>
      <dgm:spPr/>
      <dgm:t>
        <a:bodyPr/>
        <a:lstStyle/>
        <a:p>
          <a:endParaRPr lang="en-US"/>
        </a:p>
      </dgm:t>
    </dgm:pt>
    <dgm:pt modelId="{952AB426-21B8-0541-9F80-BDFD7A53BD39}" type="sibTrans" cxnId="{CAD073F9-284A-6A4D-B1A2-82C6566448B3}">
      <dgm:prSet/>
      <dgm:spPr/>
      <dgm:t>
        <a:bodyPr/>
        <a:lstStyle/>
        <a:p>
          <a:endParaRPr lang="en-US"/>
        </a:p>
      </dgm:t>
    </dgm:pt>
    <dgm:pt modelId="{53E4D951-6E9C-3645-988D-7567F721AA97}" type="pres">
      <dgm:prSet presAssocID="{B96034BA-C824-524C-ACCC-4D34AFA1E136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48DF429F-63C0-FA44-AE99-623009CE0F1A}" type="pres">
      <dgm:prSet presAssocID="{2DF3663E-C503-E942-91BE-795C769C2BC3}" presName="horFlow" presStyleCnt="0"/>
      <dgm:spPr/>
    </dgm:pt>
    <dgm:pt modelId="{BB77E85C-95BA-AE47-BEE2-04D823CEFE14}" type="pres">
      <dgm:prSet presAssocID="{2DF3663E-C503-E942-91BE-795C769C2BC3}" presName="bigChev" presStyleLbl="node1" presStyleIdx="0" presStyleCnt="3"/>
      <dgm:spPr/>
    </dgm:pt>
    <dgm:pt modelId="{3EF37226-F37C-7443-B5C3-6FDD47DC4314}" type="pres">
      <dgm:prSet presAssocID="{26F9EABB-F9C3-724C-A28A-885EFF83DD53}" presName="parTrans" presStyleCnt="0"/>
      <dgm:spPr/>
    </dgm:pt>
    <dgm:pt modelId="{3BBE7E61-4981-864F-85DB-9CE08A1758A3}" type="pres">
      <dgm:prSet presAssocID="{3BBF214D-154B-5A48-853B-5D4145412298}" presName="node" presStyleLbl="alignAccFollowNode1" presStyleIdx="0" presStyleCnt="3">
        <dgm:presLayoutVars>
          <dgm:bulletEnabled val="1"/>
        </dgm:presLayoutVars>
      </dgm:prSet>
      <dgm:spPr/>
    </dgm:pt>
    <dgm:pt modelId="{E7CA9E99-CCE0-9F41-A836-1FF6302F0613}" type="pres">
      <dgm:prSet presAssocID="{2DF3663E-C503-E942-91BE-795C769C2BC3}" presName="vSp" presStyleCnt="0"/>
      <dgm:spPr/>
    </dgm:pt>
    <dgm:pt modelId="{F5F3E31B-E260-4B4E-B05F-EC25573195E2}" type="pres">
      <dgm:prSet presAssocID="{752EE1D4-ABEB-9748-BC2A-4B42918623BE}" presName="horFlow" presStyleCnt="0"/>
      <dgm:spPr/>
    </dgm:pt>
    <dgm:pt modelId="{76A0EA3C-8A88-C94B-A789-9E5A9ED92B01}" type="pres">
      <dgm:prSet presAssocID="{752EE1D4-ABEB-9748-BC2A-4B42918623BE}" presName="bigChev" presStyleLbl="node1" presStyleIdx="1" presStyleCnt="3"/>
      <dgm:spPr/>
    </dgm:pt>
    <dgm:pt modelId="{29ECFCD5-BAA3-B44B-8381-9CB87ED9FFF2}" type="pres">
      <dgm:prSet presAssocID="{3A100B08-FD2D-B044-BE5E-42913A2C0CF8}" presName="parTrans" presStyleCnt="0"/>
      <dgm:spPr/>
    </dgm:pt>
    <dgm:pt modelId="{99B1BF00-49A4-064B-9564-DAC125C2C563}" type="pres">
      <dgm:prSet presAssocID="{A943D0B7-EB4E-F94F-ADDE-9B6FB15B07D6}" presName="node" presStyleLbl="alignAccFollowNode1" presStyleIdx="1" presStyleCnt="3">
        <dgm:presLayoutVars>
          <dgm:bulletEnabled val="1"/>
        </dgm:presLayoutVars>
      </dgm:prSet>
      <dgm:spPr/>
    </dgm:pt>
    <dgm:pt modelId="{35889B73-B658-474E-8B08-DB3D5A2A6B67}" type="pres">
      <dgm:prSet presAssocID="{752EE1D4-ABEB-9748-BC2A-4B42918623BE}" presName="vSp" presStyleCnt="0"/>
      <dgm:spPr/>
    </dgm:pt>
    <dgm:pt modelId="{993BAE9C-0E2D-E740-9C65-C8B07872B53D}" type="pres">
      <dgm:prSet presAssocID="{E4D86491-784F-424D-9434-4ABE7ED98185}" presName="horFlow" presStyleCnt="0"/>
      <dgm:spPr/>
    </dgm:pt>
    <dgm:pt modelId="{05FBA630-8CC3-ED44-8CDB-0BDA18EC0F42}" type="pres">
      <dgm:prSet presAssocID="{E4D86491-784F-424D-9434-4ABE7ED98185}" presName="bigChev" presStyleLbl="node1" presStyleIdx="2" presStyleCnt="3"/>
      <dgm:spPr/>
    </dgm:pt>
    <dgm:pt modelId="{66DFC5BC-BB0E-A74C-B160-B4A4969FA4A7}" type="pres">
      <dgm:prSet presAssocID="{E2369A55-1050-B44E-947C-DCD5769F130E}" presName="parTrans" presStyleCnt="0"/>
      <dgm:spPr/>
    </dgm:pt>
    <dgm:pt modelId="{D2D55F8E-BD0B-954F-86E6-381943C1961A}" type="pres">
      <dgm:prSet presAssocID="{CD0B52FA-CC1D-DF46-A922-D6E77DA17DF7}" presName="node" presStyleLbl="alignAccFollowNode1" presStyleIdx="2" presStyleCnt="3">
        <dgm:presLayoutVars>
          <dgm:bulletEnabled val="1"/>
        </dgm:presLayoutVars>
      </dgm:prSet>
      <dgm:spPr/>
    </dgm:pt>
  </dgm:ptLst>
  <dgm:cxnLst>
    <dgm:cxn modelId="{EFB12009-E7F8-1242-8BC8-65B13F0E7CF8}" type="presOf" srcId="{3BBF214D-154B-5A48-853B-5D4145412298}" destId="{3BBE7E61-4981-864F-85DB-9CE08A1758A3}" srcOrd="0" destOrd="0" presId="urn:microsoft.com/office/officeart/2005/8/layout/lProcess3"/>
    <dgm:cxn modelId="{201E733D-8BA4-CE44-8A31-4CAC33093E95}" type="presOf" srcId="{A943D0B7-EB4E-F94F-ADDE-9B6FB15B07D6}" destId="{99B1BF00-49A4-064B-9564-DAC125C2C563}" srcOrd="0" destOrd="0" presId="urn:microsoft.com/office/officeart/2005/8/layout/lProcess3"/>
    <dgm:cxn modelId="{36B83362-7ACC-484C-8F56-F71E103F5C83}" type="presOf" srcId="{E4D86491-784F-424D-9434-4ABE7ED98185}" destId="{05FBA630-8CC3-ED44-8CDB-0BDA18EC0F42}" srcOrd="0" destOrd="0" presId="urn:microsoft.com/office/officeart/2005/8/layout/lProcess3"/>
    <dgm:cxn modelId="{BA56E881-A167-3446-88AE-E4E4F289674F}" type="presOf" srcId="{CD0B52FA-CC1D-DF46-A922-D6E77DA17DF7}" destId="{D2D55F8E-BD0B-954F-86E6-381943C1961A}" srcOrd="0" destOrd="0" presId="urn:microsoft.com/office/officeart/2005/8/layout/lProcess3"/>
    <dgm:cxn modelId="{91BBC985-CBE5-F845-8E14-B56A6AAAD77C}" type="presOf" srcId="{752EE1D4-ABEB-9748-BC2A-4B42918623BE}" destId="{76A0EA3C-8A88-C94B-A789-9E5A9ED92B01}" srcOrd="0" destOrd="0" presId="urn:microsoft.com/office/officeart/2005/8/layout/lProcess3"/>
    <dgm:cxn modelId="{46A9F987-870D-ED48-B38D-0A861367177E}" srcId="{B96034BA-C824-524C-ACCC-4D34AFA1E136}" destId="{752EE1D4-ABEB-9748-BC2A-4B42918623BE}" srcOrd="1" destOrd="0" parTransId="{0817F0DB-553A-494A-B075-EBAB8A635690}" sibTransId="{D4B99348-1C22-EE46-B740-6013FF98B2D7}"/>
    <dgm:cxn modelId="{C94A0190-A5CD-1248-82CA-8A3AA11A34A8}" srcId="{2DF3663E-C503-E942-91BE-795C769C2BC3}" destId="{3BBF214D-154B-5A48-853B-5D4145412298}" srcOrd="0" destOrd="0" parTransId="{26F9EABB-F9C3-724C-A28A-885EFF83DD53}" sibTransId="{18746050-0909-8242-93E2-8110FBEB4BA8}"/>
    <dgm:cxn modelId="{1167CE91-72CE-BB47-9D39-BDB20282E5C9}" srcId="{752EE1D4-ABEB-9748-BC2A-4B42918623BE}" destId="{A943D0B7-EB4E-F94F-ADDE-9B6FB15B07D6}" srcOrd="0" destOrd="0" parTransId="{3A100B08-FD2D-B044-BE5E-42913A2C0CF8}" sibTransId="{9ECA1A89-0CE2-D74B-B003-2F7ECDE5662A}"/>
    <dgm:cxn modelId="{DDC305A6-E852-B140-8343-AD50B920F0A6}" type="presOf" srcId="{2DF3663E-C503-E942-91BE-795C769C2BC3}" destId="{BB77E85C-95BA-AE47-BEE2-04D823CEFE14}" srcOrd="0" destOrd="0" presId="urn:microsoft.com/office/officeart/2005/8/layout/lProcess3"/>
    <dgm:cxn modelId="{3C680FAE-D81F-D849-8CF3-7413D166126C}" type="presOf" srcId="{B96034BA-C824-524C-ACCC-4D34AFA1E136}" destId="{53E4D951-6E9C-3645-988D-7567F721AA97}" srcOrd="0" destOrd="0" presId="urn:microsoft.com/office/officeart/2005/8/layout/lProcess3"/>
    <dgm:cxn modelId="{33036ECB-D299-8648-978E-531C1FAFAEAC}" srcId="{B96034BA-C824-524C-ACCC-4D34AFA1E136}" destId="{E4D86491-784F-424D-9434-4ABE7ED98185}" srcOrd="2" destOrd="0" parTransId="{E74269DF-A7A5-1C42-9DA8-31295FEDF471}" sibTransId="{FAC5E019-B2F7-6E4A-9C28-81331DCD7953}"/>
    <dgm:cxn modelId="{11CEA2CB-B9DE-3C45-A7F9-104B0EDC39C5}" srcId="{B96034BA-C824-524C-ACCC-4D34AFA1E136}" destId="{2DF3663E-C503-E942-91BE-795C769C2BC3}" srcOrd="0" destOrd="0" parTransId="{0EC51CB5-DE49-8840-B4B1-847933AC8101}" sibTransId="{AD0FE4A1-8BA6-D24D-A70F-83716F6EE75E}"/>
    <dgm:cxn modelId="{CAD073F9-284A-6A4D-B1A2-82C6566448B3}" srcId="{E4D86491-784F-424D-9434-4ABE7ED98185}" destId="{CD0B52FA-CC1D-DF46-A922-D6E77DA17DF7}" srcOrd="0" destOrd="0" parTransId="{E2369A55-1050-B44E-947C-DCD5769F130E}" sibTransId="{952AB426-21B8-0541-9F80-BDFD7A53BD39}"/>
    <dgm:cxn modelId="{6C1E7B01-6643-C140-A9E7-C718A565840D}" type="presParOf" srcId="{53E4D951-6E9C-3645-988D-7567F721AA97}" destId="{48DF429F-63C0-FA44-AE99-623009CE0F1A}" srcOrd="0" destOrd="0" presId="urn:microsoft.com/office/officeart/2005/8/layout/lProcess3"/>
    <dgm:cxn modelId="{DF8F2359-80F8-414E-A216-07C3444DAD18}" type="presParOf" srcId="{48DF429F-63C0-FA44-AE99-623009CE0F1A}" destId="{BB77E85C-95BA-AE47-BEE2-04D823CEFE14}" srcOrd="0" destOrd="0" presId="urn:microsoft.com/office/officeart/2005/8/layout/lProcess3"/>
    <dgm:cxn modelId="{8E3BA8D2-B3A0-BC49-BD0E-32488D3E335B}" type="presParOf" srcId="{48DF429F-63C0-FA44-AE99-623009CE0F1A}" destId="{3EF37226-F37C-7443-B5C3-6FDD47DC4314}" srcOrd="1" destOrd="0" presId="urn:microsoft.com/office/officeart/2005/8/layout/lProcess3"/>
    <dgm:cxn modelId="{79298057-8305-B44A-8940-64A6C05D4B75}" type="presParOf" srcId="{48DF429F-63C0-FA44-AE99-623009CE0F1A}" destId="{3BBE7E61-4981-864F-85DB-9CE08A1758A3}" srcOrd="2" destOrd="0" presId="urn:microsoft.com/office/officeart/2005/8/layout/lProcess3"/>
    <dgm:cxn modelId="{1A443D80-BAC9-7E49-B770-64C3A00A775B}" type="presParOf" srcId="{53E4D951-6E9C-3645-988D-7567F721AA97}" destId="{E7CA9E99-CCE0-9F41-A836-1FF6302F0613}" srcOrd="1" destOrd="0" presId="urn:microsoft.com/office/officeart/2005/8/layout/lProcess3"/>
    <dgm:cxn modelId="{9C67E503-18C3-7F46-A5F0-85AB3A2D66AD}" type="presParOf" srcId="{53E4D951-6E9C-3645-988D-7567F721AA97}" destId="{F5F3E31B-E260-4B4E-B05F-EC25573195E2}" srcOrd="2" destOrd="0" presId="urn:microsoft.com/office/officeart/2005/8/layout/lProcess3"/>
    <dgm:cxn modelId="{0B253E1A-B033-0645-94C3-83950E61CBAC}" type="presParOf" srcId="{F5F3E31B-E260-4B4E-B05F-EC25573195E2}" destId="{76A0EA3C-8A88-C94B-A789-9E5A9ED92B01}" srcOrd="0" destOrd="0" presId="urn:microsoft.com/office/officeart/2005/8/layout/lProcess3"/>
    <dgm:cxn modelId="{1A04681D-1027-844A-A481-18B3D96DBB47}" type="presParOf" srcId="{F5F3E31B-E260-4B4E-B05F-EC25573195E2}" destId="{29ECFCD5-BAA3-B44B-8381-9CB87ED9FFF2}" srcOrd="1" destOrd="0" presId="urn:microsoft.com/office/officeart/2005/8/layout/lProcess3"/>
    <dgm:cxn modelId="{B194EDBA-9DCE-EB48-8628-6A4DC2550551}" type="presParOf" srcId="{F5F3E31B-E260-4B4E-B05F-EC25573195E2}" destId="{99B1BF00-49A4-064B-9564-DAC125C2C563}" srcOrd="2" destOrd="0" presId="urn:microsoft.com/office/officeart/2005/8/layout/lProcess3"/>
    <dgm:cxn modelId="{9D9B04EE-5817-4F40-A0D5-6ED7D4F67DEA}" type="presParOf" srcId="{53E4D951-6E9C-3645-988D-7567F721AA97}" destId="{35889B73-B658-474E-8B08-DB3D5A2A6B67}" srcOrd="3" destOrd="0" presId="urn:microsoft.com/office/officeart/2005/8/layout/lProcess3"/>
    <dgm:cxn modelId="{538F3500-14D3-5441-B263-2BA00158B6C7}" type="presParOf" srcId="{53E4D951-6E9C-3645-988D-7567F721AA97}" destId="{993BAE9C-0E2D-E740-9C65-C8B07872B53D}" srcOrd="4" destOrd="0" presId="urn:microsoft.com/office/officeart/2005/8/layout/lProcess3"/>
    <dgm:cxn modelId="{EC6DB660-BFD1-D146-A974-490628F0A84C}" type="presParOf" srcId="{993BAE9C-0E2D-E740-9C65-C8B07872B53D}" destId="{05FBA630-8CC3-ED44-8CDB-0BDA18EC0F42}" srcOrd="0" destOrd="0" presId="urn:microsoft.com/office/officeart/2005/8/layout/lProcess3"/>
    <dgm:cxn modelId="{E6C40DAB-1C03-264B-B176-4C2B8498E11C}" type="presParOf" srcId="{993BAE9C-0E2D-E740-9C65-C8B07872B53D}" destId="{66DFC5BC-BB0E-A74C-B160-B4A4969FA4A7}" srcOrd="1" destOrd="0" presId="urn:microsoft.com/office/officeart/2005/8/layout/lProcess3"/>
    <dgm:cxn modelId="{8D44FCD7-E5D5-5447-8DE7-C828C1A7FAF3}" type="presParOf" srcId="{993BAE9C-0E2D-E740-9C65-C8B07872B53D}" destId="{D2D55F8E-BD0B-954F-86E6-381943C1961A}" srcOrd="2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76FB5C9-A333-CF4C-9738-085C17D4F9A0}" type="doc">
      <dgm:prSet loTypeId="urn:microsoft.com/office/officeart/2005/8/layout/list1" loCatId="list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AD9D791-A92C-6643-8529-700DBCDA23FB}">
      <dgm:prSet/>
      <dgm:spPr/>
      <dgm:t>
        <a:bodyPr/>
        <a:lstStyle/>
        <a:p>
          <a:r>
            <a:rPr lang="en-US"/>
            <a:t>Bad Rate by zone</a:t>
          </a:r>
          <a:endParaRPr lang="en-UA"/>
        </a:p>
      </dgm:t>
    </dgm:pt>
    <dgm:pt modelId="{2CA93F21-9748-B347-A12B-5FEB3302CE52}" type="parTrans" cxnId="{D536E01A-7B99-9D4B-A6E5-983AC3461D6B}">
      <dgm:prSet/>
      <dgm:spPr/>
      <dgm:t>
        <a:bodyPr/>
        <a:lstStyle/>
        <a:p>
          <a:endParaRPr lang="en-US"/>
        </a:p>
      </dgm:t>
    </dgm:pt>
    <dgm:pt modelId="{0939997C-6270-CC44-A3E2-9D9FD453855D}" type="sibTrans" cxnId="{D536E01A-7B99-9D4B-A6E5-983AC3461D6B}">
      <dgm:prSet/>
      <dgm:spPr/>
      <dgm:t>
        <a:bodyPr/>
        <a:lstStyle/>
        <a:p>
          <a:endParaRPr lang="en-US"/>
        </a:p>
      </dgm:t>
    </dgm:pt>
    <dgm:pt modelId="{D76BF97F-A799-8049-BAFC-60286451F232}">
      <dgm:prSet/>
      <dgm:spPr/>
      <dgm:t>
        <a:bodyPr/>
        <a:lstStyle/>
        <a:p>
          <a:r>
            <a:rPr lang="en-US"/>
            <a:t>Zone 2 shows highest default (&gt;25%), zone 1 lowest (&lt;8%)</a:t>
          </a:r>
          <a:endParaRPr lang="en-UA" dirty="0"/>
        </a:p>
      </dgm:t>
    </dgm:pt>
    <dgm:pt modelId="{D2EBF57D-B314-0A4E-A75A-F6B5D8305CF5}" type="parTrans" cxnId="{8806DC12-D7F3-614E-B977-99A0F0EE8969}">
      <dgm:prSet/>
      <dgm:spPr/>
      <dgm:t>
        <a:bodyPr/>
        <a:lstStyle/>
        <a:p>
          <a:endParaRPr lang="en-US"/>
        </a:p>
      </dgm:t>
    </dgm:pt>
    <dgm:pt modelId="{2C653620-CF5E-B146-BF7D-18B4B9C25C2A}" type="sibTrans" cxnId="{8806DC12-D7F3-614E-B977-99A0F0EE8969}">
      <dgm:prSet/>
      <dgm:spPr/>
      <dgm:t>
        <a:bodyPr/>
        <a:lstStyle/>
        <a:p>
          <a:endParaRPr lang="en-US"/>
        </a:p>
      </dgm:t>
    </dgm:pt>
    <dgm:pt modelId="{82825A1C-C3C7-E740-84F8-33D078B49418}" type="pres">
      <dgm:prSet presAssocID="{876FB5C9-A333-CF4C-9738-085C17D4F9A0}" presName="linear" presStyleCnt="0">
        <dgm:presLayoutVars>
          <dgm:dir/>
          <dgm:animLvl val="lvl"/>
          <dgm:resizeHandles val="exact"/>
        </dgm:presLayoutVars>
      </dgm:prSet>
      <dgm:spPr/>
    </dgm:pt>
    <dgm:pt modelId="{675915D4-BA0E-D44D-8596-0C81EB1A7E77}" type="pres">
      <dgm:prSet presAssocID="{EAD9D791-A92C-6643-8529-700DBCDA23FB}" presName="parentLin" presStyleCnt="0"/>
      <dgm:spPr/>
    </dgm:pt>
    <dgm:pt modelId="{16DD6A1A-D2F4-C64B-8A61-2D1287040228}" type="pres">
      <dgm:prSet presAssocID="{EAD9D791-A92C-6643-8529-700DBCDA23FB}" presName="parentLeftMargin" presStyleLbl="node1" presStyleIdx="0" presStyleCnt="1"/>
      <dgm:spPr/>
    </dgm:pt>
    <dgm:pt modelId="{1D96B2F9-C387-FE4B-AE7D-9545CBBE4333}" type="pres">
      <dgm:prSet presAssocID="{EAD9D791-A92C-6643-8529-700DBCDA23FB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89E25100-92C2-C744-8089-531C683D21CF}" type="pres">
      <dgm:prSet presAssocID="{EAD9D791-A92C-6643-8529-700DBCDA23FB}" presName="negativeSpace" presStyleCnt="0"/>
      <dgm:spPr/>
    </dgm:pt>
    <dgm:pt modelId="{0A82F921-86CC-1B4C-9B55-077D0CDD4C2D}" type="pres">
      <dgm:prSet presAssocID="{EAD9D791-A92C-6643-8529-700DBCDA23FB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8806DC12-D7F3-614E-B977-99A0F0EE8969}" srcId="{EAD9D791-A92C-6643-8529-700DBCDA23FB}" destId="{D76BF97F-A799-8049-BAFC-60286451F232}" srcOrd="0" destOrd="0" parTransId="{D2EBF57D-B314-0A4E-A75A-F6B5D8305CF5}" sibTransId="{2C653620-CF5E-B146-BF7D-18B4B9C25C2A}"/>
    <dgm:cxn modelId="{D536E01A-7B99-9D4B-A6E5-983AC3461D6B}" srcId="{876FB5C9-A333-CF4C-9738-085C17D4F9A0}" destId="{EAD9D791-A92C-6643-8529-700DBCDA23FB}" srcOrd="0" destOrd="0" parTransId="{2CA93F21-9748-B347-A12B-5FEB3302CE52}" sibTransId="{0939997C-6270-CC44-A3E2-9D9FD453855D}"/>
    <dgm:cxn modelId="{6812484B-3EC4-7143-8520-C8B81E49386F}" type="presOf" srcId="{EAD9D791-A92C-6643-8529-700DBCDA23FB}" destId="{1D96B2F9-C387-FE4B-AE7D-9545CBBE4333}" srcOrd="1" destOrd="0" presId="urn:microsoft.com/office/officeart/2005/8/layout/list1"/>
    <dgm:cxn modelId="{71AE9DA4-A5B3-4E49-AD95-8AAF4CAE3C02}" type="presOf" srcId="{876FB5C9-A333-CF4C-9738-085C17D4F9A0}" destId="{82825A1C-C3C7-E740-84F8-33D078B49418}" srcOrd="0" destOrd="0" presId="urn:microsoft.com/office/officeart/2005/8/layout/list1"/>
    <dgm:cxn modelId="{8ACE10B4-9F92-B144-BAEC-8385FF11237B}" type="presOf" srcId="{D76BF97F-A799-8049-BAFC-60286451F232}" destId="{0A82F921-86CC-1B4C-9B55-077D0CDD4C2D}" srcOrd="0" destOrd="0" presId="urn:microsoft.com/office/officeart/2005/8/layout/list1"/>
    <dgm:cxn modelId="{3B12F5D3-36BE-684D-8A84-476F5507836B}" type="presOf" srcId="{EAD9D791-A92C-6643-8529-700DBCDA23FB}" destId="{16DD6A1A-D2F4-C64B-8A61-2D1287040228}" srcOrd="0" destOrd="0" presId="urn:microsoft.com/office/officeart/2005/8/layout/list1"/>
    <dgm:cxn modelId="{92576A21-9C42-EC49-9B0A-E5992A1440D7}" type="presParOf" srcId="{82825A1C-C3C7-E740-84F8-33D078B49418}" destId="{675915D4-BA0E-D44D-8596-0C81EB1A7E77}" srcOrd="0" destOrd="0" presId="urn:microsoft.com/office/officeart/2005/8/layout/list1"/>
    <dgm:cxn modelId="{5CB1599B-584B-9745-AFA8-4DC718EB5217}" type="presParOf" srcId="{675915D4-BA0E-D44D-8596-0C81EB1A7E77}" destId="{16DD6A1A-D2F4-C64B-8A61-2D1287040228}" srcOrd="0" destOrd="0" presId="urn:microsoft.com/office/officeart/2005/8/layout/list1"/>
    <dgm:cxn modelId="{1B411CA3-3518-084F-AD3B-AD859756D984}" type="presParOf" srcId="{675915D4-BA0E-D44D-8596-0C81EB1A7E77}" destId="{1D96B2F9-C387-FE4B-AE7D-9545CBBE4333}" srcOrd="1" destOrd="0" presId="urn:microsoft.com/office/officeart/2005/8/layout/list1"/>
    <dgm:cxn modelId="{9CC0F106-5920-9F41-87F1-6CC30517CE55}" type="presParOf" srcId="{82825A1C-C3C7-E740-84F8-33D078B49418}" destId="{89E25100-92C2-C744-8089-531C683D21CF}" srcOrd="1" destOrd="0" presId="urn:microsoft.com/office/officeart/2005/8/layout/list1"/>
    <dgm:cxn modelId="{5A8AA98D-943F-A342-9557-662930F65A73}" type="presParOf" srcId="{82825A1C-C3C7-E740-84F8-33D078B49418}" destId="{0A82F921-86CC-1B4C-9B55-077D0CDD4C2D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3D50254-EEA0-904C-B709-F1EF88838E4A}" type="doc">
      <dgm:prSet loTypeId="urn:microsoft.com/office/officeart/2005/8/layout/lProcess3" loCatId="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3CB48EF2-6239-194D-9805-F54D453959C5}">
      <dgm:prSet/>
      <dgm:spPr/>
      <dgm:t>
        <a:bodyPr/>
        <a:lstStyle/>
        <a:p>
          <a:r>
            <a:rPr lang="en-US" dirty="0"/>
            <a:t>Vehicle ownership</a:t>
          </a:r>
          <a:endParaRPr lang="en-UA" dirty="0"/>
        </a:p>
      </dgm:t>
    </dgm:pt>
    <dgm:pt modelId="{D20B3C9C-49DC-C149-9435-AE3746306FC9}" type="parTrans" cxnId="{DC567F9E-8704-8145-BD46-6395838BD920}">
      <dgm:prSet/>
      <dgm:spPr/>
      <dgm:t>
        <a:bodyPr/>
        <a:lstStyle/>
        <a:p>
          <a:endParaRPr lang="en-US"/>
        </a:p>
      </dgm:t>
    </dgm:pt>
    <dgm:pt modelId="{978269D3-FA3F-7347-BDE3-9DA2644A78CE}" type="sibTrans" cxnId="{DC567F9E-8704-8145-BD46-6395838BD920}">
      <dgm:prSet/>
      <dgm:spPr/>
      <dgm:t>
        <a:bodyPr/>
        <a:lstStyle/>
        <a:p>
          <a:endParaRPr lang="en-US"/>
        </a:p>
      </dgm:t>
    </dgm:pt>
    <dgm:pt modelId="{A5F1F447-75E7-5D45-ADC5-B0A362192B24}">
      <dgm:prSet/>
      <dgm:spPr/>
      <dgm:t>
        <a:bodyPr/>
        <a:lstStyle/>
        <a:p>
          <a:r>
            <a:rPr lang="en-US" dirty="0"/>
            <a:t>Having children</a:t>
          </a:r>
          <a:endParaRPr lang="en-UA" dirty="0"/>
        </a:p>
      </dgm:t>
    </dgm:pt>
    <dgm:pt modelId="{749F534B-1B05-1548-935F-AFC89EA54A15}" type="parTrans" cxnId="{7BD732E6-AC2F-8B48-BD77-B4A6B69E1434}">
      <dgm:prSet/>
      <dgm:spPr/>
      <dgm:t>
        <a:bodyPr/>
        <a:lstStyle/>
        <a:p>
          <a:endParaRPr lang="en-US"/>
        </a:p>
      </dgm:t>
    </dgm:pt>
    <dgm:pt modelId="{54712289-D39F-5248-A885-0F796AE712C7}" type="sibTrans" cxnId="{7BD732E6-AC2F-8B48-BD77-B4A6B69E1434}">
      <dgm:prSet/>
      <dgm:spPr/>
      <dgm:t>
        <a:bodyPr/>
        <a:lstStyle/>
        <a:p>
          <a:endParaRPr lang="en-US"/>
        </a:p>
      </dgm:t>
    </dgm:pt>
    <dgm:pt modelId="{19766657-516C-0A47-BBD1-B8981CDD207E}">
      <dgm:prSet/>
      <dgm:spPr/>
      <dgm:t>
        <a:bodyPr/>
        <a:lstStyle/>
        <a:p>
          <a:r>
            <a:rPr lang="en-US" dirty="0"/>
            <a:t>Homeowners</a:t>
          </a:r>
          <a:endParaRPr lang="en-UA" dirty="0"/>
        </a:p>
      </dgm:t>
    </dgm:pt>
    <dgm:pt modelId="{0DCB7703-4C0E-5E49-898E-2704BC9A04A5}" type="parTrans" cxnId="{7A8C936C-96A2-F844-9366-AB6E9409D36E}">
      <dgm:prSet/>
      <dgm:spPr/>
      <dgm:t>
        <a:bodyPr/>
        <a:lstStyle/>
        <a:p>
          <a:endParaRPr lang="en-US"/>
        </a:p>
      </dgm:t>
    </dgm:pt>
    <dgm:pt modelId="{9764C2B8-38F6-DD44-95CF-74241A232C5C}" type="sibTrans" cxnId="{7A8C936C-96A2-F844-9366-AB6E9409D36E}">
      <dgm:prSet/>
      <dgm:spPr/>
      <dgm:t>
        <a:bodyPr/>
        <a:lstStyle/>
        <a:p>
          <a:endParaRPr lang="en-US"/>
        </a:p>
      </dgm:t>
    </dgm:pt>
    <dgm:pt modelId="{CBA2A5F7-9723-DF4C-8120-889E380AAB0A}">
      <dgm:prSet/>
      <dgm:spPr/>
      <dgm:t>
        <a:bodyPr/>
        <a:lstStyle/>
        <a:p>
          <a:r>
            <a:rPr lang="en-US" dirty="0"/>
            <a:t>Singles</a:t>
          </a:r>
          <a:endParaRPr lang="en-UA" dirty="0"/>
        </a:p>
      </dgm:t>
    </dgm:pt>
    <dgm:pt modelId="{D58C5407-2964-9545-80A3-A5E7EEE9F45D}" type="sibTrans" cxnId="{F2F78C14-BAEA-394C-A578-9223AB7E16F2}">
      <dgm:prSet/>
      <dgm:spPr/>
      <dgm:t>
        <a:bodyPr/>
        <a:lstStyle/>
        <a:p>
          <a:endParaRPr lang="en-US"/>
        </a:p>
      </dgm:t>
    </dgm:pt>
    <dgm:pt modelId="{0ED6C4D3-9307-7548-99CA-77D095487C81}" type="parTrans" cxnId="{F2F78C14-BAEA-394C-A578-9223AB7E16F2}">
      <dgm:prSet/>
      <dgm:spPr/>
      <dgm:t>
        <a:bodyPr/>
        <a:lstStyle/>
        <a:p>
          <a:endParaRPr lang="en-US"/>
        </a:p>
      </dgm:t>
    </dgm:pt>
    <dgm:pt modelId="{BF73DB45-1540-AB4C-A83E-612BE158457A}">
      <dgm:prSet/>
      <dgm:spPr/>
      <dgm:t>
        <a:bodyPr/>
        <a:lstStyle/>
        <a:p>
          <a:r>
            <a:rPr lang="en-US" dirty="0"/>
            <a:t>slightly higher default</a:t>
          </a:r>
        </a:p>
      </dgm:t>
    </dgm:pt>
    <dgm:pt modelId="{554C50AA-A686-2240-BAF2-1535E5480B53}" type="parTrans" cxnId="{4ACFEFF3-9F94-154D-A780-D772E0297941}">
      <dgm:prSet/>
      <dgm:spPr/>
      <dgm:t>
        <a:bodyPr/>
        <a:lstStyle/>
        <a:p>
          <a:endParaRPr lang="en-US"/>
        </a:p>
      </dgm:t>
    </dgm:pt>
    <dgm:pt modelId="{FE371700-48D5-BA44-A7ED-8F417CBE6C00}" type="sibTrans" cxnId="{4ACFEFF3-9F94-154D-A780-D772E0297941}">
      <dgm:prSet/>
      <dgm:spPr/>
      <dgm:t>
        <a:bodyPr/>
        <a:lstStyle/>
        <a:p>
          <a:endParaRPr lang="en-US"/>
        </a:p>
      </dgm:t>
    </dgm:pt>
    <dgm:pt modelId="{DD746963-ADE9-4245-B0C5-F40301773BF6}">
      <dgm:prSet/>
      <dgm:spPr/>
      <dgm:t>
        <a:bodyPr/>
        <a:lstStyle/>
        <a:p>
          <a:r>
            <a:rPr lang="en-US" dirty="0"/>
            <a:t>minimal effect on default rate</a:t>
          </a:r>
          <a:endParaRPr lang="en-UA" dirty="0"/>
        </a:p>
      </dgm:t>
    </dgm:pt>
    <dgm:pt modelId="{50E346E0-572C-2242-89BB-CA4B54B4130E}" type="parTrans" cxnId="{5B17D0EE-4453-B247-9264-D3D218CF74F9}">
      <dgm:prSet/>
      <dgm:spPr/>
      <dgm:t>
        <a:bodyPr/>
        <a:lstStyle/>
        <a:p>
          <a:endParaRPr lang="en-US"/>
        </a:p>
      </dgm:t>
    </dgm:pt>
    <dgm:pt modelId="{4F363200-519D-1542-A269-D0AD2891B3DD}" type="sibTrans" cxnId="{5B17D0EE-4453-B247-9264-D3D218CF74F9}">
      <dgm:prSet/>
      <dgm:spPr/>
      <dgm:t>
        <a:bodyPr/>
        <a:lstStyle/>
        <a:p>
          <a:endParaRPr lang="en-US"/>
        </a:p>
      </dgm:t>
    </dgm:pt>
    <dgm:pt modelId="{96FEB6BF-DB03-4947-9513-72F9E8E58E7E}">
      <dgm:prSet/>
      <dgm:spPr/>
      <dgm:t>
        <a:bodyPr/>
        <a:lstStyle/>
        <a:p>
          <a:r>
            <a:rPr lang="en-US" dirty="0"/>
            <a:t>slightly increases risk</a:t>
          </a:r>
          <a:endParaRPr lang="en-UA" dirty="0"/>
        </a:p>
      </dgm:t>
    </dgm:pt>
    <dgm:pt modelId="{A701EE85-5A2D-1247-A981-7F2C60454B2C}" type="parTrans" cxnId="{8AB8C0D4-8820-8247-A1F3-B1E73B176817}">
      <dgm:prSet/>
      <dgm:spPr/>
      <dgm:t>
        <a:bodyPr/>
        <a:lstStyle/>
        <a:p>
          <a:endParaRPr lang="en-US"/>
        </a:p>
      </dgm:t>
    </dgm:pt>
    <dgm:pt modelId="{421B2820-AAA0-6A4F-8DDB-03DF5342DCC3}" type="sibTrans" cxnId="{8AB8C0D4-8820-8247-A1F3-B1E73B176817}">
      <dgm:prSet/>
      <dgm:spPr/>
      <dgm:t>
        <a:bodyPr/>
        <a:lstStyle/>
        <a:p>
          <a:endParaRPr lang="en-US"/>
        </a:p>
      </dgm:t>
    </dgm:pt>
    <dgm:pt modelId="{C9B52C63-D180-E94F-A45B-296299C5493C}">
      <dgm:prSet/>
      <dgm:spPr/>
      <dgm:t>
        <a:bodyPr/>
        <a:lstStyle/>
        <a:p>
          <a:r>
            <a:rPr lang="en-US" dirty="0"/>
            <a:t>slightly higher default</a:t>
          </a:r>
          <a:endParaRPr lang="en-UA" dirty="0"/>
        </a:p>
      </dgm:t>
    </dgm:pt>
    <dgm:pt modelId="{6D4A0DFF-6BE3-F842-BDAC-3100ED443F0F}" type="parTrans" cxnId="{655DA8B4-C3ED-D243-8984-1910FAE98626}">
      <dgm:prSet/>
      <dgm:spPr/>
      <dgm:t>
        <a:bodyPr/>
        <a:lstStyle/>
        <a:p>
          <a:endParaRPr lang="en-US"/>
        </a:p>
      </dgm:t>
    </dgm:pt>
    <dgm:pt modelId="{7A024469-57ED-B045-97E2-FFFCB8C45814}" type="sibTrans" cxnId="{655DA8B4-C3ED-D243-8984-1910FAE98626}">
      <dgm:prSet/>
      <dgm:spPr/>
      <dgm:t>
        <a:bodyPr/>
        <a:lstStyle/>
        <a:p>
          <a:endParaRPr lang="en-US"/>
        </a:p>
      </dgm:t>
    </dgm:pt>
    <dgm:pt modelId="{7C89848C-CE9B-6749-9F3C-17640371B31C}" type="pres">
      <dgm:prSet presAssocID="{93D50254-EEA0-904C-B709-F1EF88838E4A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DCD70213-A3EB-9345-9EC7-9E1C7B909FE3}" type="pres">
      <dgm:prSet presAssocID="{CBA2A5F7-9723-DF4C-8120-889E380AAB0A}" presName="horFlow" presStyleCnt="0"/>
      <dgm:spPr/>
    </dgm:pt>
    <dgm:pt modelId="{38EF395D-12B1-4840-B5A7-84C0FB652BA3}" type="pres">
      <dgm:prSet presAssocID="{CBA2A5F7-9723-DF4C-8120-889E380AAB0A}" presName="bigChev" presStyleLbl="node1" presStyleIdx="0" presStyleCnt="4"/>
      <dgm:spPr/>
    </dgm:pt>
    <dgm:pt modelId="{34FBFB58-813F-4F48-B2E4-DDB9B2A85D82}" type="pres">
      <dgm:prSet presAssocID="{554C50AA-A686-2240-BAF2-1535E5480B53}" presName="parTrans" presStyleCnt="0"/>
      <dgm:spPr/>
    </dgm:pt>
    <dgm:pt modelId="{1267FF52-2EDA-F043-B60F-7C1AFE0E740B}" type="pres">
      <dgm:prSet presAssocID="{BF73DB45-1540-AB4C-A83E-612BE158457A}" presName="node" presStyleLbl="alignAccFollowNode1" presStyleIdx="0" presStyleCnt="4">
        <dgm:presLayoutVars>
          <dgm:bulletEnabled val="1"/>
        </dgm:presLayoutVars>
      </dgm:prSet>
      <dgm:spPr/>
    </dgm:pt>
    <dgm:pt modelId="{2AE67F36-B219-3246-B59F-F121ADCDFE66}" type="pres">
      <dgm:prSet presAssocID="{CBA2A5F7-9723-DF4C-8120-889E380AAB0A}" presName="vSp" presStyleCnt="0"/>
      <dgm:spPr/>
    </dgm:pt>
    <dgm:pt modelId="{CD510A3C-1E57-A441-988B-415E23B8F9C2}" type="pres">
      <dgm:prSet presAssocID="{3CB48EF2-6239-194D-9805-F54D453959C5}" presName="horFlow" presStyleCnt="0"/>
      <dgm:spPr/>
    </dgm:pt>
    <dgm:pt modelId="{DCE3BE12-40FE-D044-B686-CADB638CFCC2}" type="pres">
      <dgm:prSet presAssocID="{3CB48EF2-6239-194D-9805-F54D453959C5}" presName="bigChev" presStyleLbl="node1" presStyleIdx="1" presStyleCnt="4"/>
      <dgm:spPr/>
    </dgm:pt>
    <dgm:pt modelId="{94EE36AB-6A7C-AD4E-8A62-E13A68B6AF21}" type="pres">
      <dgm:prSet presAssocID="{50E346E0-572C-2242-89BB-CA4B54B4130E}" presName="parTrans" presStyleCnt="0"/>
      <dgm:spPr/>
    </dgm:pt>
    <dgm:pt modelId="{ACBBB435-80DC-CA41-A5B3-D5885F28DEE4}" type="pres">
      <dgm:prSet presAssocID="{DD746963-ADE9-4245-B0C5-F40301773BF6}" presName="node" presStyleLbl="alignAccFollowNode1" presStyleIdx="1" presStyleCnt="4">
        <dgm:presLayoutVars>
          <dgm:bulletEnabled val="1"/>
        </dgm:presLayoutVars>
      </dgm:prSet>
      <dgm:spPr/>
    </dgm:pt>
    <dgm:pt modelId="{A1917ADA-4EBE-D04D-8BB6-0E6855A552A7}" type="pres">
      <dgm:prSet presAssocID="{3CB48EF2-6239-194D-9805-F54D453959C5}" presName="vSp" presStyleCnt="0"/>
      <dgm:spPr/>
    </dgm:pt>
    <dgm:pt modelId="{6020F5FD-1F9D-4641-B04F-F031FF4D2BAC}" type="pres">
      <dgm:prSet presAssocID="{A5F1F447-75E7-5D45-ADC5-B0A362192B24}" presName="horFlow" presStyleCnt="0"/>
      <dgm:spPr/>
    </dgm:pt>
    <dgm:pt modelId="{6F51940A-20F3-8341-88A3-129E2565BD0B}" type="pres">
      <dgm:prSet presAssocID="{A5F1F447-75E7-5D45-ADC5-B0A362192B24}" presName="bigChev" presStyleLbl="node1" presStyleIdx="2" presStyleCnt="4"/>
      <dgm:spPr/>
    </dgm:pt>
    <dgm:pt modelId="{4F1D260A-7803-A446-9DE0-F6A15835BB2B}" type="pres">
      <dgm:prSet presAssocID="{A701EE85-5A2D-1247-A981-7F2C60454B2C}" presName="parTrans" presStyleCnt="0"/>
      <dgm:spPr/>
    </dgm:pt>
    <dgm:pt modelId="{CA18CE7A-0ECE-E84A-B1EC-FCF7742C5630}" type="pres">
      <dgm:prSet presAssocID="{96FEB6BF-DB03-4947-9513-72F9E8E58E7E}" presName="node" presStyleLbl="alignAccFollowNode1" presStyleIdx="2" presStyleCnt="4">
        <dgm:presLayoutVars>
          <dgm:bulletEnabled val="1"/>
        </dgm:presLayoutVars>
      </dgm:prSet>
      <dgm:spPr/>
    </dgm:pt>
    <dgm:pt modelId="{B386545F-B027-864D-8B58-9D21553E6630}" type="pres">
      <dgm:prSet presAssocID="{A5F1F447-75E7-5D45-ADC5-B0A362192B24}" presName="vSp" presStyleCnt="0"/>
      <dgm:spPr/>
    </dgm:pt>
    <dgm:pt modelId="{8AD11A68-5A18-A943-9579-B069001FF80E}" type="pres">
      <dgm:prSet presAssocID="{19766657-516C-0A47-BBD1-B8981CDD207E}" presName="horFlow" presStyleCnt="0"/>
      <dgm:spPr/>
    </dgm:pt>
    <dgm:pt modelId="{07223018-3596-1D45-84D9-BFC2A49A0A72}" type="pres">
      <dgm:prSet presAssocID="{19766657-516C-0A47-BBD1-B8981CDD207E}" presName="bigChev" presStyleLbl="node1" presStyleIdx="3" presStyleCnt="4"/>
      <dgm:spPr/>
    </dgm:pt>
    <dgm:pt modelId="{7BED4DD0-876C-C147-82E0-875654FBFC62}" type="pres">
      <dgm:prSet presAssocID="{6D4A0DFF-6BE3-F842-BDAC-3100ED443F0F}" presName="parTrans" presStyleCnt="0"/>
      <dgm:spPr/>
    </dgm:pt>
    <dgm:pt modelId="{3C2EF523-07D7-374F-9C01-83DC61433264}" type="pres">
      <dgm:prSet presAssocID="{C9B52C63-D180-E94F-A45B-296299C5493C}" presName="node" presStyleLbl="alignAccFollowNode1" presStyleIdx="3" presStyleCnt="4">
        <dgm:presLayoutVars>
          <dgm:bulletEnabled val="1"/>
        </dgm:presLayoutVars>
      </dgm:prSet>
      <dgm:spPr/>
    </dgm:pt>
  </dgm:ptLst>
  <dgm:cxnLst>
    <dgm:cxn modelId="{DAD78C0C-B96F-6541-85CE-CF15570354EA}" type="presOf" srcId="{93D50254-EEA0-904C-B709-F1EF88838E4A}" destId="{7C89848C-CE9B-6749-9F3C-17640371B31C}" srcOrd="0" destOrd="0" presId="urn:microsoft.com/office/officeart/2005/8/layout/lProcess3"/>
    <dgm:cxn modelId="{B74F5F11-12A1-3643-9103-918882CD37B4}" type="presOf" srcId="{A5F1F447-75E7-5D45-ADC5-B0A362192B24}" destId="{6F51940A-20F3-8341-88A3-129E2565BD0B}" srcOrd="0" destOrd="0" presId="urn:microsoft.com/office/officeart/2005/8/layout/lProcess3"/>
    <dgm:cxn modelId="{F2F78C14-BAEA-394C-A578-9223AB7E16F2}" srcId="{93D50254-EEA0-904C-B709-F1EF88838E4A}" destId="{CBA2A5F7-9723-DF4C-8120-889E380AAB0A}" srcOrd="0" destOrd="0" parTransId="{0ED6C4D3-9307-7548-99CA-77D095487C81}" sibTransId="{D58C5407-2964-9545-80A3-A5E7EEE9F45D}"/>
    <dgm:cxn modelId="{F39D701E-E057-3D49-8F2B-29A8AC27D30A}" type="presOf" srcId="{3CB48EF2-6239-194D-9805-F54D453959C5}" destId="{DCE3BE12-40FE-D044-B686-CADB638CFCC2}" srcOrd="0" destOrd="0" presId="urn:microsoft.com/office/officeart/2005/8/layout/lProcess3"/>
    <dgm:cxn modelId="{15098327-7D2E-D443-B6DE-DA84CC66FD40}" type="presOf" srcId="{CBA2A5F7-9723-DF4C-8120-889E380AAB0A}" destId="{38EF395D-12B1-4840-B5A7-84C0FB652BA3}" srcOrd="0" destOrd="0" presId="urn:microsoft.com/office/officeart/2005/8/layout/lProcess3"/>
    <dgm:cxn modelId="{729BD327-549B-664A-9FCD-EDF1ACBAEA54}" type="presOf" srcId="{C9B52C63-D180-E94F-A45B-296299C5493C}" destId="{3C2EF523-07D7-374F-9C01-83DC61433264}" srcOrd="0" destOrd="0" presId="urn:microsoft.com/office/officeart/2005/8/layout/lProcess3"/>
    <dgm:cxn modelId="{89F81439-432B-B54A-A61B-8FC026983835}" type="presOf" srcId="{19766657-516C-0A47-BBD1-B8981CDD207E}" destId="{07223018-3596-1D45-84D9-BFC2A49A0A72}" srcOrd="0" destOrd="0" presId="urn:microsoft.com/office/officeart/2005/8/layout/lProcess3"/>
    <dgm:cxn modelId="{712C9641-3D39-5D4A-9630-0DCA719207F6}" type="presOf" srcId="{96FEB6BF-DB03-4947-9513-72F9E8E58E7E}" destId="{CA18CE7A-0ECE-E84A-B1EC-FCF7742C5630}" srcOrd="0" destOrd="0" presId="urn:microsoft.com/office/officeart/2005/8/layout/lProcess3"/>
    <dgm:cxn modelId="{7A8C936C-96A2-F844-9366-AB6E9409D36E}" srcId="{93D50254-EEA0-904C-B709-F1EF88838E4A}" destId="{19766657-516C-0A47-BBD1-B8981CDD207E}" srcOrd="3" destOrd="0" parTransId="{0DCB7703-4C0E-5E49-898E-2704BC9A04A5}" sibTransId="{9764C2B8-38F6-DD44-95CF-74241A232C5C}"/>
    <dgm:cxn modelId="{ABB46575-6602-8548-B0A8-4391BD54A889}" type="presOf" srcId="{DD746963-ADE9-4245-B0C5-F40301773BF6}" destId="{ACBBB435-80DC-CA41-A5B3-D5885F28DEE4}" srcOrd="0" destOrd="0" presId="urn:microsoft.com/office/officeart/2005/8/layout/lProcess3"/>
    <dgm:cxn modelId="{DC567F9E-8704-8145-BD46-6395838BD920}" srcId="{93D50254-EEA0-904C-B709-F1EF88838E4A}" destId="{3CB48EF2-6239-194D-9805-F54D453959C5}" srcOrd="1" destOrd="0" parTransId="{D20B3C9C-49DC-C149-9435-AE3746306FC9}" sibTransId="{978269D3-FA3F-7347-BDE3-9DA2644A78CE}"/>
    <dgm:cxn modelId="{655DA8B4-C3ED-D243-8984-1910FAE98626}" srcId="{19766657-516C-0A47-BBD1-B8981CDD207E}" destId="{C9B52C63-D180-E94F-A45B-296299C5493C}" srcOrd="0" destOrd="0" parTransId="{6D4A0DFF-6BE3-F842-BDAC-3100ED443F0F}" sibTransId="{7A024469-57ED-B045-97E2-FFFCB8C45814}"/>
    <dgm:cxn modelId="{A9B819D3-1B73-FE4E-8315-7EF53CADB0D6}" type="presOf" srcId="{BF73DB45-1540-AB4C-A83E-612BE158457A}" destId="{1267FF52-2EDA-F043-B60F-7C1AFE0E740B}" srcOrd="0" destOrd="0" presId="urn:microsoft.com/office/officeart/2005/8/layout/lProcess3"/>
    <dgm:cxn modelId="{8AB8C0D4-8820-8247-A1F3-B1E73B176817}" srcId="{A5F1F447-75E7-5D45-ADC5-B0A362192B24}" destId="{96FEB6BF-DB03-4947-9513-72F9E8E58E7E}" srcOrd="0" destOrd="0" parTransId="{A701EE85-5A2D-1247-A981-7F2C60454B2C}" sibTransId="{421B2820-AAA0-6A4F-8DDB-03DF5342DCC3}"/>
    <dgm:cxn modelId="{7BD732E6-AC2F-8B48-BD77-B4A6B69E1434}" srcId="{93D50254-EEA0-904C-B709-F1EF88838E4A}" destId="{A5F1F447-75E7-5D45-ADC5-B0A362192B24}" srcOrd="2" destOrd="0" parTransId="{749F534B-1B05-1548-935F-AFC89EA54A15}" sibTransId="{54712289-D39F-5248-A885-0F796AE712C7}"/>
    <dgm:cxn modelId="{5B17D0EE-4453-B247-9264-D3D218CF74F9}" srcId="{3CB48EF2-6239-194D-9805-F54D453959C5}" destId="{DD746963-ADE9-4245-B0C5-F40301773BF6}" srcOrd="0" destOrd="0" parTransId="{50E346E0-572C-2242-89BB-CA4B54B4130E}" sibTransId="{4F363200-519D-1542-A269-D0AD2891B3DD}"/>
    <dgm:cxn modelId="{4ACFEFF3-9F94-154D-A780-D772E0297941}" srcId="{CBA2A5F7-9723-DF4C-8120-889E380AAB0A}" destId="{BF73DB45-1540-AB4C-A83E-612BE158457A}" srcOrd="0" destOrd="0" parTransId="{554C50AA-A686-2240-BAF2-1535E5480B53}" sibTransId="{FE371700-48D5-BA44-A7ED-8F417CBE6C00}"/>
    <dgm:cxn modelId="{F3A092C6-09BC-CE41-85C7-40C65A458DC4}" type="presParOf" srcId="{7C89848C-CE9B-6749-9F3C-17640371B31C}" destId="{DCD70213-A3EB-9345-9EC7-9E1C7B909FE3}" srcOrd="0" destOrd="0" presId="urn:microsoft.com/office/officeart/2005/8/layout/lProcess3"/>
    <dgm:cxn modelId="{E4666659-64C9-1C4F-80A6-78557C035F58}" type="presParOf" srcId="{DCD70213-A3EB-9345-9EC7-9E1C7B909FE3}" destId="{38EF395D-12B1-4840-B5A7-84C0FB652BA3}" srcOrd="0" destOrd="0" presId="urn:microsoft.com/office/officeart/2005/8/layout/lProcess3"/>
    <dgm:cxn modelId="{396F6DBF-9024-A04D-B055-B5D3841E502E}" type="presParOf" srcId="{DCD70213-A3EB-9345-9EC7-9E1C7B909FE3}" destId="{34FBFB58-813F-4F48-B2E4-DDB9B2A85D82}" srcOrd="1" destOrd="0" presId="urn:microsoft.com/office/officeart/2005/8/layout/lProcess3"/>
    <dgm:cxn modelId="{F53E2F53-5A6F-B54B-A4AF-603DDB4613FB}" type="presParOf" srcId="{DCD70213-A3EB-9345-9EC7-9E1C7B909FE3}" destId="{1267FF52-2EDA-F043-B60F-7C1AFE0E740B}" srcOrd="2" destOrd="0" presId="urn:microsoft.com/office/officeart/2005/8/layout/lProcess3"/>
    <dgm:cxn modelId="{F5420B13-DA7B-5D48-96AB-EC3759FAD721}" type="presParOf" srcId="{7C89848C-CE9B-6749-9F3C-17640371B31C}" destId="{2AE67F36-B219-3246-B59F-F121ADCDFE66}" srcOrd="1" destOrd="0" presId="urn:microsoft.com/office/officeart/2005/8/layout/lProcess3"/>
    <dgm:cxn modelId="{1DAE3EBD-77DC-5D42-8439-2CF28255867A}" type="presParOf" srcId="{7C89848C-CE9B-6749-9F3C-17640371B31C}" destId="{CD510A3C-1E57-A441-988B-415E23B8F9C2}" srcOrd="2" destOrd="0" presId="urn:microsoft.com/office/officeart/2005/8/layout/lProcess3"/>
    <dgm:cxn modelId="{80008865-0CED-6C4B-8721-DD151FD2E640}" type="presParOf" srcId="{CD510A3C-1E57-A441-988B-415E23B8F9C2}" destId="{DCE3BE12-40FE-D044-B686-CADB638CFCC2}" srcOrd="0" destOrd="0" presId="urn:microsoft.com/office/officeart/2005/8/layout/lProcess3"/>
    <dgm:cxn modelId="{99940616-9666-6741-B8D0-418862614469}" type="presParOf" srcId="{CD510A3C-1E57-A441-988B-415E23B8F9C2}" destId="{94EE36AB-6A7C-AD4E-8A62-E13A68B6AF21}" srcOrd="1" destOrd="0" presId="urn:microsoft.com/office/officeart/2005/8/layout/lProcess3"/>
    <dgm:cxn modelId="{4D20F472-F0BE-4248-864C-6CB9AE948713}" type="presParOf" srcId="{CD510A3C-1E57-A441-988B-415E23B8F9C2}" destId="{ACBBB435-80DC-CA41-A5B3-D5885F28DEE4}" srcOrd="2" destOrd="0" presId="urn:microsoft.com/office/officeart/2005/8/layout/lProcess3"/>
    <dgm:cxn modelId="{E0E8A7B0-E9F4-2B42-8BE1-A56DF99B8024}" type="presParOf" srcId="{7C89848C-CE9B-6749-9F3C-17640371B31C}" destId="{A1917ADA-4EBE-D04D-8BB6-0E6855A552A7}" srcOrd="3" destOrd="0" presId="urn:microsoft.com/office/officeart/2005/8/layout/lProcess3"/>
    <dgm:cxn modelId="{F6E99F4C-9970-3848-A611-50E3E61E485A}" type="presParOf" srcId="{7C89848C-CE9B-6749-9F3C-17640371B31C}" destId="{6020F5FD-1F9D-4641-B04F-F031FF4D2BAC}" srcOrd="4" destOrd="0" presId="urn:microsoft.com/office/officeart/2005/8/layout/lProcess3"/>
    <dgm:cxn modelId="{7756631E-B990-014B-926F-B3EDC727FC3B}" type="presParOf" srcId="{6020F5FD-1F9D-4641-B04F-F031FF4D2BAC}" destId="{6F51940A-20F3-8341-88A3-129E2565BD0B}" srcOrd="0" destOrd="0" presId="urn:microsoft.com/office/officeart/2005/8/layout/lProcess3"/>
    <dgm:cxn modelId="{1B67F45E-5006-1644-9AF0-4C462150B3BB}" type="presParOf" srcId="{6020F5FD-1F9D-4641-B04F-F031FF4D2BAC}" destId="{4F1D260A-7803-A446-9DE0-F6A15835BB2B}" srcOrd="1" destOrd="0" presId="urn:microsoft.com/office/officeart/2005/8/layout/lProcess3"/>
    <dgm:cxn modelId="{8364D461-C033-0B44-A46B-3CC2ACB7C4B4}" type="presParOf" srcId="{6020F5FD-1F9D-4641-B04F-F031FF4D2BAC}" destId="{CA18CE7A-0ECE-E84A-B1EC-FCF7742C5630}" srcOrd="2" destOrd="0" presId="urn:microsoft.com/office/officeart/2005/8/layout/lProcess3"/>
    <dgm:cxn modelId="{7365FB22-7969-504F-8F81-30F1012798D8}" type="presParOf" srcId="{7C89848C-CE9B-6749-9F3C-17640371B31C}" destId="{B386545F-B027-864D-8B58-9D21553E6630}" srcOrd="5" destOrd="0" presId="urn:microsoft.com/office/officeart/2005/8/layout/lProcess3"/>
    <dgm:cxn modelId="{1CBAB73F-AE89-EC4F-949A-F5F9CF02C692}" type="presParOf" srcId="{7C89848C-CE9B-6749-9F3C-17640371B31C}" destId="{8AD11A68-5A18-A943-9579-B069001FF80E}" srcOrd="6" destOrd="0" presId="urn:microsoft.com/office/officeart/2005/8/layout/lProcess3"/>
    <dgm:cxn modelId="{9AA3A84C-723A-3043-924D-05839BE44FDF}" type="presParOf" srcId="{8AD11A68-5A18-A943-9579-B069001FF80E}" destId="{07223018-3596-1D45-84D9-BFC2A49A0A72}" srcOrd="0" destOrd="0" presId="urn:microsoft.com/office/officeart/2005/8/layout/lProcess3"/>
    <dgm:cxn modelId="{7FEDF6EB-48CF-404C-BBBB-A17E813B008B}" type="presParOf" srcId="{8AD11A68-5A18-A943-9579-B069001FF80E}" destId="{7BED4DD0-876C-C147-82E0-875654FBFC62}" srcOrd="1" destOrd="0" presId="urn:microsoft.com/office/officeart/2005/8/layout/lProcess3"/>
    <dgm:cxn modelId="{673F143D-683A-9046-A60F-4E18BC61B9D1}" type="presParOf" srcId="{8AD11A68-5A18-A943-9579-B069001FF80E}" destId="{3C2EF523-07D7-374F-9C01-83DC61433264}" srcOrd="2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29B4C14-70F9-BD42-8B42-B5898F7D5787}" type="doc">
      <dgm:prSet loTypeId="urn:microsoft.com/office/officeart/2005/8/layout/lProcess3" loCatId="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0AA78A2B-E197-0E4C-908B-89CDB49207F4}">
      <dgm:prSet/>
      <dgm:spPr/>
      <dgm:t>
        <a:bodyPr/>
        <a:lstStyle/>
        <a:p>
          <a:r>
            <a:rPr lang="en-US" dirty="0"/>
            <a:t>Deposit</a:t>
          </a:r>
          <a:endParaRPr lang="en-UA" dirty="0"/>
        </a:p>
      </dgm:t>
    </dgm:pt>
    <dgm:pt modelId="{D5FB4C62-6280-714B-B5A4-FB3DDBED37A8}" type="parTrans" cxnId="{7B2C7C2F-402C-E143-A00B-26E77A55B1CF}">
      <dgm:prSet/>
      <dgm:spPr/>
      <dgm:t>
        <a:bodyPr/>
        <a:lstStyle/>
        <a:p>
          <a:endParaRPr lang="en-US"/>
        </a:p>
      </dgm:t>
    </dgm:pt>
    <dgm:pt modelId="{03B31E81-0702-E343-86C5-F34C5CF432DE}" type="sibTrans" cxnId="{7B2C7C2F-402C-E143-A00B-26E77A55B1CF}">
      <dgm:prSet/>
      <dgm:spPr/>
      <dgm:t>
        <a:bodyPr/>
        <a:lstStyle/>
        <a:p>
          <a:endParaRPr lang="en-US"/>
        </a:p>
      </dgm:t>
    </dgm:pt>
    <dgm:pt modelId="{85F3F3D1-F231-644B-A7FD-9C953972173C}">
      <dgm:prSet/>
      <dgm:spPr/>
      <dgm:t>
        <a:bodyPr/>
        <a:lstStyle/>
        <a:p>
          <a:r>
            <a:rPr lang="en-US" dirty="0"/>
            <a:t>do not reduce default risk</a:t>
          </a:r>
          <a:endParaRPr lang="en-UA" dirty="0"/>
        </a:p>
      </dgm:t>
    </dgm:pt>
    <dgm:pt modelId="{96253537-D822-1F4B-BEF3-F11B216594A1}" type="sibTrans" cxnId="{D28A5992-27C4-4741-B74E-E28C4C33062F}">
      <dgm:prSet/>
      <dgm:spPr/>
      <dgm:t>
        <a:bodyPr/>
        <a:lstStyle/>
        <a:p>
          <a:endParaRPr lang="en-US"/>
        </a:p>
      </dgm:t>
    </dgm:pt>
    <dgm:pt modelId="{F43B0A9A-FBAB-A14B-9570-15510A4A5A70}" type="parTrans" cxnId="{D28A5992-27C4-4741-B74E-E28C4C33062F}">
      <dgm:prSet/>
      <dgm:spPr/>
      <dgm:t>
        <a:bodyPr/>
        <a:lstStyle/>
        <a:p>
          <a:endParaRPr lang="en-US"/>
        </a:p>
      </dgm:t>
    </dgm:pt>
    <dgm:pt modelId="{A3B5A449-5507-7E4B-B738-C5E55DD3B551}">
      <dgm:prSet/>
      <dgm:spPr/>
      <dgm:t>
        <a:bodyPr/>
        <a:lstStyle/>
        <a:p>
          <a:r>
            <a:rPr lang="en-US" dirty="0"/>
            <a:t>Self-employed</a:t>
          </a:r>
          <a:endParaRPr lang="en-UA" dirty="0"/>
        </a:p>
      </dgm:t>
    </dgm:pt>
    <dgm:pt modelId="{C0BD3FE3-19F8-8F4B-BFCB-C96DEEC5E5D6}" type="sibTrans" cxnId="{1C82B4CE-3206-DD43-9F20-C9847B98CAB3}">
      <dgm:prSet/>
      <dgm:spPr/>
      <dgm:t>
        <a:bodyPr/>
        <a:lstStyle/>
        <a:p>
          <a:endParaRPr lang="en-US"/>
        </a:p>
      </dgm:t>
    </dgm:pt>
    <dgm:pt modelId="{FBBC2FAA-4E84-B84A-A99D-9406C5D58AF8}" type="parTrans" cxnId="{1C82B4CE-3206-DD43-9F20-C9847B98CAB3}">
      <dgm:prSet/>
      <dgm:spPr/>
      <dgm:t>
        <a:bodyPr/>
        <a:lstStyle/>
        <a:p>
          <a:endParaRPr lang="en-US"/>
        </a:p>
      </dgm:t>
    </dgm:pt>
    <dgm:pt modelId="{27050583-207C-7C4C-85AC-2285BDA646DE}">
      <dgm:prSet/>
      <dgm:spPr/>
      <dgm:t>
        <a:bodyPr/>
        <a:lstStyle/>
        <a:p>
          <a:r>
            <a:rPr lang="en-US" dirty="0"/>
            <a:t>slightly higher risk</a:t>
          </a:r>
          <a:endParaRPr lang="en-UA" dirty="0"/>
        </a:p>
      </dgm:t>
    </dgm:pt>
    <dgm:pt modelId="{3855EF26-8F10-D54B-8DD1-D68657D75B92}" type="sibTrans" cxnId="{0D27AC0B-1BFD-7541-944C-BC04E0DC54BE}">
      <dgm:prSet/>
      <dgm:spPr/>
      <dgm:t>
        <a:bodyPr/>
        <a:lstStyle/>
        <a:p>
          <a:endParaRPr lang="en-US"/>
        </a:p>
      </dgm:t>
    </dgm:pt>
    <dgm:pt modelId="{5B974CDB-6DEE-3346-BA62-370DC0727CDE}" type="parTrans" cxnId="{0D27AC0B-1BFD-7541-944C-BC04E0DC54BE}">
      <dgm:prSet/>
      <dgm:spPr/>
      <dgm:t>
        <a:bodyPr/>
        <a:lstStyle/>
        <a:p>
          <a:endParaRPr lang="en-US"/>
        </a:p>
      </dgm:t>
    </dgm:pt>
    <dgm:pt modelId="{5BE22307-4DE2-7B49-B497-5EEAE7E67FBA}">
      <dgm:prSet/>
      <dgm:spPr/>
      <dgm:t>
        <a:bodyPr/>
        <a:lstStyle/>
        <a:p>
          <a:r>
            <a:rPr lang="en-US" dirty="0"/>
            <a:t>Account holders</a:t>
          </a:r>
          <a:endParaRPr lang="en-UA" dirty="0"/>
        </a:p>
      </dgm:t>
    </dgm:pt>
    <dgm:pt modelId="{DD7EEF1B-8CD3-2641-B366-D3ED3E2B1914}" type="sibTrans" cxnId="{C9454A50-8441-6242-8523-8E5189582623}">
      <dgm:prSet/>
      <dgm:spPr/>
      <dgm:t>
        <a:bodyPr/>
        <a:lstStyle/>
        <a:p>
          <a:endParaRPr lang="en-US"/>
        </a:p>
      </dgm:t>
    </dgm:pt>
    <dgm:pt modelId="{9F420564-4C35-B54C-8315-BA07977D090A}" type="parTrans" cxnId="{C9454A50-8441-6242-8523-8E5189582623}">
      <dgm:prSet/>
      <dgm:spPr/>
      <dgm:t>
        <a:bodyPr/>
        <a:lstStyle/>
        <a:p>
          <a:endParaRPr lang="en-US"/>
        </a:p>
      </dgm:t>
    </dgm:pt>
    <dgm:pt modelId="{D9AB4D12-5641-134A-B1E0-99AB2EAEBCC3}">
      <dgm:prSet/>
      <dgm:spPr/>
      <dgm:t>
        <a:bodyPr/>
        <a:lstStyle/>
        <a:p>
          <a:r>
            <a:rPr lang="en-US" dirty="0"/>
            <a:t>slightly higher default</a:t>
          </a:r>
          <a:endParaRPr lang="en-UA" dirty="0"/>
        </a:p>
      </dgm:t>
    </dgm:pt>
    <dgm:pt modelId="{C5BBC722-4781-C347-B3F8-817940F66C86}" type="sibTrans" cxnId="{EAEEF987-4BDD-4F4C-8F20-97F576604066}">
      <dgm:prSet/>
      <dgm:spPr/>
      <dgm:t>
        <a:bodyPr/>
        <a:lstStyle/>
        <a:p>
          <a:endParaRPr lang="en-US"/>
        </a:p>
      </dgm:t>
    </dgm:pt>
    <dgm:pt modelId="{2E26704C-DE10-3E46-9E36-40229F4D3648}" type="parTrans" cxnId="{EAEEF987-4BDD-4F4C-8F20-97F576604066}">
      <dgm:prSet/>
      <dgm:spPr/>
      <dgm:t>
        <a:bodyPr/>
        <a:lstStyle/>
        <a:p>
          <a:endParaRPr lang="en-US"/>
        </a:p>
      </dgm:t>
    </dgm:pt>
    <dgm:pt modelId="{3E0E586E-4255-F245-A9BB-C63306678EBF}">
      <dgm:prSet/>
      <dgm:spPr/>
      <dgm:t>
        <a:bodyPr/>
        <a:lstStyle/>
        <a:p>
          <a:r>
            <a:rPr lang="en-US" dirty="0"/>
            <a:t>Prior loans</a:t>
          </a:r>
          <a:endParaRPr lang="en-UA" dirty="0"/>
        </a:p>
      </dgm:t>
    </dgm:pt>
    <dgm:pt modelId="{1CEB4388-040C-0B4B-B0A2-401B25D88B73}" type="sibTrans" cxnId="{810F46D9-C2FD-894F-8FD2-4005EF5BC00B}">
      <dgm:prSet/>
      <dgm:spPr/>
      <dgm:t>
        <a:bodyPr/>
        <a:lstStyle/>
        <a:p>
          <a:endParaRPr lang="en-US"/>
        </a:p>
      </dgm:t>
    </dgm:pt>
    <dgm:pt modelId="{6EFEE938-0769-514B-B6A1-9C6DA8BA0830}" type="parTrans" cxnId="{810F46D9-C2FD-894F-8FD2-4005EF5BC00B}">
      <dgm:prSet/>
      <dgm:spPr/>
      <dgm:t>
        <a:bodyPr/>
        <a:lstStyle/>
        <a:p>
          <a:endParaRPr lang="en-US"/>
        </a:p>
      </dgm:t>
    </dgm:pt>
    <dgm:pt modelId="{74DA7DE4-D505-104B-86E1-C73C777758D6}">
      <dgm:prSet/>
      <dgm:spPr/>
      <dgm:t>
        <a:bodyPr/>
        <a:lstStyle/>
        <a:p>
          <a:r>
            <a:rPr lang="en-US" dirty="0"/>
            <a:t>slightly higher default</a:t>
          </a:r>
          <a:endParaRPr lang="en-UA" dirty="0"/>
        </a:p>
      </dgm:t>
    </dgm:pt>
    <dgm:pt modelId="{71F300FD-3D33-314B-9BE2-83A4906DB99F}" type="sibTrans" cxnId="{7823C992-6CDA-4443-AFE3-ECBE78A0C099}">
      <dgm:prSet/>
      <dgm:spPr/>
      <dgm:t>
        <a:bodyPr/>
        <a:lstStyle/>
        <a:p>
          <a:endParaRPr lang="en-US"/>
        </a:p>
      </dgm:t>
    </dgm:pt>
    <dgm:pt modelId="{538910E1-9336-2F42-9E25-B8AFF5909886}" type="parTrans" cxnId="{7823C992-6CDA-4443-AFE3-ECBE78A0C099}">
      <dgm:prSet/>
      <dgm:spPr/>
      <dgm:t>
        <a:bodyPr/>
        <a:lstStyle/>
        <a:p>
          <a:endParaRPr lang="en-US"/>
        </a:p>
      </dgm:t>
    </dgm:pt>
    <dgm:pt modelId="{E0BDF6F8-D5D5-1849-8AA7-A4BF61FF1605}" type="pres">
      <dgm:prSet presAssocID="{129B4C14-70F9-BD42-8B42-B5898F7D5787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26C7AB82-FC8F-FB48-9856-15D18E3DD2C7}" type="pres">
      <dgm:prSet presAssocID="{0AA78A2B-E197-0E4C-908B-89CDB49207F4}" presName="horFlow" presStyleCnt="0"/>
      <dgm:spPr/>
    </dgm:pt>
    <dgm:pt modelId="{4A2DAFC0-7317-0D43-A9BC-8FEB888351A8}" type="pres">
      <dgm:prSet presAssocID="{0AA78A2B-E197-0E4C-908B-89CDB49207F4}" presName="bigChev" presStyleLbl="node1" presStyleIdx="0" presStyleCnt="4"/>
      <dgm:spPr/>
    </dgm:pt>
    <dgm:pt modelId="{284EE05E-F809-2449-B72C-00D9348B6019}" type="pres">
      <dgm:prSet presAssocID="{F43B0A9A-FBAB-A14B-9570-15510A4A5A70}" presName="parTrans" presStyleCnt="0"/>
      <dgm:spPr/>
    </dgm:pt>
    <dgm:pt modelId="{B17D38CF-D4E1-8B4B-B30A-BCB3DB9FF53A}" type="pres">
      <dgm:prSet presAssocID="{85F3F3D1-F231-644B-A7FD-9C953972173C}" presName="node" presStyleLbl="alignAccFollowNode1" presStyleIdx="0" presStyleCnt="4">
        <dgm:presLayoutVars>
          <dgm:bulletEnabled val="1"/>
        </dgm:presLayoutVars>
      </dgm:prSet>
      <dgm:spPr/>
    </dgm:pt>
    <dgm:pt modelId="{1333FBF5-15DB-8E44-91C5-676C4FF89EC2}" type="pres">
      <dgm:prSet presAssocID="{0AA78A2B-E197-0E4C-908B-89CDB49207F4}" presName="vSp" presStyleCnt="0"/>
      <dgm:spPr/>
    </dgm:pt>
    <dgm:pt modelId="{EAFDF360-ADC7-D341-8F07-8D1D911DA16F}" type="pres">
      <dgm:prSet presAssocID="{A3B5A449-5507-7E4B-B738-C5E55DD3B551}" presName="horFlow" presStyleCnt="0"/>
      <dgm:spPr/>
    </dgm:pt>
    <dgm:pt modelId="{405AE8A9-C279-B241-A034-2296A831476F}" type="pres">
      <dgm:prSet presAssocID="{A3B5A449-5507-7E4B-B738-C5E55DD3B551}" presName="bigChev" presStyleLbl="node1" presStyleIdx="1" presStyleCnt="4"/>
      <dgm:spPr/>
    </dgm:pt>
    <dgm:pt modelId="{70E0505C-0CFF-2340-946B-03DB2930A37D}" type="pres">
      <dgm:prSet presAssocID="{5B974CDB-6DEE-3346-BA62-370DC0727CDE}" presName="parTrans" presStyleCnt="0"/>
      <dgm:spPr/>
    </dgm:pt>
    <dgm:pt modelId="{0655CC90-27BE-EE4D-B229-B854D2F1123D}" type="pres">
      <dgm:prSet presAssocID="{27050583-207C-7C4C-85AC-2285BDA646DE}" presName="node" presStyleLbl="alignAccFollowNode1" presStyleIdx="1" presStyleCnt="4">
        <dgm:presLayoutVars>
          <dgm:bulletEnabled val="1"/>
        </dgm:presLayoutVars>
      </dgm:prSet>
      <dgm:spPr/>
    </dgm:pt>
    <dgm:pt modelId="{946D5BBB-857D-C745-BF66-9402AB2D1EDE}" type="pres">
      <dgm:prSet presAssocID="{A3B5A449-5507-7E4B-B738-C5E55DD3B551}" presName="vSp" presStyleCnt="0"/>
      <dgm:spPr/>
    </dgm:pt>
    <dgm:pt modelId="{86B477E0-0B1D-A541-9D28-3220C2A24F19}" type="pres">
      <dgm:prSet presAssocID="{5BE22307-4DE2-7B49-B497-5EEAE7E67FBA}" presName="horFlow" presStyleCnt="0"/>
      <dgm:spPr/>
    </dgm:pt>
    <dgm:pt modelId="{27099D84-E939-1940-99F9-A0DBCBEAB3CE}" type="pres">
      <dgm:prSet presAssocID="{5BE22307-4DE2-7B49-B497-5EEAE7E67FBA}" presName="bigChev" presStyleLbl="node1" presStyleIdx="2" presStyleCnt="4"/>
      <dgm:spPr/>
    </dgm:pt>
    <dgm:pt modelId="{1EFAC474-98E8-3045-B1F0-09ED825E148A}" type="pres">
      <dgm:prSet presAssocID="{2E26704C-DE10-3E46-9E36-40229F4D3648}" presName="parTrans" presStyleCnt="0"/>
      <dgm:spPr/>
    </dgm:pt>
    <dgm:pt modelId="{BE1033CD-5499-EC4A-93D1-E71F4BE2AD33}" type="pres">
      <dgm:prSet presAssocID="{D9AB4D12-5641-134A-B1E0-99AB2EAEBCC3}" presName="node" presStyleLbl="alignAccFollowNode1" presStyleIdx="2" presStyleCnt="4">
        <dgm:presLayoutVars>
          <dgm:bulletEnabled val="1"/>
        </dgm:presLayoutVars>
      </dgm:prSet>
      <dgm:spPr/>
    </dgm:pt>
    <dgm:pt modelId="{4BCC6B42-99B4-1C40-A45E-1AC2FCD477A2}" type="pres">
      <dgm:prSet presAssocID="{5BE22307-4DE2-7B49-B497-5EEAE7E67FBA}" presName="vSp" presStyleCnt="0"/>
      <dgm:spPr/>
    </dgm:pt>
    <dgm:pt modelId="{D8234B3C-3DD1-C946-BC4F-6A2E148AC418}" type="pres">
      <dgm:prSet presAssocID="{3E0E586E-4255-F245-A9BB-C63306678EBF}" presName="horFlow" presStyleCnt="0"/>
      <dgm:spPr/>
    </dgm:pt>
    <dgm:pt modelId="{5F73D2C4-21A0-3B4E-87D5-45A015C6B8CC}" type="pres">
      <dgm:prSet presAssocID="{3E0E586E-4255-F245-A9BB-C63306678EBF}" presName="bigChev" presStyleLbl="node1" presStyleIdx="3" presStyleCnt="4"/>
      <dgm:spPr/>
    </dgm:pt>
    <dgm:pt modelId="{3406E7CE-9B82-DF4C-BEE0-4101C8E35C37}" type="pres">
      <dgm:prSet presAssocID="{538910E1-9336-2F42-9E25-B8AFF5909886}" presName="parTrans" presStyleCnt="0"/>
      <dgm:spPr/>
    </dgm:pt>
    <dgm:pt modelId="{AB02CDD1-F6E3-B94F-8196-0FB7D3A58BFD}" type="pres">
      <dgm:prSet presAssocID="{74DA7DE4-D505-104B-86E1-C73C777758D6}" presName="node" presStyleLbl="alignAccFollowNode1" presStyleIdx="3" presStyleCnt="4">
        <dgm:presLayoutVars>
          <dgm:bulletEnabled val="1"/>
        </dgm:presLayoutVars>
      </dgm:prSet>
      <dgm:spPr/>
    </dgm:pt>
  </dgm:ptLst>
  <dgm:cxnLst>
    <dgm:cxn modelId="{0D27AC0B-1BFD-7541-944C-BC04E0DC54BE}" srcId="{A3B5A449-5507-7E4B-B738-C5E55DD3B551}" destId="{27050583-207C-7C4C-85AC-2285BDA646DE}" srcOrd="0" destOrd="0" parTransId="{5B974CDB-6DEE-3346-BA62-370DC0727CDE}" sibTransId="{3855EF26-8F10-D54B-8DD1-D68657D75B92}"/>
    <dgm:cxn modelId="{26A53D1B-161A-0C46-B317-B3AAFBCAFB45}" type="presOf" srcId="{A3B5A449-5507-7E4B-B738-C5E55DD3B551}" destId="{405AE8A9-C279-B241-A034-2296A831476F}" srcOrd="0" destOrd="0" presId="urn:microsoft.com/office/officeart/2005/8/layout/lProcess3"/>
    <dgm:cxn modelId="{62EF631F-BC32-9647-A7E4-CCFFDF693318}" type="presOf" srcId="{3E0E586E-4255-F245-A9BB-C63306678EBF}" destId="{5F73D2C4-21A0-3B4E-87D5-45A015C6B8CC}" srcOrd="0" destOrd="0" presId="urn:microsoft.com/office/officeart/2005/8/layout/lProcess3"/>
    <dgm:cxn modelId="{22EBCC29-5C28-2449-B25F-799C330B747C}" type="presOf" srcId="{D9AB4D12-5641-134A-B1E0-99AB2EAEBCC3}" destId="{BE1033CD-5499-EC4A-93D1-E71F4BE2AD33}" srcOrd="0" destOrd="0" presId="urn:microsoft.com/office/officeart/2005/8/layout/lProcess3"/>
    <dgm:cxn modelId="{7B2C7C2F-402C-E143-A00B-26E77A55B1CF}" srcId="{129B4C14-70F9-BD42-8B42-B5898F7D5787}" destId="{0AA78A2B-E197-0E4C-908B-89CDB49207F4}" srcOrd="0" destOrd="0" parTransId="{D5FB4C62-6280-714B-B5A4-FB3DDBED37A8}" sibTransId="{03B31E81-0702-E343-86C5-F34C5CF432DE}"/>
    <dgm:cxn modelId="{C9454A50-8441-6242-8523-8E5189582623}" srcId="{129B4C14-70F9-BD42-8B42-B5898F7D5787}" destId="{5BE22307-4DE2-7B49-B497-5EEAE7E67FBA}" srcOrd="2" destOrd="0" parTransId="{9F420564-4C35-B54C-8315-BA07977D090A}" sibTransId="{DD7EEF1B-8CD3-2641-B366-D3ED3E2B1914}"/>
    <dgm:cxn modelId="{DD8B5E50-0F3E-6844-BFDB-11CD83CD6315}" type="presOf" srcId="{0AA78A2B-E197-0E4C-908B-89CDB49207F4}" destId="{4A2DAFC0-7317-0D43-A9BC-8FEB888351A8}" srcOrd="0" destOrd="0" presId="urn:microsoft.com/office/officeart/2005/8/layout/lProcess3"/>
    <dgm:cxn modelId="{2C2E1654-930A-F942-93D4-96971719859B}" type="presOf" srcId="{5BE22307-4DE2-7B49-B497-5EEAE7E67FBA}" destId="{27099D84-E939-1940-99F9-A0DBCBEAB3CE}" srcOrd="0" destOrd="0" presId="urn:microsoft.com/office/officeart/2005/8/layout/lProcess3"/>
    <dgm:cxn modelId="{34D63885-E8A3-9E47-B744-20DD81C452CC}" type="presOf" srcId="{129B4C14-70F9-BD42-8B42-B5898F7D5787}" destId="{E0BDF6F8-D5D5-1849-8AA7-A4BF61FF1605}" srcOrd="0" destOrd="0" presId="urn:microsoft.com/office/officeart/2005/8/layout/lProcess3"/>
    <dgm:cxn modelId="{EAEEF987-4BDD-4F4C-8F20-97F576604066}" srcId="{5BE22307-4DE2-7B49-B497-5EEAE7E67FBA}" destId="{D9AB4D12-5641-134A-B1E0-99AB2EAEBCC3}" srcOrd="0" destOrd="0" parTransId="{2E26704C-DE10-3E46-9E36-40229F4D3648}" sibTransId="{C5BBC722-4781-C347-B3F8-817940F66C86}"/>
    <dgm:cxn modelId="{D28A5992-27C4-4741-B74E-E28C4C33062F}" srcId="{0AA78A2B-E197-0E4C-908B-89CDB49207F4}" destId="{85F3F3D1-F231-644B-A7FD-9C953972173C}" srcOrd="0" destOrd="0" parTransId="{F43B0A9A-FBAB-A14B-9570-15510A4A5A70}" sibTransId="{96253537-D822-1F4B-BEF3-F11B216594A1}"/>
    <dgm:cxn modelId="{7823C992-6CDA-4443-AFE3-ECBE78A0C099}" srcId="{3E0E586E-4255-F245-A9BB-C63306678EBF}" destId="{74DA7DE4-D505-104B-86E1-C73C777758D6}" srcOrd="0" destOrd="0" parTransId="{538910E1-9336-2F42-9E25-B8AFF5909886}" sibTransId="{71F300FD-3D33-314B-9BE2-83A4906DB99F}"/>
    <dgm:cxn modelId="{1C82B4CE-3206-DD43-9F20-C9847B98CAB3}" srcId="{129B4C14-70F9-BD42-8B42-B5898F7D5787}" destId="{A3B5A449-5507-7E4B-B738-C5E55DD3B551}" srcOrd="1" destOrd="0" parTransId="{FBBC2FAA-4E84-B84A-A99D-9406C5D58AF8}" sibTransId="{C0BD3FE3-19F8-8F4B-BFCB-C96DEEC5E5D6}"/>
    <dgm:cxn modelId="{810F46D9-C2FD-894F-8FD2-4005EF5BC00B}" srcId="{129B4C14-70F9-BD42-8B42-B5898F7D5787}" destId="{3E0E586E-4255-F245-A9BB-C63306678EBF}" srcOrd="3" destOrd="0" parTransId="{6EFEE938-0769-514B-B6A1-9C6DA8BA0830}" sibTransId="{1CEB4388-040C-0B4B-B0A2-401B25D88B73}"/>
    <dgm:cxn modelId="{61C618EB-5503-4F46-B33D-8A76088779F5}" type="presOf" srcId="{74DA7DE4-D505-104B-86E1-C73C777758D6}" destId="{AB02CDD1-F6E3-B94F-8196-0FB7D3A58BFD}" srcOrd="0" destOrd="0" presId="urn:microsoft.com/office/officeart/2005/8/layout/lProcess3"/>
    <dgm:cxn modelId="{A0879DEB-6B3F-9649-BD20-73F35BB18662}" type="presOf" srcId="{27050583-207C-7C4C-85AC-2285BDA646DE}" destId="{0655CC90-27BE-EE4D-B229-B854D2F1123D}" srcOrd="0" destOrd="0" presId="urn:microsoft.com/office/officeart/2005/8/layout/lProcess3"/>
    <dgm:cxn modelId="{DF8DB4F5-9133-064A-BCA4-13B82A8F67F6}" type="presOf" srcId="{85F3F3D1-F231-644B-A7FD-9C953972173C}" destId="{B17D38CF-D4E1-8B4B-B30A-BCB3DB9FF53A}" srcOrd="0" destOrd="0" presId="urn:microsoft.com/office/officeart/2005/8/layout/lProcess3"/>
    <dgm:cxn modelId="{084DC5CB-DBA4-D741-B864-DF56CAD33D17}" type="presParOf" srcId="{E0BDF6F8-D5D5-1849-8AA7-A4BF61FF1605}" destId="{26C7AB82-FC8F-FB48-9856-15D18E3DD2C7}" srcOrd="0" destOrd="0" presId="urn:microsoft.com/office/officeart/2005/8/layout/lProcess3"/>
    <dgm:cxn modelId="{9F3E6FA2-5AF0-194A-B076-FA358D633874}" type="presParOf" srcId="{26C7AB82-FC8F-FB48-9856-15D18E3DD2C7}" destId="{4A2DAFC0-7317-0D43-A9BC-8FEB888351A8}" srcOrd="0" destOrd="0" presId="urn:microsoft.com/office/officeart/2005/8/layout/lProcess3"/>
    <dgm:cxn modelId="{81760D3C-DC65-B641-8924-F74A6141FE9A}" type="presParOf" srcId="{26C7AB82-FC8F-FB48-9856-15D18E3DD2C7}" destId="{284EE05E-F809-2449-B72C-00D9348B6019}" srcOrd="1" destOrd="0" presId="urn:microsoft.com/office/officeart/2005/8/layout/lProcess3"/>
    <dgm:cxn modelId="{A4B87FCC-56E5-9D41-9EB0-169900D96CCB}" type="presParOf" srcId="{26C7AB82-FC8F-FB48-9856-15D18E3DD2C7}" destId="{B17D38CF-D4E1-8B4B-B30A-BCB3DB9FF53A}" srcOrd="2" destOrd="0" presId="urn:microsoft.com/office/officeart/2005/8/layout/lProcess3"/>
    <dgm:cxn modelId="{E8D50C3A-905A-D940-9AA1-9CC5DA767E8E}" type="presParOf" srcId="{E0BDF6F8-D5D5-1849-8AA7-A4BF61FF1605}" destId="{1333FBF5-15DB-8E44-91C5-676C4FF89EC2}" srcOrd="1" destOrd="0" presId="urn:microsoft.com/office/officeart/2005/8/layout/lProcess3"/>
    <dgm:cxn modelId="{964B5D2F-B382-E94A-A359-6DF5F2BE4416}" type="presParOf" srcId="{E0BDF6F8-D5D5-1849-8AA7-A4BF61FF1605}" destId="{EAFDF360-ADC7-D341-8F07-8D1D911DA16F}" srcOrd="2" destOrd="0" presId="urn:microsoft.com/office/officeart/2005/8/layout/lProcess3"/>
    <dgm:cxn modelId="{B3AFEBAF-04D0-1C49-87B3-8BFD7A658D62}" type="presParOf" srcId="{EAFDF360-ADC7-D341-8F07-8D1D911DA16F}" destId="{405AE8A9-C279-B241-A034-2296A831476F}" srcOrd="0" destOrd="0" presId="urn:microsoft.com/office/officeart/2005/8/layout/lProcess3"/>
    <dgm:cxn modelId="{76876BCF-3DAB-6745-817C-E708735F1AD7}" type="presParOf" srcId="{EAFDF360-ADC7-D341-8F07-8D1D911DA16F}" destId="{70E0505C-0CFF-2340-946B-03DB2930A37D}" srcOrd="1" destOrd="0" presId="urn:microsoft.com/office/officeart/2005/8/layout/lProcess3"/>
    <dgm:cxn modelId="{CE7368D6-648F-EC48-91CA-A3DD678BF58C}" type="presParOf" srcId="{EAFDF360-ADC7-D341-8F07-8D1D911DA16F}" destId="{0655CC90-27BE-EE4D-B229-B854D2F1123D}" srcOrd="2" destOrd="0" presId="urn:microsoft.com/office/officeart/2005/8/layout/lProcess3"/>
    <dgm:cxn modelId="{7602E590-5749-D648-8470-C1F102443E89}" type="presParOf" srcId="{E0BDF6F8-D5D5-1849-8AA7-A4BF61FF1605}" destId="{946D5BBB-857D-C745-BF66-9402AB2D1EDE}" srcOrd="3" destOrd="0" presId="urn:microsoft.com/office/officeart/2005/8/layout/lProcess3"/>
    <dgm:cxn modelId="{83AACA16-1BBE-6E4E-8EB6-BCFC73723F2C}" type="presParOf" srcId="{E0BDF6F8-D5D5-1849-8AA7-A4BF61FF1605}" destId="{86B477E0-0B1D-A541-9D28-3220C2A24F19}" srcOrd="4" destOrd="0" presId="urn:microsoft.com/office/officeart/2005/8/layout/lProcess3"/>
    <dgm:cxn modelId="{0EAD9665-B18F-3340-B40D-AD1222C6B9A9}" type="presParOf" srcId="{86B477E0-0B1D-A541-9D28-3220C2A24F19}" destId="{27099D84-E939-1940-99F9-A0DBCBEAB3CE}" srcOrd="0" destOrd="0" presId="urn:microsoft.com/office/officeart/2005/8/layout/lProcess3"/>
    <dgm:cxn modelId="{CF9F3F7A-73B2-7B49-967E-B95D2D2BCAC2}" type="presParOf" srcId="{86B477E0-0B1D-A541-9D28-3220C2A24F19}" destId="{1EFAC474-98E8-3045-B1F0-09ED825E148A}" srcOrd="1" destOrd="0" presId="urn:microsoft.com/office/officeart/2005/8/layout/lProcess3"/>
    <dgm:cxn modelId="{F433542D-77F8-CA42-A731-00219914DF6B}" type="presParOf" srcId="{86B477E0-0B1D-A541-9D28-3220C2A24F19}" destId="{BE1033CD-5499-EC4A-93D1-E71F4BE2AD33}" srcOrd="2" destOrd="0" presId="urn:microsoft.com/office/officeart/2005/8/layout/lProcess3"/>
    <dgm:cxn modelId="{6C7B455F-B7E5-C649-82F9-97514B8A80D9}" type="presParOf" srcId="{E0BDF6F8-D5D5-1849-8AA7-A4BF61FF1605}" destId="{4BCC6B42-99B4-1C40-A45E-1AC2FCD477A2}" srcOrd="5" destOrd="0" presId="urn:microsoft.com/office/officeart/2005/8/layout/lProcess3"/>
    <dgm:cxn modelId="{871D94DA-2847-3B40-9042-A53174D310CA}" type="presParOf" srcId="{E0BDF6F8-D5D5-1849-8AA7-A4BF61FF1605}" destId="{D8234B3C-3DD1-C946-BC4F-6A2E148AC418}" srcOrd="6" destOrd="0" presId="urn:microsoft.com/office/officeart/2005/8/layout/lProcess3"/>
    <dgm:cxn modelId="{4009FB64-865D-FA4B-B54A-D7D62F6FB0C4}" type="presParOf" srcId="{D8234B3C-3DD1-C946-BC4F-6A2E148AC418}" destId="{5F73D2C4-21A0-3B4E-87D5-45A015C6B8CC}" srcOrd="0" destOrd="0" presId="urn:microsoft.com/office/officeart/2005/8/layout/lProcess3"/>
    <dgm:cxn modelId="{553295D1-9024-694E-9CE7-D8E052F663B0}" type="presParOf" srcId="{D8234B3C-3DD1-C946-BC4F-6A2E148AC418}" destId="{3406E7CE-9B82-DF4C-BEE0-4101C8E35C37}" srcOrd="1" destOrd="0" presId="urn:microsoft.com/office/officeart/2005/8/layout/lProcess3"/>
    <dgm:cxn modelId="{6E4ACC55-E118-0C43-96A2-014CE35DBB8D}" type="presParOf" srcId="{D8234B3C-3DD1-C946-BC4F-6A2E148AC418}" destId="{AB02CDD1-F6E3-B94F-8196-0FB7D3A58BFD}" srcOrd="2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652D6EF-44E9-B449-9943-4D0A882EBF48}" type="doc">
      <dgm:prSet loTypeId="urn:microsoft.com/office/officeart/2005/8/layout/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182B275-BA4A-0040-8E8E-802960D321E9}">
      <dgm:prSet phldrT="[Text]"/>
      <dgm:spPr/>
      <dgm:t>
        <a:bodyPr/>
        <a:lstStyle/>
        <a:p>
          <a:r>
            <a:rPr lang="en-US" dirty="0"/>
            <a:t>Zone is the strongest predictor of default (&gt;15%)</a:t>
          </a:r>
        </a:p>
      </dgm:t>
    </dgm:pt>
    <dgm:pt modelId="{186FD90C-EFD5-B248-AB40-99485D8035AB}" type="parTrans" cxnId="{047C60ED-32CA-7D4E-A778-49EE0792FC19}">
      <dgm:prSet/>
      <dgm:spPr/>
      <dgm:t>
        <a:bodyPr/>
        <a:lstStyle/>
        <a:p>
          <a:endParaRPr lang="en-US"/>
        </a:p>
      </dgm:t>
    </dgm:pt>
    <dgm:pt modelId="{BECC17EE-67E1-E348-B1E1-2B82632D8F18}" type="sibTrans" cxnId="{047C60ED-32CA-7D4E-A778-49EE0792FC19}">
      <dgm:prSet/>
      <dgm:spPr/>
      <dgm:t>
        <a:bodyPr/>
        <a:lstStyle/>
        <a:p>
          <a:endParaRPr lang="en-US"/>
        </a:p>
      </dgm:t>
    </dgm:pt>
    <dgm:pt modelId="{D03481FE-5702-7044-A028-67204BBF9579}">
      <dgm:prSet phldrT="[Text]"/>
      <dgm:spPr/>
      <dgm:t>
        <a:bodyPr/>
        <a:lstStyle/>
        <a:p>
          <a:r>
            <a:rPr lang="en-US" dirty="0"/>
            <a:t>Debt-to-income ratio significantly increases risk</a:t>
          </a:r>
        </a:p>
      </dgm:t>
    </dgm:pt>
    <dgm:pt modelId="{F393CA76-3764-AA45-B6CC-DBD589F76292}" type="parTrans" cxnId="{F471053C-D1FE-864D-98BB-76BBA6C7D2DF}">
      <dgm:prSet/>
      <dgm:spPr/>
      <dgm:t>
        <a:bodyPr/>
        <a:lstStyle/>
        <a:p>
          <a:endParaRPr lang="en-US"/>
        </a:p>
      </dgm:t>
    </dgm:pt>
    <dgm:pt modelId="{AD9EB6F7-C57D-2A43-BBB0-5030899AAC6A}" type="sibTrans" cxnId="{F471053C-D1FE-864D-98BB-76BBA6C7D2DF}">
      <dgm:prSet/>
      <dgm:spPr/>
      <dgm:t>
        <a:bodyPr/>
        <a:lstStyle/>
        <a:p>
          <a:endParaRPr lang="en-US"/>
        </a:p>
      </dgm:t>
    </dgm:pt>
    <dgm:pt modelId="{F1DEC219-E985-A444-863E-DF0AFD75454E}">
      <dgm:prSet phldrT="[Text]"/>
      <dgm:spPr/>
      <dgm:t>
        <a:bodyPr/>
        <a:lstStyle/>
        <a:p>
          <a:r>
            <a:rPr lang="en-US" dirty="0"/>
            <a:t>Employment length reduces default probability</a:t>
          </a:r>
        </a:p>
      </dgm:t>
    </dgm:pt>
    <dgm:pt modelId="{A3BE7BDE-1A58-FD4F-8700-5527070585EF}" type="parTrans" cxnId="{0A114AA6-F05E-A14E-98E4-E39B6F8C352C}">
      <dgm:prSet/>
      <dgm:spPr/>
      <dgm:t>
        <a:bodyPr/>
        <a:lstStyle/>
        <a:p>
          <a:endParaRPr lang="en-US"/>
        </a:p>
      </dgm:t>
    </dgm:pt>
    <dgm:pt modelId="{E71D733A-2B2B-0A4A-9980-1542B3D35DBB}" type="sibTrans" cxnId="{0A114AA6-F05E-A14E-98E4-E39B6F8C352C}">
      <dgm:prSet/>
      <dgm:spPr/>
      <dgm:t>
        <a:bodyPr/>
        <a:lstStyle/>
        <a:p>
          <a:endParaRPr lang="en-US"/>
        </a:p>
      </dgm:t>
    </dgm:pt>
    <dgm:pt modelId="{E56F7328-843D-DD44-83A4-C5EA34B03B20}">
      <dgm:prSet phldrT="[Text]"/>
      <dgm:spPr/>
      <dgm:t>
        <a:bodyPr/>
        <a:lstStyle/>
        <a:p>
          <a:r>
            <a:rPr lang="en-US" dirty="0"/>
            <a:t>Demographic variables have moderate impact</a:t>
          </a:r>
        </a:p>
      </dgm:t>
    </dgm:pt>
    <dgm:pt modelId="{0AEBE7E5-B86B-5D44-843C-6CCC870D051B}" type="parTrans" cxnId="{835D53A8-3F78-F741-8DA1-BDA5BC368B3C}">
      <dgm:prSet/>
      <dgm:spPr/>
      <dgm:t>
        <a:bodyPr/>
        <a:lstStyle/>
        <a:p>
          <a:endParaRPr lang="en-US"/>
        </a:p>
      </dgm:t>
    </dgm:pt>
    <dgm:pt modelId="{2F251912-C0E7-A242-8FCB-8BD14CEA2A3E}" type="sibTrans" cxnId="{835D53A8-3F78-F741-8DA1-BDA5BC368B3C}">
      <dgm:prSet/>
      <dgm:spPr/>
      <dgm:t>
        <a:bodyPr/>
        <a:lstStyle/>
        <a:p>
          <a:endParaRPr lang="en-US"/>
        </a:p>
      </dgm:t>
    </dgm:pt>
    <dgm:pt modelId="{46DA9BC0-4644-E142-B2DF-806419FCBE93}" type="pres">
      <dgm:prSet presAssocID="{D652D6EF-44E9-B449-9943-4D0A882EBF48}" presName="linear" presStyleCnt="0">
        <dgm:presLayoutVars>
          <dgm:dir/>
          <dgm:animLvl val="lvl"/>
          <dgm:resizeHandles val="exact"/>
        </dgm:presLayoutVars>
      </dgm:prSet>
      <dgm:spPr/>
    </dgm:pt>
    <dgm:pt modelId="{68C32A40-28C6-444F-AA7C-1B6872D42DFF}" type="pres">
      <dgm:prSet presAssocID="{D182B275-BA4A-0040-8E8E-802960D321E9}" presName="parentLin" presStyleCnt="0"/>
      <dgm:spPr/>
    </dgm:pt>
    <dgm:pt modelId="{D5C19191-1DE3-4B4A-8950-DC2CE912AE56}" type="pres">
      <dgm:prSet presAssocID="{D182B275-BA4A-0040-8E8E-802960D321E9}" presName="parentLeftMargin" presStyleLbl="node1" presStyleIdx="0" presStyleCnt="4"/>
      <dgm:spPr/>
    </dgm:pt>
    <dgm:pt modelId="{16DA9A39-AC2A-FF4B-8536-9DD03A70E849}" type="pres">
      <dgm:prSet presAssocID="{D182B275-BA4A-0040-8E8E-802960D321E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369951A-409A-4340-955F-09ADEDBFEE2E}" type="pres">
      <dgm:prSet presAssocID="{D182B275-BA4A-0040-8E8E-802960D321E9}" presName="negativeSpace" presStyleCnt="0"/>
      <dgm:spPr/>
    </dgm:pt>
    <dgm:pt modelId="{448CD37B-70E1-D142-8D55-23E7FB3440C3}" type="pres">
      <dgm:prSet presAssocID="{D182B275-BA4A-0040-8E8E-802960D321E9}" presName="childText" presStyleLbl="conFgAcc1" presStyleIdx="0" presStyleCnt="4">
        <dgm:presLayoutVars>
          <dgm:bulletEnabled val="1"/>
        </dgm:presLayoutVars>
      </dgm:prSet>
      <dgm:spPr/>
    </dgm:pt>
    <dgm:pt modelId="{6BDF9779-0A00-D345-AB5C-B770AB376685}" type="pres">
      <dgm:prSet presAssocID="{BECC17EE-67E1-E348-B1E1-2B82632D8F18}" presName="spaceBetweenRectangles" presStyleCnt="0"/>
      <dgm:spPr/>
    </dgm:pt>
    <dgm:pt modelId="{90EFE26D-8527-FE4C-8731-8F0692D96300}" type="pres">
      <dgm:prSet presAssocID="{D03481FE-5702-7044-A028-67204BBF9579}" presName="parentLin" presStyleCnt="0"/>
      <dgm:spPr/>
    </dgm:pt>
    <dgm:pt modelId="{6DB171E5-73B2-6B4D-9E44-E514469E3BD6}" type="pres">
      <dgm:prSet presAssocID="{D03481FE-5702-7044-A028-67204BBF9579}" presName="parentLeftMargin" presStyleLbl="node1" presStyleIdx="0" presStyleCnt="4"/>
      <dgm:spPr/>
    </dgm:pt>
    <dgm:pt modelId="{DA408155-97BA-A044-9101-2FB7BBB64118}" type="pres">
      <dgm:prSet presAssocID="{D03481FE-5702-7044-A028-67204BBF957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F81499C-4FA0-CB40-ABC5-BADC616DFFC4}" type="pres">
      <dgm:prSet presAssocID="{D03481FE-5702-7044-A028-67204BBF9579}" presName="negativeSpace" presStyleCnt="0"/>
      <dgm:spPr/>
    </dgm:pt>
    <dgm:pt modelId="{F64D780A-DED8-DB4E-B0AD-CB53F9F3A939}" type="pres">
      <dgm:prSet presAssocID="{D03481FE-5702-7044-A028-67204BBF9579}" presName="childText" presStyleLbl="conFgAcc1" presStyleIdx="1" presStyleCnt="4">
        <dgm:presLayoutVars>
          <dgm:bulletEnabled val="1"/>
        </dgm:presLayoutVars>
      </dgm:prSet>
      <dgm:spPr/>
    </dgm:pt>
    <dgm:pt modelId="{080EBCAF-9814-CB45-85D1-6DF487412D0C}" type="pres">
      <dgm:prSet presAssocID="{AD9EB6F7-C57D-2A43-BBB0-5030899AAC6A}" presName="spaceBetweenRectangles" presStyleCnt="0"/>
      <dgm:spPr/>
    </dgm:pt>
    <dgm:pt modelId="{F6307117-7CF2-9B48-9E8C-657CF2FDDA3F}" type="pres">
      <dgm:prSet presAssocID="{F1DEC219-E985-A444-863E-DF0AFD75454E}" presName="parentLin" presStyleCnt="0"/>
      <dgm:spPr/>
    </dgm:pt>
    <dgm:pt modelId="{01A3A940-E662-B246-9513-C59AE4DF0819}" type="pres">
      <dgm:prSet presAssocID="{F1DEC219-E985-A444-863E-DF0AFD75454E}" presName="parentLeftMargin" presStyleLbl="node1" presStyleIdx="1" presStyleCnt="4"/>
      <dgm:spPr/>
    </dgm:pt>
    <dgm:pt modelId="{48F2A3C3-D9A5-914C-90E0-846EA89A92B2}" type="pres">
      <dgm:prSet presAssocID="{F1DEC219-E985-A444-863E-DF0AFD75454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98C3968-4A82-0A4E-833A-E2B319C66B90}" type="pres">
      <dgm:prSet presAssocID="{F1DEC219-E985-A444-863E-DF0AFD75454E}" presName="negativeSpace" presStyleCnt="0"/>
      <dgm:spPr/>
    </dgm:pt>
    <dgm:pt modelId="{EB994727-3293-B449-B7D6-C38FFCF10FCA}" type="pres">
      <dgm:prSet presAssocID="{F1DEC219-E985-A444-863E-DF0AFD75454E}" presName="childText" presStyleLbl="conFgAcc1" presStyleIdx="2" presStyleCnt="4">
        <dgm:presLayoutVars>
          <dgm:bulletEnabled val="1"/>
        </dgm:presLayoutVars>
      </dgm:prSet>
      <dgm:spPr/>
    </dgm:pt>
    <dgm:pt modelId="{1C0FE1F4-0C71-9E4F-A371-ECCC18F33821}" type="pres">
      <dgm:prSet presAssocID="{E71D733A-2B2B-0A4A-9980-1542B3D35DBB}" presName="spaceBetweenRectangles" presStyleCnt="0"/>
      <dgm:spPr/>
    </dgm:pt>
    <dgm:pt modelId="{9F6F817F-174C-7248-B572-B59166424D41}" type="pres">
      <dgm:prSet presAssocID="{E56F7328-843D-DD44-83A4-C5EA34B03B20}" presName="parentLin" presStyleCnt="0"/>
      <dgm:spPr/>
    </dgm:pt>
    <dgm:pt modelId="{31F47CD4-1008-CF4F-9099-DAB446B0EF3B}" type="pres">
      <dgm:prSet presAssocID="{E56F7328-843D-DD44-83A4-C5EA34B03B20}" presName="parentLeftMargin" presStyleLbl="node1" presStyleIdx="2" presStyleCnt="4"/>
      <dgm:spPr/>
    </dgm:pt>
    <dgm:pt modelId="{83EE6E7B-FA7E-E94B-9E23-4DE959DE20A4}" type="pres">
      <dgm:prSet presAssocID="{E56F7328-843D-DD44-83A4-C5EA34B03B20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BEC0EB8E-EB03-DA41-A9C6-8227FB58F5FD}" type="pres">
      <dgm:prSet presAssocID="{E56F7328-843D-DD44-83A4-C5EA34B03B20}" presName="negativeSpace" presStyleCnt="0"/>
      <dgm:spPr/>
    </dgm:pt>
    <dgm:pt modelId="{DF00FB75-E26C-6440-90F9-CF1281BC028B}" type="pres">
      <dgm:prSet presAssocID="{E56F7328-843D-DD44-83A4-C5EA34B03B20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D9A1D610-EB5C-784F-9550-976EC4A1A1F2}" type="presOf" srcId="{D182B275-BA4A-0040-8E8E-802960D321E9}" destId="{16DA9A39-AC2A-FF4B-8536-9DD03A70E849}" srcOrd="1" destOrd="0" presId="urn:microsoft.com/office/officeart/2005/8/layout/list1"/>
    <dgm:cxn modelId="{BB837F23-EEA1-4F43-8572-77FDF4CAE3BD}" type="presOf" srcId="{D03481FE-5702-7044-A028-67204BBF9579}" destId="{6DB171E5-73B2-6B4D-9E44-E514469E3BD6}" srcOrd="0" destOrd="0" presId="urn:microsoft.com/office/officeart/2005/8/layout/list1"/>
    <dgm:cxn modelId="{F471053C-D1FE-864D-98BB-76BBA6C7D2DF}" srcId="{D652D6EF-44E9-B449-9943-4D0A882EBF48}" destId="{D03481FE-5702-7044-A028-67204BBF9579}" srcOrd="1" destOrd="0" parTransId="{F393CA76-3764-AA45-B6CC-DBD589F76292}" sibTransId="{AD9EB6F7-C57D-2A43-BBB0-5030899AAC6A}"/>
    <dgm:cxn modelId="{9094F472-66DE-7F40-82BA-48D3A1A6E6B5}" type="presOf" srcId="{D652D6EF-44E9-B449-9943-4D0A882EBF48}" destId="{46DA9BC0-4644-E142-B2DF-806419FCBE93}" srcOrd="0" destOrd="0" presId="urn:microsoft.com/office/officeart/2005/8/layout/list1"/>
    <dgm:cxn modelId="{2C1ECB8B-6218-004E-8025-7E7B0B555B55}" type="presOf" srcId="{D03481FE-5702-7044-A028-67204BBF9579}" destId="{DA408155-97BA-A044-9101-2FB7BBB64118}" srcOrd="1" destOrd="0" presId="urn:microsoft.com/office/officeart/2005/8/layout/list1"/>
    <dgm:cxn modelId="{5A4C659A-6288-294B-AEB4-A1855AFB4B4B}" type="presOf" srcId="{F1DEC219-E985-A444-863E-DF0AFD75454E}" destId="{48F2A3C3-D9A5-914C-90E0-846EA89A92B2}" srcOrd="1" destOrd="0" presId="urn:microsoft.com/office/officeart/2005/8/layout/list1"/>
    <dgm:cxn modelId="{CB4A5C9D-F8CA-3F49-B213-224F57490CE0}" type="presOf" srcId="{F1DEC219-E985-A444-863E-DF0AFD75454E}" destId="{01A3A940-E662-B246-9513-C59AE4DF0819}" srcOrd="0" destOrd="0" presId="urn:microsoft.com/office/officeart/2005/8/layout/list1"/>
    <dgm:cxn modelId="{0A114AA6-F05E-A14E-98E4-E39B6F8C352C}" srcId="{D652D6EF-44E9-B449-9943-4D0A882EBF48}" destId="{F1DEC219-E985-A444-863E-DF0AFD75454E}" srcOrd="2" destOrd="0" parTransId="{A3BE7BDE-1A58-FD4F-8700-5527070585EF}" sibTransId="{E71D733A-2B2B-0A4A-9980-1542B3D35DBB}"/>
    <dgm:cxn modelId="{835D53A8-3F78-F741-8DA1-BDA5BC368B3C}" srcId="{D652D6EF-44E9-B449-9943-4D0A882EBF48}" destId="{E56F7328-843D-DD44-83A4-C5EA34B03B20}" srcOrd="3" destOrd="0" parTransId="{0AEBE7E5-B86B-5D44-843C-6CCC870D051B}" sibTransId="{2F251912-C0E7-A242-8FCB-8BD14CEA2A3E}"/>
    <dgm:cxn modelId="{224CE6CA-137E-494C-BBE1-17B51F3334D8}" type="presOf" srcId="{E56F7328-843D-DD44-83A4-C5EA34B03B20}" destId="{31F47CD4-1008-CF4F-9099-DAB446B0EF3B}" srcOrd="0" destOrd="0" presId="urn:microsoft.com/office/officeart/2005/8/layout/list1"/>
    <dgm:cxn modelId="{22A2A9D3-57E8-DD47-B22C-44B5685B5BB5}" type="presOf" srcId="{E56F7328-843D-DD44-83A4-C5EA34B03B20}" destId="{83EE6E7B-FA7E-E94B-9E23-4DE959DE20A4}" srcOrd="1" destOrd="0" presId="urn:microsoft.com/office/officeart/2005/8/layout/list1"/>
    <dgm:cxn modelId="{047C60ED-32CA-7D4E-A778-49EE0792FC19}" srcId="{D652D6EF-44E9-B449-9943-4D0A882EBF48}" destId="{D182B275-BA4A-0040-8E8E-802960D321E9}" srcOrd="0" destOrd="0" parTransId="{186FD90C-EFD5-B248-AB40-99485D8035AB}" sibTransId="{BECC17EE-67E1-E348-B1E1-2B82632D8F18}"/>
    <dgm:cxn modelId="{B18A24FF-91DF-D844-8C40-FF4DF81D58AD}" type="presOf" srcId="{D182B275-BA4A-0040-8E8E-802960D321E9}" destId="{D5C19191-1DE3-4B4A-8950-DC2CE912AE56}" srcOrd="0" destOrd="0" presId="urn:microsoft.com/office/officeart/2005/8/layout/list1"/>
    <dgm:cxn modelId="{79290727-1633-1B4C-AD3E-38412A2F96A2}" type="presParOf" srcId="{46DA9BC0-4644-E142-B2DF-806419FCBE93}" destId="{68C32A40-28C6-444F-AA7C-1B6872D42DFF}" srcOrd="0" destOrd="0" presId="urn:microsoft.com/office/officeart/2005/8/layout/list1"/>
    <dgm:cxn modelId="{1F486AC5-1F83-774D-9BC9-EC5EA7F3AAC7}" type="presParOf" srcId="{68C32A40-28C6-444F-AA7C-1B6872D42DFF}" destId="{D5C19191-1DE3-4B4A-8950-DC2CE912AE56}" srcOrd="0" destOrd="0" presId="urn:microsoft.com/office/officeart/2005/8/layout/list1"/>
    <dgm:cxn modelId="{E6CB76EB-9CCE-064E-B496-596C24DFA018}" type="presParOf" srcId="{68C32A40-28C6-444F-AA7C-1B6872D42DFF}" destId="{16DA9A39-AC2A-FF4B-8536-9DD03A70E849}" srcOrd="1" destOrd="0" presId="urn:microsoft.com/office/officeart/2005/8/layout/list1"/>
    <dgm:cxn modelId="{B9A41779-B2C0-3845-867A-7D8A0F874F05}" type="presParOf" srcId="{46DA9BC0-4644-E142-B2DF-806419FCBE93}" destId="{C369951A-409A-4340-955F-09ADEDBFEE2E}" srcOrd="1" destOrd="0" presId="urn:microsoft.com/office/officeart/2005/8/layout/list1"/>
    <dgm:cxn modelId="{85936A77-B248-2542-9D68-B061DABBE2EA}" type="presParOf" srcId="{46DA9BC0-4644-E142-B2DF-806419FCBE93}" destId="{448CD37B-70E1-D142-8D55-23E7FB3440C3}" srcOrd="2" destOrd="0" presId="urn:microsoft.com/office/officeart/2005/8/layout/list1"/>
    <dgm:cxn modelId="{FD4BF78B-6082-004A-ABEE-FC9528B526AC}" type="presParOf" srcId="{46DA9BC0-4644-E142-B2DF-806419FCBE93}" destId="{6BDF9779-0A00-D345-AB5C-B770AB376685}" srcOrd="3" destOrd="0" presId="urn:microsoft.com/office/officeart/2005/8/layout/list1"/>
    <dgm:cxn modelId="{D810F06E-79A0-0E46-AC99-E7C25AC1833A}" type="presParOf" srcId="{46DA9BC0-4644-E142-B2DF-806419FCBE93}" destId="{90EFE26D-8527-FE4C-8731-8F0692D96300}" srcOrd="4" destOrd="0" presId="urn:microsoft.com/office/officeart/2005/8/layout/list1"/>
    <dgm:cxn modelId="{165EBD68-44DB-8042-A262-3D1C279F8015}" type="presParOf" srcId="{90EFE26D-8527-FE4C-8731-8F0692D96300}" destId="{6DB171E5-73B2-6B4D-9E44-E514469E3BD6}" srcOrd="0" destOrd="0" presId="urn:microsoft.com/office/officeart/2005/8/layout/list1"/>
    <dgm:cxn modelId="{592438DD-0EF9-5B4A-81D2-5C05101FE1E6}" type="presParOf" srcId="{90EFE26D-8527-FE4C-8731-8F0692D96300}" destId="{DA408155-97BA-A044-9101-2FB7BBB64118}" srcOrd="1" destOrd="0" presId="urn:microsoft.com/office/officeart/2005/8/layout/list1"/>
    <dgm:cxn modelId="{E7731595-AA57-0440-A632-1440B60C7939}" type="presParOf" srcId="{46DA9BC0-4644-E142-B2DF-806419FCBE93}" destId="{2F81499C-4FA0-CB40-ABC5-BADC616DFFC4}" srcOrd="5" destOrd="0" presId="urn:microsoft.com/office/officeart/2005/8/layout/list1"/>
    <dgm:cxn modelId="{318DE4A7-ED02-C44C-953C-342A2D665C54}" type="presParOf" srcId="{46DA9BC0-4644-E142-B2DF-806419FCBE93}" destId="{F64D780A-DED8-DB4E-B0AD-CB53F9F3A939}" srcOrd="6" destOrd="0" presId="urn:microsoft.com/office/officeart/2005/8/layout/list1"/>
    <dgm:cxn modelId="{AA748B85-3F1A-0644-A14D-74E0C38087D3}" type="presParOf" srcId="{46DA9BC0-4644-E142-B2DF-806419FCBE93}" destId="{080EBCAF-9814-CB45-85D1-6DF487412D0C}" srcOrd="7" destOrd="0" presId="urn:microsoft.com/office/officeart/2005/8/layout/list1"/>
    <dgm:cxn modelId="{E91CF978-365A-314E-AB5F-6572A23177A4}" type="presParOf" srcId="{46DA9BC0-4644-E142-B2DF-806419FCBE93}" destId="{F6307117-7CF2-9B48-9E8C-657CF2FDDA3F}" srcOrd="8" destOrd="0" presId="urn:microsoft.com/office/officeart/2005/8/layout/list1"/>
    <dgm:cxn modelId="{2B4709D6-3296-6645-8B2E-512AE1168727}" type="presParOf" srcId="{F6307117-7CF2-9B48-9E8C-657CF2FDDA3F}" destId="{01A3A940-E662-B246-9513-C59AE4DF0819}" srcOrd="0" destOrd="0" presId="urn:microsoft.com/office/officeart/2005/8/layout/list1"/>
    <dgm:cxn modelId="{6B5A9E08-6D77-BB41-BC25-E425CC2F24AE}" type="presParOf" srcId="{F6307117-7CF2-9B48-9E8C-657CF2FDDA3F}" destId="{48F2A3C3-D9A5-914C-90E0-846EA89A92B2}" srcOrd="1" destOrd="0" presId="urn:microsoft.com/office/officeart/2005/8/layout/list1"/>
    <dgm:cxn modelId="{FBDECDCC-0524-7848-B63E-0B4E1649A418}" type="presParOf" srcId="{46DA9BC0-4644-E142-B2DF-806419FCBE93}" destId="{298C3968-4A82-0A4E-833A-E2B319C66B90}" srcOrd="9" destOrd="0" presId="urn:microsoft.com/office/officeart/2005/8/layout/list1"/>
    <dgm:cxn modelId="{B82E4D84-0932-C043-A697-C08F5D2BD7FC}" type="presParOf" srcId="{46DA9BC0-4644-E142-B2DF-806419FCBE93}" destId="{EB994727-3293-B449-B7D6-C38FFCF10FCA}" srcOrd="10" destOrd="0" presId="urn:microsoft.com/office/officeart/2005/8/layout/list1"/>
    <dgm:cxn modelId="{4367EC00-9262-3945-B480-C87C41FC31E0}" type="presParOf" srcId="{46DA9BC0-4644-E142-B2DF-806419FCBE93}" destId="{1C0FE1F4-0C71-9E4F-A371-ECCC18F33821}" srcOrd="11" destOrd="0" presId="urn:microsoft.com/office/officeart/2005/8/layout/list1"/>
    <dgm:cxn modelId="{9F0B6E54-5EF2-2948-8260-F8B62D32D592}" type="presParOf" srcId="{46DA9BC0-4644-E142-B2DF-806419FCBE93}" destId="{9F6F817F-174C-7248-B572-B59166424D41}" srcOrd="12" destOrd="0" presId="urn:microsoft.com/office/officeart/2005/8/layout/list1"/>
    <dgm:cxn modelId="{734BB485-A415-8E46-9AC6-9E5D91A14ECC}" type="presParOf" srcId="{9F6F817F-174C-7248-B572-B59166424D41}" destId="{31F47CD4-1008-CF4F-9099-DAB446B0EF3B}" srcOrd="0" destOrd="0" presId="urn:microsoft.com/office/officeart/2005/8/layout/list1"/>
    <dgm:cxn modelId="{822BBB61-3A16-2C4B-A1AC-E6755B3ED674}" type="presParOf" srcId="{9F6F817F-174C-7248-B572-B59166424D41}" destId="{83EE6E7B-FA7E-E94B-9E23-4DE959DE20A4}" srcOrd="1" destOrd="0" presId="urn:microsoft.com/office/officeart/2005/8/layout/list1"/>
    <dgm:cxn modelId="{2049B027-E375-AD4F-9547-43C151523461}" type="presParOf" srcId="{46DA9BC0-4644-E142-B2DF-806419FCBE93}" destId="{BEC0EB8E-EB03-DA41-A9C6-8227FB58F5FD}" srcOrd="13" destOrd="0" presId="urn:microsoft.com/office/officeart/2005/8/layout/list1"/>
    <dgm:cxn modelId="{7ABC5B7E-D6FF-E34F-90E3-2CB42DC01988}" type="presParOf" srcId="{46DA9BC0-4644-E142-B2DF-806419FCBE93}" destId="{DF00FB75-E26C-6440-90F9-CF1281BC028B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88E1639-B7A9-4021-B5ED-7E1FC58ECEAC}" type="doc">
      <dgm:prSet loTypeId="urn:microsoft.com/office/officeart/2005/8/layout/lProcess3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858B20D-41F9-4AF3-8C71-292E56E48A59}">
      <dgm:prSet custT="1"/>
      <dgm:spPr/>
      <dgm:t>
        <a:bodyPr/>
        <a:lstStyle/>
        <a:p>
          <a:r>
            <a:rPr lang="en-US" sz="1800" dirty="0"/>
            <a:t>Zone 2 has the highest default rate for both groups (&gt;25%)</a:t>
          </a:r>
        </a:p>
      </dgm:t>
    </dgm:pt>
    <dgm:pt modelId="{55B83307-E0CC-4BCC-9C2B-1BB7ECEF08F2}" type="parTrans" cxnId="{FC1F40F1-F834-487B-A974-7DA33248B169}">
      <dgm:prSet/>
      <dgm:spPr/>
      <dgm:t>
        <a:bodyPr/>
        <a:lstStyle/>
        <a:p>
          <a:endParaRPr lang="en-US"/>
        </a:p>
      </dgm:t>
    </dgm:pt>
    <dgm:pt modelId="{A7F6828C-97F6-47B7-8C16-4BB0DC718FAF}" type="sibTrans" cxnId="{FC1F40F1-F834-487B-A974-7DA33248B169}">
      <dgm:prSet/>
      <dgm:spPr/>
      <dgm:t>
        <a:bodyPr/>
        <a:lstStyle/>
        <a:p>
          <a:endParaRPr lang="en-US"/>
        </a:p>
      </dgm:t>
    </dgm:pt>
    <dgm:pt modelId="{0B2752A6-F38A-4158-9D75-22A86C899B6C}">
      <dgm:prSet custT="1"/>
      <dgm:spPr/>
      <dgm:t>
        <a:bodyPr/>
        <a:lstStyle/>
        <a:p>
          <a:r>
            <a:rPr lang="en-US" sz="1800" dirty="0"/>
            <a:t>Zone 1: Married clients have </a:t>
          </a:r>
          <a:r>
            <a:rPr lang="en-US" sz="1800" b="1" dirty="0"/>
            <a:t>half the default rate</a:t>
          </a:r>
          <a:r>
            <a:rPr lang="en-US" sz="1800" dirty="0"/>
            <a:t> compared to singles</a:t>
          </a:r>
        </a:p>
      </dgm:t>
    </dgm:pt>
    <dgm:pt modelId="{CD159705-59F6-41B7-AB8C-5E06D12D97B6}" type="parTrans" cxnId="{2D913D28-3698-4B85-8F4C-1FC61E090962}">
      <dgm:prSet/>
      <dgm:spPr/>
      <dgm:t>
        <a:bodyPr/>
        <a:lstStyle/>
        <a:p>
          <a:endParaRPr lang="en-US"/>
        </a:p>
      </dgm:t>
    </dgm:pt>
    <dgm:pt modelId="{76E7E2DC-4C0D-4DF0-B385-6E2D9677FE01}" type="sibTrans" cxnId="{2D913D28-3698-4B85-8F4C-1FC61E090962}">
      <dgm:prSet/>
      <dgm:spPr/>
      <dgm:t>
        <a:bodyPr/>
        <a:lstStyle/>
        <a:p>
          <a:endParaRPr lang="en-US"/>
        </a:p>
      </dgm:t>
    </dgm:pt>
    <dgm:pt modelId="{F5B2E3D9-7E7E-419D-BDB8-F06942CDD65A}">
      <dgm:prSet custT="1"/>
      <dgm:spPr/>
      <dgm:t>
        <a:bodyPr/>
        <a:lstStyle/>
        <a:p>
          <a:r>
            <a:rPr lang="en-US" sz="1800" dirty="0"/>
            <a:t>Overall: Married clients tend to default </a:t>
          </a:r>
          <a:r>
            <a:rPr lang="en-US" sz="1800" b="1" dirty="0"/>
            <a:t>less</a:t>
          </a:r>
          <a:r>
            <a:rPr lang="en-US" sz="1800" dirty="0"/>
            <a:t>, but this varies by zone</a:t>
          </a:r>
        </a:p>
      </dgm:t>
    </dgm:pt>
    <dgm:pt modelId="{EB229809-F04C-4AFD-B0B4-370089450A25}" type="parTrans" cxnId="{BE571445-D35A-4E7D-BB52-4A486C6D969C}">
      <dgm:prSet/>
      <dgm:spPr/>
      <dgm:t>
        <a:bodyPr/>
        <a:lstStyle/>
        <a:p>
          <a:endParaRPr lang="en-US"/>
        </a:p>
      </dgm:t>
    </dgm:pt>
    <dgm:pt modelId="{1E95C2D9-2F06-4028-BE63-B4038169C8FA}" type="sibTrans" cxnId="{BE571445-D35A-4E7D-BB52-4A486C6D969C}">
      <dgm:prSet/>
      <dgm:spPr/>
      <dgm:t>
        <a:bodyPr/>
        <a:lstStyle/>
        <a:p>
          <a:endParaRPr lang="en-US"/>
        </a:p>
      </dgm:t>
    </dgm:pt>
    <dgm:pt modelId="{D805C254-E7DC-0E4C-BA0F-FB02E3C5C780}" type="pres">
      <dgm:prSet presAssocID="{188E1639-B7A9-4021-B5ED-7E1FC58ECEAC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93830EA3-3AB3-754F-B641-A1812D3C642B}" type="pres">
      <dgm:prSet presAssocID="{3858B20D-41F9-4AF3-8C71-292E56E48A59}" presName="horFlow" presStyleCnt="0"/>
      <dgm:spPr/>
    </dgm:pt>
    <dgm:pt modelId="{578D44F4-A185-2542-A2B7-366D06AF2F32}" type="pres">
      <dgm:prSet presAssocID="{3858B20D-41F9-4AF3-8C71-292E56E48A59}" presName="bigChev" presStyleLbl="node1" presStyleIdx="0" presStyleCnt="3" custScaleX="175086" custLinFactNeighborX="-383" custLinFactNeighborY="-6481"/>
      <dgm:spPr/>
    </dgm:pt>
    <dgm:pt modelId="{4C3E23B3-530E-0A45-9207-4E08070C8427}" type="pres">
      <dgm:prSet presAssocID="{3858B20D-41F9-4AF3-8C71-292E56E48A59}" presName="vSp" presStyleCnt="0"/>
      <dgm:spPr/>
    </dgm:pt>
    <dgm:pt modelId="{93147E79-6D1E-AF4F-9AD1-81FEA526283C}" type="pres">
      <dgm:prSet presAssocID="{0B2752A6-F38A-4158-9D75-22A86C899B6C}" presName="horFlow" presStyleCnt="0"/>
      <dgm:spPr/>
    </dgm:pt>
    <dgm:pt modelId="{633E3126-FB6E-3C4A-87E3-4AAE1DD0041E}" type="pres">
      <dgm:prSet presAssocID="{0B2752A6-F38A-4158-9D75-22A86C899B6C}" presName="bigChev" presStyleLbl="node1" presStyleIdx="1" presStyleCnt="3" custScaleX="175086"/>
      <dgm:spPr/>
    </dgm:pt>
    <dgm:pt modelId="{B6723EEF-6D3A-FF4F-831A-C75B24CD85E7}" type="pres">
      <dgm:prSet presAssocID="{0B2752A6-F38A-4158-9D75-22A86C899B6C}" presName="vSp" presStyleCnt="0"/>
      <dgm:spPr/>
    </dgm:pt>
    <dgm:pt modelId="{E0B901C3-99BA-7B47-AF61-7B64119780CD}" type="pres">
      <dgm:prSet presAssocID="{F5B2E3D9-7E7E-419D-BDB8-F06942CDD65A}" presName="horFlow" presStyleCnt="0"/>
      <dgm:spPr/>
    </dgm:pt>
    <dgm:pt modelId="{5FE8DEAE-6FE0-5D45-9F6F-C3EE33A950D1}" type="pres">
      <dgm:prSet presAssocID="{F5B2E3D9-7E7E-419D-BDB8-F06942CDD65A}" presName="bigChev" presStyleLbl="node1" presStyleIdx="2" presStyleCnt="3" custScaleX="175086"/>
      <dgm:spPr/>
    </dgm:pt>
  </dgm:ptLst>
  <dgm:cxnLst>
    <dgm:cxn modelId="{2D913D28-3698-4B85-8F4C-1FC61E090962}" srcId="{188E1639-B7A9-4021-B5ED-7E1FC58ECEAC}" destId="{0B2752A6-F38A-4158-9D75-22A86C899B6C}" srcOrd="1" destOrd="0" parTransId="{CD159705-59F6-41B7-AB8C-5E06D12D97B6}" sibTransId="{76E7E2DC-4C0D-4DF0-B385-6E2D9677FE01}"/>
    <dgm:cxn modelId="{BE571445-D35A-4E7D-BB52-4A486C6D969C}" srcId="{188E1639-B7A9-4021-B5ED-7E1FC58ECEAC}" destId="{F5B2E3D9-7E7E-419D-BDB8-F06942CDD65A}" srcOrd="2" destOrd="0" parTransId="{EB229809-F04C-4AFD-B0B4-370089450A25}" sibTransId="{1E95C2D9-2F06-4028-BE63-B4038169C8FA}"/>
    <dgm:cxn modelId="{960B72A5-7AB4-B041-9CD3-DD42298D3609}" type="presOf" srcId="{F5B2E3D9-7E7E-419D-BDB8-F06942CDD65A}" destId="{5FE8DEAE-6FE0-5D45-9F6F-C3EE33A950D1}" srcOrd="0" destOrd="0" presId="urn:microsoft.com/office/officeart/2005/8/layout/lProcess3"/>
    <dgm:cxn modelId="{E5E24BAF-0326-1442-88A2-150DEC79A3BA}" type="presOf" srcId="{188E1639-B7A9-4021-B5ED-7E1FC58ECEAC}" destId="{D805C254-E7DC-0E4C-BA0F-FB02E3C5C780}" srcOrd="0" destOrd="0" presId="urn:microsoft.com/office/officeart/2005/8/layout/lProcess3"/>
    <dgm:cxn modelId="{82831FB8-8C5E-AE4A-9A50-1E1FB5E5BF2C}" type="presOf" srcId="{0B2752A6-F38A-4158-9D75-22A86C899B6C}" destId="{633E3126-FB6E-3C4A-87E3-4AAE1DD0041E}" srcOrd="0" destOrd="0" presId="urn:microsoft.com/office/officeart/2005/8/layout/lProcess3"/>
    <dgm:cxn modelId="{1912FAD4-AEB2-3D4D-9E3D-DD1BF2A55971}" type="presOf" srcId="{3858B20D-41F9-4AF3-8C71-292E56E48A59}" destId="{578D44F4-A185-2542-A2B7-366D06AF2F32}" srcOrd="0" destOrd="0" presId="urn:microsoft.com/office/officeart/2005/8/layout/lProcess3"/>
    <dgm:cxn modelId="{FC1F40F1-F834-487B-A974-7DA33248B169}" srcId="{188E1639-B7A9-4021-B5ED-7E1FC58ECEAC}" destId="{3858B20D-41F9-4AF3-8C71-292E56E48A59}" srcOrd="0" destOrd="0" parTransId="{55B83307-E0CC-4BCC-9C2B-1BB7ECEF08F2}" sibTransId="{A7F6828C-97F6-47B7-8C16-4BB0DC718FAF}"/>
    <dgm:cxn modelId="{AAAC2EC5-6882-B04E-BAAB-5ABD98D97D62}" type="presParOf" srcId="{D805C254-E7DC-0E4C-BA0F-FB02E3C5C780}" destId="{93830EA3-3AB3-754F-B641-A1812D3C642B}" srcOrd="0" destOrd="0" presId="urn:microsoft.com/office/officeart/2005/8/layout/lProcess3"/>
    <dgm:cxn modelId="{AEBE7E51-8603-EC47-91F2-E15E570CB2BD}" type="presParOf" srcId="{93830EA3-3AB3-754F-B641-A1812D3C642B}" destId="{578D44F4-A185-2542-A2B7-366D06AF2F32}" srcOrd="0" destOrd="0" presId="urn:microsoft.com/office/officeart/2005/8/layout/lProcess3"/>
    <dgm:cxn modelId="{9C0B4938-CB5C-C542-AFD9-1B375133DB96}" type="presParOf" srcId="{D805C254-E7DC-0E4C-BA0F-FB02E3C5C780}" destId="{4C3E23B3-530E-0A45-9207-4E08070C8427}" srcOrd="1" destOrd="0" presId="urn:microsoft.com/office/officeart/2005/8/layout/lProcess3"/>
    <dgm:cxn modelId="{879E4CD8-41CE-3E47-9B52-FD86082E8D75}" type="presParOf" srcId="{D805C254-E7DC-0E4C-BA0F-FB02E3C5C780}" destId="{93147E79-6D1E-AF4F-9AD1-81FEA526283C}" srcOrd="2" destOrd="0" presId="urn:microsoft.com/office/officeart/2005/8/layout/lProcess3"/>
    <dgm:cxn modelId="{DC084A03-434B-4146-8F0C-073E24732568}" type="presParOf" srcId="{93147E79-6D1E-AF4F-9AD1-81FEA526283C}" destId="{633E3126-FB6E-3C4A-87E3-4AAE1DD0041E}" srcOrd="0" destOrd="0" presId="urn:microsoft.com/office/officeart/2005/8/layout/lProcess3"/>
    <dgm:cxn modelId="{5C7A0EE9-A89D-0E46-96E0-412109D6DBCA}" type="presParOf" srcId="{D805C254-E7DC-0E4C-BA0F-FB02E3C5C780}" destId="{B6723EEF-6D3A-FF4F-831A-C75B24CD85E7}" srcOrd="3" destOrd="0" presId="urn:microsoft.com/office/officeart/2005/8/layout/lProcess3"/>
    <dgm:cxn modelId="{F81551F1-FA6F-2541-B1E4-2409E51C2881}" type="presParOf" srcId="{D805C254-E7DC-0E4C-BA0F-FB02E3C5C780}" destId="{E0B901C3-99BA-7B47-AF61-7B64119780CD}" srcOrd="4" destOrd="0" presId="urn:microsoft.com/office/officeart/2005/8/layout/lProcess3"/>
    <dgm:cxn modelId="{FBE56563-8FC4-CD42-829C-4E905E8813E5}" type="presParOf" srcId="{E0B901C3-99BA-7B47-AF61-7B64119780CD}" destId="{5FE8DEAE-6FE0-5D45-9F6F-C3EE33A950D1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CCE9C60-209D-D044-A0C6-9E373C028545}" type="doc">
      <dgm:prSet loTypeId="urn:microsoft.com/office/officeart/2005/8/layout/lProcess3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89AD5B63-6502-6D46-A2FF-D53D6DB427B8}">
      <dgm:prSet custT="1"/>
      <dgm:spPr/>
      <dgm:t>
        <a:bodyPr/>
        <a:lstStyle/>
        <a:p>
          <a:r>
            <a:rPr lang="en-US" sz="1800" dirty="0"/>
            <a:t>Zone 2: With child = 23%, No child = 26% — both very high</a:t>
          </a:r>
          <a:endParaRPr lang="en-UA" sz="1800" dirty="0"/>
        </a:p>
      </dgm:t>
    </dgm:pt>
    <dgm:pt modelId="{BE255BFA-0F4E-9045-91ED-EAB700D1CAEF}" type="parTrans" cxnId="{A76B477F-1BC4-B147-9C55-76FEBB2782AE}">
      <dgm:prSet/>
      <dgm:spPr/>
      <dgm:t>
        <a:bodyPr/>
        <a:lstStyle/>
        <a:p>
          <a:endParaRPr lang="en-US"/>
        </a:p>
      </dgm:t>
    </dgm:pt>
    <dgm:pt modelId="{9E50D016-DC51-9448-B2FC-1653D8E0BE56}" type="sibTrans" cxnId="{A76B477F-1BC4-B147-9C55-76FEBB2782AE}">
      <dgm:prSet/>
      <dgm:spPr/>
      <dgm:t>
        <a:bodyPr/>
        <a:lstStyle/>
        <a:p>
          <a:endParaRPr lang="en-US"/>
        </a:p>
      </dgm:t>
    </dgm:pt>
    <dgm:pt modelId="{0E58C01F-78C8-8D46-8E53-0AE64A6A9ED9}">
      <dgm:prSet custT="1"/>
      <dgm:spPr/>
      <dgm:t>
        <a:bodyPr/>
        <a:lstStyle/>
        <a:p>
          <a:r>
            <a:rPr lang="en-US" sz="1800" dirty="0"/>
            <a:t>In most zones, default rate is </a:t>
          </a:r>
          <a:r>
            <a:rPr lang="en-US" sz="1800" b="1" dirty="0"/>
            <a:t>higher for clients with children</a:t>
          </a:r>
          <a:endParaRPr lang="en-UA" sz="1800" dirty="0"/>
        </a:p>
      </dgm:t>
    </dgm:pt>
    <dgm:pt modelId="{85867D41-4027-C94B-8AA4-C68E36D21644}" type="parTrans" cxnId="{855D56FE-67DB-AB41-B324-BD2FBF14231E}">
      <dgm:prSet/>
      <dgm:spPr/>
      <dgm:t>
        <a:bodyPr/>
        <a:lstStyle/>
        <a:p>
          <a:endParaRPr lang="en-US"/>
        </a:p>
      </dgm:t>
    </dgm:pt>
    <dgm:pt modelId="{E579E663-8132-5C40-A577-499B4CDD4AB6}" type="sibTrans" cxnId="{855D56FE-67DB-AB41-B324-BD2FBF14231E}">
      <dgm:prSet/>
      <dgm:spPr/>
      <dgm:t>
        <a:bodyPr/>
        <a:lstStyle/>
        <a:p>
          <a:endParaRPr lang="en-US"/>
        </a:p>
      </dgm:t>
    </dgm:pt>
    <dgm:pt modelId="{E3FABD83-FB8C-C84B-BD06-48603B725D95}">
      <dgm:prSet custT="1"/>
      <dgm:spPr/>
      <dgm:t>
        <a:bodyPr/>
        <a:lstStyle/>
        <a:p>
          <a:r>
            <a:rPr lang="en-US" sz="1800" dirty="0"/>
            <a:t>Some zones (e.g. 9, 10): No-child group shows slightly higher risk</a:t>
          </a:r>
          <a:endParaRPr lang="en-UA" sz="1800" dirty="0"/>
        </a:p>
      </dgm:t>
    </dgm:pt>
    <dgm:pt modelId="{3894D939-03E3-0342-9467-4ADCA76D78B4}" type="parTrans" cxnId="{24A9D385-9CD7-4E42-9238-97012C6CBB25}">
      <dgm:prSet/>
      <dgm:spPr/>
      <dgm:t>
        <a:bodyPr/>
        <a:lstStyle/>
        <a:p>
          <a:endParaRPr lang="en-US"/>
        </a:p>
      </dgm:t>
    </dgm:pt>
    <dgm:pt modelId="{21613E3D-2715-A542-90D3-E5A956D813A0}" type="sibTrans" cxnId="{24A9D385-9CD7-4E42-9238-97012C6CBB25}">
      <dgm:prSet/>
      <dgm:spPr/>
      <dgm:t>
        <a:bodyPr/>
        <a:lstStyle/>
        <a:p>
          <a:endParaRPr lang="en-US"/>
        </a:p>
      </dgm:t>
    </dgm:pt>
    <dgm:pt modelId="{79C63382-4A07-9349-8026-8FC583BA297B}" type="pres">
      <dgm:prSet presAssocID="{9CCE9C60-209D-D044-A0C6-9E373C028545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8C622B2F-E2C7-694B-9521-32A1697DCD9F}" type="pres">
      <dgm:prSet presAssocID="{89AD5B63-6502-6D46-A2FF-D53D6DB427B8}" presName="horFlow" presStyleCnt="0"/>
      <dgm:spPr/>
    </dgm:pt>
    <dgm:pt modelId="{08D3A113-BC4F-FC46-A41D-CDE6F4456CFD}" type="pres">
      <dgm:prSet presAssocID="{89AD5B63-6502-6D46-A2FF-D53D6DB427B8}" presName="bigChev" presStyleLbl="node1" presStyleIdx="0" presStyleCnt="3" custScaleX="160945"/>
      <dgm:spPr/>
    </dgm:pt>
    <dgm:pt modelId="{0D535AA2-BC75-BD49-8685-E3CC6FE9344E}" type="pres">
      <dgm:prSet presAssocID="{89AD5B63-6502-6D46-A2FF-D53D6DB427B8}" presName="vSp" presStyleCnt="0"/>
      <dgm:spPr/>
    </dgm:pt>
    <dgm:pt modelId="{9DD82004-9E7B-1F42-A24B-1E0F7054624F}" type="pres">
      <dgm:prSet presAssocID="{0E58C01F-78C8-8D46-8E53-0AE64A6A9ED9}" presName="horFlow" presStyleCnt="0"/>
      <dgm:spPr/>
    </dgm:pt>
    <dgm:pt modelId="{E3C6D0E6-C3C5-BB4D-8D7E-D9FBF1D429A1}" type="pres">
      <dgm:prSet presAssocID="{0E58C01F-78C8-8D46-8E53-0AE64A6A9ED9}" presName="bigChev" presStyleLbl="node1" presStyleIdx="1" presStyleCnt="3" custScaleX="160945"/>
      <dgm:spPr/>
    </dgm:pt>
    <dgm:pt modelId="{718120FE-B554-E34B-B5E5-D8FA13E91752}" type="pres">
      <dgm:prSet presAssocID="{0E58C01F-78C8-8D46-8E53-0AE64A6A9ED9}" presName="vSp" presStyleCnt="0"/>
      <dgm:spPr/>
    </dgm:pt>
    <dgm:pt modelId="{0539CC58-B6E2-BA4A-989C-4FAB061896E7}" type="pres">
      <dgm:prSet presAssocID="{E3FABD83-FB8C-C84B-BD06-48603B725D95}" presName="horFlow" presStyleCnt="0"/>
      <dgm:spPr/>
    </dgm:pt>
    <dgm:pt modelId="{E03AD6F9-6DA7-CC45-ABFC-F1B38E036B52}" type="pres">
      <dgm:prSet presAssocID="{E3FABD83-FB8C-C84B-BD06-48603B725D95}" presName="bigChev" presStyleLbl="node1" presStyleIdx="2" presStyleCnt="3" custScaleX="160945"/>
      <dgm:spPr/>
    </dgm:pt>
  </dgm:ptLst>
  <dgm:cxnLst>
    <dgm:cxn modelId="{B445B60E-564C-EA4A-A65D-4219F7335B22}" type="presOf" srcId="{0E58C01F-78C8-8D46-8E53-0AE64A6A9ED9}" destId="{E3C6D0E6-C3C5-BB4D-8D7E-D9FBF1D429A1}" srcOrd="0" destOrd="0" presId="urn:microsoft.com/office/officeart/2005/8/layout/lProcess3"/>
    <dgm:cxn modelId="{E8FF5A2F-A933-DE45-9672-1558DB3C327A}" type="presOf" srcId="{E3FABD83-FB8C-C84B-BD06-48603B725D95}" destId="{E03AD6F9-6DA7-CC45-ABFC-F1B38E036B52}" srcOrd="0" destOrd="0" presId="urn:microsoft.com/office/officeart/2005/8/layout/lProcess3"/>
    <dgm:cxn modelId="{A76B477F-1BC4-B147-9C55-76FEBB2782AE}" srcId="{9CCE9C60-209D-D044-A0C6-9E373C028545}" destId="{89AD5B63-6502-6D46-A2FF-D53D6DB427B8}" srcOrd="0" destOrd="0" parTransId="{BE255BFA-0F4E-9045-91ED-EAB700D1CAEF}" sibTransId="{9E50D016-DC51-9448-B2FC-1653D8E0BE56}"/>
    <dgm:cxn modelId="{24A9D385-9CD7-4E42-9238-97012C6CBB25}" srcId="{9CCE9C60-209D-D044-A0C6-9E373C028545}" destId="{E3FABD83-FB8C-C84B-BD06-48603B725D95}" srcOrd="2" destOrd="0" parTransId="{3894D939-03E3-0342-9467-4ADCA76D78B4}" sibTransId="{21613E3D-2715-A542-90D3-E5A956D813A0}"/>
    <dgm:cxn modelId="{1D997B99-0895-E049-9828-08E61EAB8F80}" type="presOf" srcId="{9CCE9C60-209D-D044-A0C6-9E373C028545}" destId="{79C63382-4A07-9349-8026-8FC583BA297B}" srcOrd="0" destOrd="0" presId="urn:microsoft.com/office/officeart/2005/8/layout/lProcess3"/>
    <dgm:cxn modelId="{76F196F9-D790-474F-AD9D-476483D305FE}" type="presOf" srcId="{89AD5B63-6502-6D46-A2FF-D53D6DB427B8}" destId="{08D3A113-BC4F-FC46-A41D-CDE6F4456CFD}" srcOrd="0" destOrd="0" presId="urn:microsoft.com/office/officeart/2005/8/layout/lProcess3"/>
    <dgm:cxn modelId="{855D56FE-67DB-AB41-B324-BD2FBF14231E}" srcId="{9CCE9C60-209D-D044-A0C6-9E373C028545}" destId="{0E58C01F-78C8-8D46-8E53-0AE64A6A9ED9}" srcOrd="1" destOrd="0" parTransId="{85867D41-4027-C94B-8AA4-C68E36D21644}" sibTransId="{E579E663-8132-5C40-A577-499B4CDD4AB6}"/>
    <dgm:cxn modelId="{2398AC82-47BC-E241-B252-8717CD22748F}" type="presParOf" srcId="{79C63382-4A07-9349-8026-8FC583BA297B}" destId="{8C622B2F-E2C7-694B-9521-32A1697DCD9F}" srcOrd="0" destOrd="0" presId="urn:microsoft.com/office/officeart/2005/8/layout/lProcess3"/>
    <dgm:cxn modelId="{47A6E998-46D5-324C-ABCF-FE0E943D2230}" type="presParOf" srcId="{8C622B2F-E2C7-694B-9521-32A1697DCD9F}" destId="{08D3A113-BC4F-FC46-A41D-CDE6F4456CFD}" srcOrd="0" destOrd="0" presId="urn:microsoft.com/office/officeart/2005/8/layout/lProcess3"/>
    <dgm:cxn modelId="{5C6BB6AF-7FC1-E648-93C1-3FF55F3C49C4}" type="presParOf" srcId="{79C63382-4A07-9349-8026-8FC583BA297B}" destId="{0D535AA2-BC75-BD49-8685-E3CC6FE9344E}" srcOrd="1" destOrd="0" presId="urn:microsoft.com/office/officeart/2005/8/layout/lProcess3"/>
    <dgm:cxn modelId="{C8CFB2F8-5C32-EC47-9EBD-8D015403B3D7}" type="presParOf" srcId="{79C63382-4A07-9349-8026-8FC583BA297B}" destId="{9DD82004-9E7B-1F42-A24B-1E0F7054624F}" srcOrd="2" destOrd="0" presId="urn:microsoft.com/office/officeart/2005/8/layout/lProcess3"/>
    <dgm:cxn modelId="{602ECD37-DE40-CB4A-B3B5-52AAC9E844B1}" type="presParOf" srcId="{9DD82004-9E7B-1F42-A24B-1E0F7054624F}" destId="{E3C6D0E6-C3C5-BB4D-8D7E-D9FBF1D429A1}" srcOrd="0" destOrd="0" presId="urn:microsoft.com/office/officeart/2005/8/layout/lProcess3"/>
    <dgm:cxn modelId="{DD59103A-F6CC-A848-BAD8-247F288EA1D0}" type="presParOf" srcId="{79C63382-4A07-9349-8026-8FC583BA297B}" destId="{718120FE-B554-E34B-B5E5-D8FA13E91752}" srcOrd="3" destOrd="0" presId="urn:microsoft.com/office/officeart/2005/8/layout/lProcess3"/>
    <dgm:cxn modelId="{6541BBC6-8E9D-B748-A042-5FA96D5C768F}" type="presParOf" srcId="{79C63382-4A07-9349-8026-8FC583BA297B}" destId="{0539CC58-B6E2-BA4A-989C-4FAB061896E7}" srcOrd="4" destOrd="0" presId="urn:microsoft.com/office/officeart/2005/8/layout/lProcess3"/>
    <dgm:cxn modelId="{40A2ED01-8031-3948-BEED-04F014E8D116}" type="presParOf" srcId="{0539CC58-B6E2-BA4A-989C-4FAB061896E7}" destId="{E03AD6F9-6DA7-CC45-ABFC-F1B38E036B52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DE257ABF-773A-46E1-AAF3-0DED76973C8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21039C2-594A-40C8-A701-2CC22FBC4D63}">
      <dgm:prSet/>
      <dgm:spPr/>
      <dgm:t>
        <a:bodyPr/>
        <a:lstStyle/>
        <a:p>
          <a:r>
            <a:rPr lang="en-US"/>
            <a:t>High sensitivity → effective detection of defaulters</a:t>
          </a:r>
        </a:p>
      </dgm:t>
    </dgm:pt>
    <dgm:pt modelId="{E3947ECC-C5BE-447A-ACCE-ABAAFDA6BB45}" type="parTrans" cxnId="{0751662F-2F3F-4BCD-B1A8-B75CA73AFB7C}">
      <dgm:prSet/>
      <dgm:spPr/>
      <dgm:t>
        <a:bodyPr/>
        <a:lstStyle/>
        <a:p>
          <a:endParaRPr lang="en-US"/>
        </a:p>
      </dgm:t>
    </dgm:pt>
    <dgm:pt modelId="{A01E59C7-FC64-4E45-89F1-3AC96E4CC36B}" type="sibTrans" cxnId="{0751662F-2F3F-4BCD-B1A8-B75CA73AFB7C}">
      <dgm:prSet/>
      <dgm:spPr/>
      <dgm:t>
        <a:bodyPr/>
        <a:lstStyle/>
        <a:p>
          <a:endParaRPr lang="en-US"/>
        </a:p>
      </dgm:t>
    </dgm:pt>
    <dgm:pt modelId="{78A7FC78-74BB-4659-9C06-E9EBE4DF34D3}">
      <dgm:prSet/>
      <dgm:spPr/>
      <dgm:t>
        <a:bodyPr/>
        <a:lstStyle/>
        <a:p>
          <a:r>
            <a:rPr lang="en-US"/>
            <a:t>Moderate specificity → some false positives tolerated</a:t>
          </a:r>
        </a:p>
      </dgm:t>
    </dgm:pt>
    <dgm:pt modelId="{6754186F-4224-44C6-81A4-E30FF2378767}" type="parTrans" cxnId="{1CFB7DA9-9C1A-4797-B04F-4A5495A1288E}">
      <dgm:prSet/>
      <dgm:spPr/>
      <dgm:t>
        <a:bodyPr/>
        <a:lstStyle/>
        <a:p>
          <a:endParaRPr lang="en-US"/>
        </a:p>
      </dgm:t>
    </dgm:pt>
    <dgm:pt modelId="{4F47559E-8B60-4577-9475-3A88AB7673DE}" type="sibTrans" cxnId="{1CFB7DA9-9C1A-4797-B04F-4A5495A1288E}">
      <dgm:prSet/>
      <dgm:spPr/>
      <dgm:t>
        <a:bodyPr/>
        <a:lstStyle/>
        <a:p>
          <a:endParaRPr lang="en-US"/>
        </a:p>
      </dgm:t>
    </dgm:pt>
    <dgm:pt modelId="{0298FC30-FBA9-49A6-A177-75074E29EDB3}">
      <dgm:prSet/>
      <dgm:spPr/>
      <dgm:t>
        <a:bodyPr/>
        <a:lstStyle/>
        <a:p>
          <a:r>
            <a:rPr lang="en-US"/>
            <a:t>Stable results on both datasets → no overfitting</a:t>
          </a:r>
        </a:p>
      </dgm:t>
    </dgm:pt>
    <dgm:pt modelId="{A29A90A4-43F3-4CA9-B607-FA6F6370E38E}" type="parTrans" cxnId="{64A7457B-6DA7-4542-B7EC-3885B28D3027}">
      <dgm:prSet/>
      <dgm:spPr/>
      <dgm:t>
        <a:bodyPr/>
        <a:lstStyle/>
        <a:p>
          <a:endParaRPr lang="en-US"/>
        </a:p>
      </dgm:t>
    </dgm:pt>
    <dgm:pt modelId="{CBB5FD5A-7D4A-4E42-80F5-A17CB71448B8}" type="sibTrans" cxnId="{64A7457B-6DA7-4542-B7EC-3885B28D3027}">
      <dgm:prSet/>
      <dgm:spPr/>
      <dgm:t>
        <a:bodyPr/>
        <a:lstStyle/>
        <a:p>
          <a:endParaRPr lang="en-US"/>
        </a:p>
      </dgm:t>
    </dgm:pt>
    <dgm:pt modelId="{69F81540-90D3-4B84-9DAB-F059335D1553}">
      <dgm:prSet/>
      <dgm:spPr/>
      <dgm:t>
        <a:bodyPr/>
        <a:lstStyle/>
        <a:p>
          <a:r>
            <a:rPr lang="en-US"/>
            <a:t>AUC ≈ 0.75 → reliable risk separation</a:t>
          </a:r>
        </a:p>
      </dgm:t>
    </dgm:pt>
    <dgm:pt modelId="{0EBD53CD-4AD9-442A-A271-9F732511F952}" type="parTrans" cxnId="{0EBF4C23-853B-4999-8D13-4378FCCA0EC3}">
      <dgm:prSet/>
      <dgm:spPr/>
      <dgm:t>
        <a:bodyPr/>
        <a:lstStyle/>
        <a:p>
          <a:endParaRPr lang="en-US"/>
        </a:p>
      </dgm:t>
    </dgm:pt>
    <dgm:pt modelId="{6529E0EB-4F5C-4B3D-9DBA-17897475B6FD}" type="sibTrans" cxnId="{0EBF4C23-853B-4999-8D13-4378FCCA0EC3}">
      <dgm:prSet/>
      <dgm:spPr/>
      <dgm:t>
        <a:bodyPr/>
        <a:lstStyle/>
        <a:p>
          <a:endParaRPr lang="en-US"/>
        </a:p>
      </dgm:t>
    </dgm:pt>
    <dgm:pt modelId="{D96296B5-3BE3-4B81-A658-35D24360FE5C}">
      <dgm:prSet/>
      <dgm:spPr/>
      <dgm:t>
        <a:bodyPr/>
        <a:lstStyle/>
        <a:p>
          <a:r>
            <a:rPr lang="en-US"/>
            <a:t>Logistic regression is interpretable and deployable</a:t>
          </a:r>
        </a:p>
      </dgm:t>
    </dgm:pt>
    <dgm:pt modelId="{6CF6F052-2DFF-40FA-9215-746D79400D87}" type="parTrans" cxnId="{84D47A2B-695D-4FE7-A45C-DF3C8589EDCF}">
      <dgm:prSet/>
      <dgm:spPr/>
      <dgm:t>
        <a:bodyPr/>
        <a:lstStyle/>
        <a:p>
          <a:endParaRPr lang="en-US"/>
        </a:p>
      </dgm:t>
    </dgm:pt>
    <dgm:pt modelId="{84EED2A7-03D4-4EDB-89B1-27EDA97691C5}" type="sibTrans" cxnId="{84D47A2B-695D-4FE7-A45C-DF3C8589EDCF}">
      <dgm:prSet/>
      <dgm:spPr/>
      <dgm:t>
        <a:bodyPr/>
        <a:lstStyle/>
        <a:p>
          <a:endParaRPr lang="en-US"/>
        </a:p>
      </dgm:t>
    </dgm:pt>
    <dgm:pt modelId="{8793B0E1-B627-4B22-9526-2516B79CD54B}">
      <dgm:prSet/>
      <dgm:spPr/>
      <dgm:t>
        <a:bodyPr/>
        <a:lstStyle/>
        <a:p>
          <a:r>
            <a:rPr lang="en-US"/>
            <a:t>Suitable as a baseline model before ML enhancement</a:t>
          </a:r>
        </a:p>
      </dgm:t>
    </dgm:pt>
    <dgm:pt modelId="{0C88CF70-EFB5-4720-8C46-93477EA0F509}" type="parTrans" cxnId="{5878CD45-8034-4DE3-BEF8-5BE67C7E5AB5}">
      <dgm:prSet/>
      <dgm:spPr/>
      <dgm:t>
        <a:bodyPr/>
        <a:lstStyle/>
        <a:p>
          <a:endParaRPr lang="en-US"/>
        </a:p>
      </dgm:t>
    </dgm:pt>
    <dgm:pt modelId="{210BAE72-6D7E-46C0-A2E4-1D03710E43CA}" type="sibTrans" cxnId="{5878CD45-8034-4DE3-BEF8-5BE67C7E5AB5}">
      <dgm:prSet/>
      <dgm:spPr/>
      <dgm:t>
        <a:bodyPr/>
        <a:lstStyle/>
        <a:p>
          <a:endParaRPr lang="en-US"/>
        </a:p>
      </dgm:t>
    </dgm:pt>
    <dgm:pt modelId="{D97E1F29-E889-3A46-A15A-9A6EF2C8A970}" type="pres">
      <dgm:prSet presAssocID="{DE257ABF-773A-46E1-AAF3-0DED76973C8D}" presName="linear" presStyleCnt="0">
        <dgm:presLayoutVars>
          <dgm:animLvl val="lvl"/>
          <dgm:resizeHandles val="exact"/>
        </dgm:presLayoutVars>
      </dgm:prSet>
      <dgm:spPr/>
    </dgm:pt>
    <dgm:pt modelId="{23553641-8070-8C4D-9C7D-05EDCEF4E9A8}" type="pres">
      <dgm:prSet presAssocID="{421039C2-594A-40C8-A701-2CC22FBC4D63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83E39EBD-1E6B-2247-93C1-D72AB676EF5D}" type="pres">
      <dgm:prSet presAssocID="{A01E59C7-FC64-4E45-89F1-3AC96E4CC36B}" presName="spacer" presStyleCnt="0"/>
      <dgm:spPr/>
    </dgm:pt>
    <dgm:pt modelId="{F8D88E2B-F15B-1346-B6DB-FD0038F693F6}" type="pres">
      <dgm:prSet presAssocID="{78A7FC78-74BB-4659-9C06-E9EBE4DF34D3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01E58CBF-02D6-4D46-B5D7-2BFD67B25922}" type="pres">
      <dgm:prSet presAssocID="{4F47559E-8B60-4577-9475-3A88AB7673DE}" presName="spacer" presStyleCnt="0"/>
      <dgm:spPr/>
    </dgm:pt>
    <dgm:pt modelId="{5AF2488F-7DCD-3A49-AFF7-734F6BC80D05}" type="pres">
      <dgm:prSet presAssocID="{0298FC30-FBA9-49A6-A177-75074E29EDB3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A72B65A5-066E-4444-A402-1BF45C042DF3}" type="pres">
      <dgm:prSet presAssocID="{CBB5FD5A-7D4A-4E42-80F5-A17CB71448B8}" presName="spacer" presStyleCnt="0"/>
      <dgm:spPr/>
    </dgm:pt>
    <dgm:pt modelId="{BE331D12-325D-9B40-9582-E02977AFC6FE}" type="pres">
      <dgm:prSet presAssocID="{69F81540-90D3-4B84-9DAB-F059335D1553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F8497AC3-37F6-7147-B6B3-6D0C348BFD20}" type="pres">
      <dgm:prSet presAssocID="{6529E0EB-4F5C-4B3D-9DBA-17897475B6FD}" presName="spacer" presStyleCnt="0"/>
      <dgm:spPr/>
    </dgm:pt>
    <dgm:pt modelId="{D10D38EE-3FF7-0945-B6A4-4690F717FC46}" type="pres">
      <dgm:prSet presAssocID="{D96296B5-3BE3-4B81-A658-35D24360FE5C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53C5E2E8-EE94-5248-8289-F7FFB7B7669E}" type="pres">
      <dgm:prSet presAssocID="{84EED2A7-03D4-4EDB-89B1-27EDA97691C5}" presName="spacer" presStyleCnt="0"/>
      <dgm:spPr/>
    </dgm:pt>
    <dgm:pt modelId="{9BC827B9-B57D-D94D-B870-6ECA44B087D1}" type="pres">
      <dgm:prSet presAssocID="{8793B0E1-B627-4B22-9526-2516B79CD54B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0EBF4C23-853B-4999-8D13-4378FCCA0EC3}" srcId="{DE257ABF-773A-46E1-AAF3-0DED76973C8D}" destId="{69F81540-90D3-4B84-9DAB-F059335D1553}" srcOrd="3" destOrd="0" parTransId="{0EBD53CD-4AD9-442A-A271-9F732511F952}" sibTransId="{6529E0EB-4F5C-4B3D-9DBA-17897475B6FD}"/>
    <dgm:cxn modelId="{84D47A2B-695D-4FE7-A45C-DF3C8589EDCF}" srcId="{DE257ABF-773A-46E1-AAF3-0DED76973C8D}" destId="{D96296B5-3BE3-4B81-A658-35D24360FE5C}" srcOrd="4" destOrd="0" parTransId="{6CF6F052-2DFF-40FA-9215-746D79400D87}" sibTransId="{84EED2A7-03D4-4EDB-89B1-27EDA97691C5}"/>
    <dgm:cxn modelId="{0751662F-2F3F-4BCD-B1A8-B75CA73AFB7C}" srcId="{DE257ABF-773A-46E1-AAF3-0DED76973C8D}" destId="{421039C2-594A-40C8-A701-2CC22FBC4D63}" srcOrd="0" destOrd="0" parTransId="{E3947ECC-C5BE-447A-ACCE-ABAAFDA6BB45}" sibTransId="{A01E59C7-FC64-4E45-89F1-3AC96E4CC36B}"/>
    <dgm:cxn modelId="{5878CD45-8034-4DE3-BEF8-5BE67C7E5AB5}" srcId="{DE257ABF-773A-46E1-AAF3-0DED76973C8D}" destId="{8793B0E1-B627-4B22-9526-2516B79CD54B}" srcOrd="5" destOrd="0" parTransId="{0C88CF70-EFB5-4720-8C46-93477EA0F509}" sibTransId="{210BAE72-6D7E-46C0-A2E4-1D03710E43CA}"/>
    <dgm:cxn modelId="{B31BDC58-E89A-7944-B407-80710D2814F3}" type="presOf" srcId="{8793B0E1-B627-4B22-9526-2516B79CD54B}" destId="{9BC827B9-B57D-D94D-B870-6ECA44B087D1}" srcOrd="0" destOrd="0" presId="urn:microsoft.com/office/officeart/2005/8/layout/vList2"/>
    <dgm:cxn modelId="{64A7457B-6DA7-4542-B7EC-3885B28D3027}" srcId="{DE257ABF-773A-46E1-AAF3-0DED76973C8D}" destId="{0298FC30-FBA9-49A6-A177-75074E29EDB3}" srcOrd="2" destOrd="0" parTransId="{A29A90A4-43F3-4CA9-B607-FA6F6370E38E}" sibTransId="{CBB5FD5A-7D4A-4E42-80F5-A17CB71448B8}"/>
    <dgm:cxn modelId="{A67B7A8F-A61C-D64C-9566-1D5465E548BE}" type="presOf" srcId="{0298FC30-FBA9-49A6-A177-75074E29EDB3}" destId="{5AF2488F-7DCD-3A49-AFF7-734F6BC80D05}" srcOrd="0" destOrd="0" presId="urn:microsoft.com/office/officeart/2005/8/layout/vList2"/>
    <dgm:cxn modelId="{281B809D-3B7A-134A-83BF-75F51A4CB967}" type="presOf" srcId="{DE257ABF-773A-46E1-AAF3-0DED76973C8D}" destId="{D97E1F29-E889-3A46-A15A-9A6EF2C8A970}" srcOrd="0" destOrd="0" presId="urn:microsoft.com/office/officeart/2005/8/layout/vList2"/>
    <dgm:cxn modelId="{AA09AE9F-672C-CD4E-9E5C-3C7A7BC0679D}" type="presOf" srcId="{421039C2-594A-40C8-A701-2CC22FBC4D63}" destId="{23553641-8070-8C4D-9C7D-05EDCEF4E9A8}" srcOrd="0" destOrd="0" presId="urn:microsoft.com/office/officeart/2005/8/layout/vList2"/>
    <dgm:cxn modelId="{022BBFA4-F4D5-A740-98AF-0C9E80343F7B}" type="presOf" srcId="{78A7FC78-74BB-4659-9C06-E9EBE4DF34D3}" destId="{F8D88E2B-F15B-1346-B6DB-FD0038F693F6}" srcOrd="0" destOrd="0" presId="urn:microsoft.com/office/officeart/2005/8/layout/vList2"/>
    <dgm:cxn modelId="{1CFB7DA9-9C1A-4797-B04F-4A5495A1288E}" srcId="{DE257ABF-773A-46E1-AAF3-0DED76973C8D}" destId="{78A7FC78-74BB-4659-9C06-E9EBE4DF34D3}" srcOrd="1" destOrd="0" parTransId="{6754186F-4224-44C6-81A4-E30FF2378767}" sibTransId="{4F47559E-8B60-4577-9475-3A88AB7673DE}"/>
    <dgm:cxn modelId="{C8A62BD6-D7A5-6E4B-ABB6-F4EEB9765D83}" type="presOf" srcId="{69F81540-90D3-4B84-9DAB-F059335D1553}" destId="{BE331D12-325D-9B40-9582-E02977AFC6FE}" srcOrd="0" destOrd="0" presId="urn:microsoft.com/office/officeart/2005/8/layout/vList2"/>
    <dgm:cxn modelId="{C17A39DD-2E99-394D-9F04-58EDBF7B95F9}" type="presOf" srcId="{D96296B5-3BE3-4B81-A658-35D24360FE5C}" destId="{D10D38EE-3FF7-0945-B6A4-4690F717FC46}" srcOrd="0" destOrd="0" presId="urn:microsoft.com/office/officeart/2005/8/layout/vList2"/>
    <dgm:cxn modelId="{A3AA8829-402D-B544-8802-7EF51F67E5ED}" type="presParOf" srcId="{D97E1F29-E889-3A46-A15A-9A6EF2C8A970}" destId="{23553641-8070-8C4D-9C7D-05EDCEF4E9A8}" srcOrd="0" destOrd="0" presId="urn:microsoft.com/office/officeart/2005/8/layout/vList2"/>
    <dgm:cxn modelId="{DCCCA765-940E-8A4C-A131-148926D7DF02}" type="presParOf" srcId="{D97E1F29-E889-3A46-A15A-9A6EF2C8A970}" destId="{83E39EBD-1E6B-2247-93C1-D72AB676EF5D}" srcOrd="1" destOrd="0" presId="urn:microsoft.com/office/officeart/2005/8/layout/vList2"/>
    <dgm:cxn modelId="{9A519EBD-0809-0A4B-B535-4FBB10419016}" type="presParOf" srcId="{D97E1F29-E889-3A46-A15A-9A6EF2C8A970}" destId="{F8D88E2B-F15B-1346-B6DB-FD0038F693F6}" srcOrd="2" destOrd="0" presId="urn:microsoft.com/office/officeart/2005/8/layout/vList2"/>
    <dgm:cxn modelId="{1844CBF5-8970-8E47-B810-9878CB4DD5A2}" type="presParOf" srcId="{D97E1F29-E889-3A46-A15A-9A6EF2C8A970}" destId="{01E58CBF-02D6-4D46-B5D7-2BFD67B25922}" srcOrd="3" destOrd="0" presId="urn:microsoft.com/office/officeart/2005/8/layout/vList2"/>
    <dgm:cxn modelId="{B4258BF7-184A-A845-8B77-69299B85BE48}" type="presParOf" srcId="{D97E1F29-E889-3A46-A15A-9A6EF2C8A970}" destId="{5AF2488F-7DCD-3A49-AFF7-734F6BC80D05}" srcOrd="4" destOrd="0" presId="urn:microsoft.com/office/officeart/2005/8/layout/vList2"/>
    <dgm:cxn modelId="{A0C7D3FD-D420-2A4F-A970-ED8600E334B7}" type="presParOf" srcId="{D97E1F29-E889-3A46-A15A-9A6EF2C8A970}" destId="{A72B65A5-066E-4444-A402-1BF45C042DF3}" srcOrd="5" destOrd="0" presId="urn:microsoft.com/office/officeart/2005/8/layout/vList2"/>
    <dgm:cxn modelId="{E167694C-896D-A840-B289-18C4A3D1F106}" type="presParOf" srcId="{D97E1F29-E889-3A46-A15A-9A6EF2C8A970}" destId="{BE331D12-325D-9B40-9582-E02977AFC6FE}" srcOrd="6" destOrd="0" presId="urn:microsoft.com/office/officeart/2005/8/layout/vList2"/>
    <dgm:cxn modelId="{D83DF3AF-3C65-F24F-829D-37FE06EDD36A}" type="presParOf" srcId="{D97E1F29-E889-3A46-A15A-9A6EF2C8A970}" destId="{F8497AC3-37F6-7147-B6B3-6D0C348BFD20}" srcOrd="7" destOrd="0" presId="urn:microsoft.com/office/officeart/2005/8/layout/vList2"/>
    <dgm:cxn modelId="{1BF842D7-7C9D-934E-B1D9-165BC78695DC}" type="presParOf" srcId="{D97E1F29-E889-3A46-A15A-9A6EF2C8A970}" destId="{D10D38EE-3FF7-0945-B6A4-4690F717FC46}" srcOrd="8" destOrd="0" presId="urn:microsoft.com/office/officeart/2005/8/layout/vList2"/>
    <dgm:cxn modelId="{64961CE6-CE1C-3A47-877B-3FE4BD7D3F60}" type="presParOf" srcId="{D97E1F29-E889-3A46-A15A-9A6EF2C8A970}" destId="{53C5E2E8-EE94-5248-8289-F7FFB7B7669E}" srcOrd="9" destOrd="0" presId="urn:microsoft.com/office/officeart/2005/8/layout/vList2"/>
    <dgm:cxn modelId="{DB2A2E26-8FFB-1B43-B26B-172530B36391}" type="presParOf" srcId="{D97E1F29-E889-3A46-A15A-9A6EF2C8A970}" destId="{9BC827B9-B57D-D94D-B870-6ECA44B087D1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CDD93F86-7623-4336-B75B-8CE458560DC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9D67327-5E2E-4ECE-B2C7-E810CB8B32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Slight improvement in accuracy</a:t>
          </a:r>
        </a:p>
      </dgm:t>
    </dgm:pt>
    <dgm:pt modelId="{38C0E920-D9D2-46AB-B5B4-22B104268599}" type="parTrans" cxnId="{F99D46DD-DBE4-4BCA-AA6A-1DB35A6A98B7}">
      <dgm:prSet/>
      <dgm:spPr/>
      <dgm:t>
        <a:bodyPr/>
        <a:lstStyle/>
        <a:p>
          <a:endParaRPr lang="en-US"/>
        </a:p>
      </dgm:t>
    </dgm:pt>
    <dgm:pt modelId="{0D6CBDDB-5026-48D6-867C-B59CD229A798}" type="sibTrans" cxnId="{F99D46DD-DBE4-4BCA-AA6A-1DB35A6A98B7}">
      <dgm:prSet/>
      <dgm:spPr/>
      <dgm:t>
        <a:bodyPr/>
        <a:lstStyle/>
        <a:p>
          <a:endParaRPr lang="en-US"/>
        </a:p>
      </dgm:t>
    </dgm:pt>
    <dgm:pt modelId="{C5C75AE4-A6FC-4B32-8AC5-7AACC5C24D7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More balanced between sensitivity &amp; specificity</a:t>
          </a:r>
        </a:p>
      </dgm:t>
    </dgm:pt>
    <dgm:pt modelId="{1FCF6F16-80AE-4EB2-88CD-E4FA4DBCCF90}" type="parTrans" cxnId="{FEE47608-8EC7-4D10-8892-987DC93C3F6B}">
      <dgm:prSet/>
      <dgm:spPr/>
      <dgm:t>
        <a:bodyPr/>
        <a:lstStyle/>
        <a:p>
          <a:endParaRPr lang="en-US"/>
        </a:p>
      </dgm:t>
    </dgm:pt>
    <dgm:pt modelId="{4F217909-4FA0-4757-9B15-8C5A55EB14BB}" type="sibTrans" cxnId="{FEE47608-8EC7-4D10-8892-987DC93C3F6B}">
      <dgm:prSet/>
      <dgm:spPr/>
      <dgm:t>
        <a:bodyPr/>
        <a:lstStyle/>
        <a:p>
          <a:endParaRPr lang="en-US"/>
        </a:p>
      </dgm:t>
    </dgm:pt>
    <dgm:pt modelId="{98FFBEA3-6892-40A4-9347-40E5A21DB9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Strong test performance</a:t>
          </a:r>
        </a:p>
      </dgm:t>
    </dgm:pt>
    <dgm:pt modelId="{E21EAEF2-8669-49E1-A84E-D393E5CBB372}" type="parTrans" cxnId="{25E678E2-4F5D-4CAB-86C7-CE5952EB75AA}">
      <dgm:prSet/>
      <dgm:spPr/>
      <dgm:t>
        <a:bodyPr/>
        <a:lstStyle/>
        <a:p>
          <a:endParaRPr lang="en-US"/>
        </a:p>
      </dgm:t>
    </dgm:pt>
    <dgm:pt modelId="{8535798B-C7A6-4649-87E9-20D5AC6A1601}" type="sibTrans" cxnId="{25E678E2-4F5D-4CAB-86C7-CE5952EB75AA}">
      <dgm:prSet/>
      <dgm:spPr/>
      <dgm:t>
        <a:bodyPr/>
        <a:lstStyle/>
        <a:p>
          <a:endParaRPr lang="en-US"/>
        </a:p>
      </dgm:t>
    </dgm:pt>
    <dgm:pt modelId="{86B14D98-C36B-45BD-8033-7636456A4C81}" type="pres">
      <dgm:prSet presAssocID="{CDD93F86-7623-4336-B75B-8CE458560DCF}" presName="root" presStyleCnt="0">
        <dgm:presLayoutVars>
          <dgm:dir/>
          <dgm:resizeHandles val="exact"/>
        </dgm:presLayoutVars>
      </dgm:prSet>
      <dgm:spPr/>
    </dgm:pt>
    <dgm:pt modelId="{98723224-74B0-4D19-8C8A-D2AB68619AD4}" type="pres">
      <dgm:prSet presAssocID="{49D67327-5E2E-4ECE-B2C7-E810CB8B32E3}" presName="compNode" presStyleCnt="0"/>
      <dgm:spPr/>
    </dgm:pt>
    <dgm:pt modelId="{D00C67A6-B000-49FC-A294-73A414422C22}" type="pres">
      <dgm:prSet presAssocID="{49D67327-5E2E-4ECE-B2C7-E810CB8B32E3}" presName="bgRect" presStyleLbl="bgShp" presStyleIdx="0" presStyleCnt="3"/>
      <dgm:spPr/>
    </dgm:pt>
    <dgm:pt modelId="{35ADFF40-A7A0-4869-9A73-D8BDD7B5ECFB}" type="pres">
      <dgm:prSet presAssocID="{49D67327-5E2E-4ECE-B2C7-E810CB8B32E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9F43F280-088E-4683-86D9-20E74370A786}" type="pres">
      <dgm:prSet presAssocID="{49D67327-5E2E-4ECE-B2C7-E810CB8B32E3}" presName="spaceRect" presStyleCnt="0"/>
      <dgm:spPr/>
    </dgm:pt>
    <dgm:pt modelId="{AD537C82-ABDB-4A15-8102-5E6D0AA82B8F}" type="pres">
      <dgm:prSet presAssocID="{49D67327-5E2E-4ECE-B2C7-E810CB8B32E3}" presName="parTx" presStyleLbl="revTx" presStyleIdx="0" presStyleCnt="3">
        <dgm:presLayoutVars>
          <dgm:chMax val="0"/>
          <dgm:chPref val="0"/>
        </dgm:presLayoutVars>
      </dgm:prSet>
      <dgm:spPr/>
    </dgm:pt>
    <dgm:pt modelId="{8A269933-9EBE-4421-9D89-178BC0178C21}" type="pres">
      <dgm:prSet presAssocID="{0D6CBDDB-5026-48D6-867C-B59CD229A798}" presName="sibTrans" presStyleCnt="0"/>
      <dgm:spPr/>
    </dgm:pt>
    <dgm:pt modelId="{B7BB8251-1976-46C1-B21A-D218037B4C1F}" type="pres">
      <dgm:prSet presAssocID="{C5C75AE4-A6FC-4B32-8AC5-7AACC5C24D75}" presName="compNode" presStyleCnt="0"/>
      <dgm:spPr/>
    </dgm:pt>
    <dgm:pt modelId="{02F34992-DDAF-4098-8D96-69D60AB8D7E8}" type="pres">
      <dgm:prSet presAssocID="{C5C75AE4-A6FC-4B32-8AC5-7AACC5C24D75}" presName="bgRect" presStyleLbl="bgShp" presStyleIdx="1" presStyleCnt="3"/>
      <dgm:spPr/>
    </dgm:pt>
    <dgm:pt modelId="{F9E8B787-050C-4F69-A20E-BAD011CC9837}" type="pres">
      <dgm:prSet presAssocID="{C5C75AE4-A6FC-4B32-8AC5-7AACC5C24D7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7C563F11-7127-4CE2-9B1B-356B5B5C0393}" type="pres">
      <dgm:prSet presAssocID="{C5C75AE4-A6FC-4B32-8AC5-7AACC5C24D75}" presName="spaceRect" presStyleCnt="0"/>
      <dgm:spPr/>
    </dgm:pt>
    <dgm:pt modelId="{EBA7A35A-6404-4A85-9E35-5C22C5C74848}" type="pres">
      <dgm:prSet presAssocID="{C5C75AE4-A6FC-4B32-8AC5-7AACC5C24D75}" presName="parTx" presStyleLbl="revTx" presStyleIdx="1" presStyleCnt="3">
        <dgm:presLayoutVars>
          <dgm:chMax val="0"/>
          <dgm:chPref val="0"/>
        </dgm:presLayoutVars>
      </dgm:prSet>
      <dgm:spPr/>
    </dgm:pt>
    <dgm:pt modelId="{A67D56F3-0BA1-4D9A-A1C9-3C0C7EB6BEBF}" type="pres">
      <dgm:prSet presAssocID="{4F217909-4FA0-4757-9B15-8C5A55EB14BB}" presName="sibTrans" presStyleCnt="0"/>
      <dgm:spPr/>
    </dgm:pt>
    <dgm:pt modelId="{FC2C1311-83A5-4D6F-8F62-ED48B1569A23}" type="pres">
      <dgm:prSet presAssocID="{98FFBEA3-6892-40A4-9347-40E5A21DB992}" presName="compNode" presStyleCnt="0"/>
      <dgm:spPr/>
    </dgm:pt>
    <dgm:pt modelId="{C95B9F67-B863-4E42-ADC8-99CE914CED48}" type="pres">
      <dgm:prSet presAssocID="{98FFBEA3-6892-40A4-9347-40E5A21DB992}" presName="bgRect" presStyleLbl="bgShp" presStyleIdx="2" presStyleCnt="3"/>
      <dgm:spPr/>
    </dgm:pt>
    <dgm:pt modelId="{CC4A9061-20AD-47C1-AD06-5D4F3A9B9456}" type="pres">
      <dgm:prSet presAssocID="{98FFBEA3-6892-40A4-9347-40E5A21DB99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48DD3A2-2C43-48ED-8E12-8ADC12D7ED4D}" type="pres">
      <dgm:prSet presAssocID="{98FFBEA3-6892-40A4-9347-40E5A21DB992}" presName="spaceRect" presStyleCnt="0"/>
      <dgm:spPr/>
    </dgm:pt>
    <dgm:pt modelId="{B1DB74F5-A2EE-478A-84C2-9D4FFCDB1750}" type="pres">
      <dgm:prSet presAssocID="{98FFBEA3-6892-40A4-9347-40E5A21DB99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EE47608-8EC7-4D10-8892-987DC93C3F6B}" srcId="{CDD93F86-7623-4336-B75B-8CE458560DCF}" destId="{C5C75AE4-A6FC-4B32-8AC5-7AACC5C24D75}" srcOrd="1" destOrd="0" parTransId="{1FCF6F16-80AE-4EB2-88CD-E4FA4DBCCF90}" sibTransId="{4F217909-4FA0-4757-9B15-8C5A55EB14BB}"/>
    <dgm:cxn modelId="{18CAAE3A-90B5-467C-B030-DA89A1415A4B}" type="presOf" srcId="{98FFBEA3-6892-40A4-9347-40E5A21DB992}" destId="{B1DB74F5-A2EE-478A-84C2-9D4FFCDB1750}" srcOrd="0" destOrd="0" presId="urn:microsoft.com/office/officeart/2018/2/layout/IconVerticalSolidList"/>
    <dgm:cxn modelId="{F0271272-30FE-4848-A583-48CEC836AE36}" type="presOf" srcId="{49D67327-5E2E-4ECE-B2C7-E810CB8B32E3}" destId="{AD537C82-ABDB-4A15-8102-5E6D0AA82B8F}" srcOrd="0" destOrd="0" presId="urn:microsoft.com/office/officeart/2018/2/layout/IconVerticalSolidList"/>
    <dgm:cxn modelId="{53ED0A7E-F9A1-4AF8-8925-F0ABAF2C5F3D}" type="presOf" srcId="{CDD93F86-7623-4336-B75B-8CE458560DCF}" destId="{86B14D98-C36B-45BD-8033-7636456A4C81}" srcOrd="0" destOrd="0" presId="urn:microsoft.com/office/officeart/2018/2/layout/IconVerticalSolidList"/>
    <dgm:cxn modelId="{7B3A548D-BF30-4A20-9FA0-494A266405EF}" type="presOf" srcId="{C5C75AE4-A6FC-4B32-8AC5-7AACC5C24D75}" destId="{EBA7A35A-6404-4A85-9E35-5C22C5C74848}" srcOrd="0" destOrd="0" presId="urn:microsoft.com/office/officeart/2018/2/layout/IconVerticalSolidList"/>
    <dgm:cxn modelId="{F99D46DD-DBE4-4BCA-AA6A-1DB35A6A98B7}" srcId="{CDD93F86-7623-4336-B75B-8CE458560DCF}" destId="{49D67327-5E2E-4ECE-B2C7-E810CB8B32E3}" srcOrd="0" destOrd="0" parTransId="{38C0E920-D9D2-46AB-B5B4-22B104268599}" sibTransId="{0D6CBDDB-5026-48D6-867C-B59CD229A798}"/>
    <dgm:cxn modelId="{25E678E2-4F5D-4CAB-86C7-CE5952EB75AA}" srcId="{CDD93F86-7623-4336-B75B-8CE458560DCF}" destId="{98FFBEA3-6892-40A4-9347-40E5A21DB992}" srcOrd="2" destOrd="0" parTransId="{E21EAEF2-8669-49E1-A84E-D393E5CBB372}" sibTransId="{8535798B-C7A6-4649-87E9-20D5AC6A1601}"/>
    <dgm:cxn modelId="{EFD8B561-E127-422B-BF3F-D160479389F9}" type="presParOf" srcId="{86B14D98-C36B-45BD-8033-7636456A4C81}" destId="{98723224-74B0-4D19-8C8A-D2AB68619AD4}" srcOrd="0" destOrd="0" presId="urn:microsoft.com/office/officeart/2018/2/layout/IconVerticalSolidList"/>
    <dgm:cxn modelId="{EE9A063B-C351-4CE3-8CFA-85A092D0EFCB}" type="presParOf" srcId="{98723224-74B0-4D19-8C8A-D2AB68619AD4}" destId="{D00C67A6-B000-49FC-A294-73A414422C22}" srcOrd="0" destOrd="0" presId="urn:microsoft.com/office/officeart/2018/2/layout/IconVerticalSolidList"/>
    <dgm:cxn modelId="{ABD7607F-7DA4-4017-9E1E-BD7F768A956C}" type="presParOf" srcId="{98723224-74B0-4D19-8C8A-D2AB68619AD4}" destId="{35ADFF40-A7A0-4869-9A73-D8BDD7B5ECFB}" srcOrd="1" destOrd="0" presId="urn:microsoft.com/office/officeart/2018/2/layout/IconVerticalSolidList"/>
    <dgm:cxn modelId="{7BB03683-33B5-442D-8190-6B3FB68300BF}" type="presParOf" srcId="{98723224-74B0-4D19-8C8A-D2AB68619AD4}" destId="{9F43F280-088E-4683-86D9-20E74370A786}" srcOrd="2" destOrd="0" presId="urn:microsoft.com/office/officeart/2018/2/layout/IconVerticalSolidList"/>
    <dgm:cxn modelId="{121FDD22-3ADC-4CC4-82D4-8A14912C29F8}" type="presParOf" srcId="{98723224-74B0-4D19-8C8A-D2AB68619AD4}" destId="{AD537C82-ABDB-4A15-8102-5E6D0AA82B8F}" srcOrd="3" destOrd="0" presId="urn:microsoft.com/office/officeart/2018/2/layout/IconVerticalSolidList"/>
    <dgm:cxn modelId="{F73842F3-29BD-4A2C-9604-CC0AAB4CCEEB}" type="presParOf" srcId="{86B14D98-C36B-45BD-8033-7636456A4C81}" destId="{8A269933-9EBE-4421-9D89-178BC0178C21}" srcOrd="1" destOrd="0" presId="urn:microsoft.com/office/officeart/2018/2/layout/IconVerticalSolidList"/>
    <dgm:cxn modelId="{6C6F7418-6871-4C9A-A8B5-598214B25CBA}" type="presParOf" srcId="{86B14D98-C36B-45BD-8033-7636456A4C81}" destId="{B7BB8251-1976-46C1-B21A-D218037B4C1F}" srcOrd="2" destOrd="0" presId="urn:microsoft.com/office/officeart/2018/2/layout/IconVerticalSolidList"/>
    <dgm:cxn modelId="{81948A90-1DF8-4AE8-A5C8-936AFBDE6E04}" type="presParOf" srcId="{B7BB8251-1976-46C1-B21A-D218037B4C1F}" destId="{02F34992-DDAF-4098-8D96-69D60AB8D7E8}" srcOrd="0" destOrd="0" presId="urn:microsoft.com/office/officeart/2018/2/layout/IconVerticalSolidList"/>
    <dgm:cxn modelId="{09D01B31-B5E1-4E58-B8CB-F7C8D7120407}" type="presParOf" srcId="{B7BB8251-1976-46C1-B21A-D218037B4C1F}" destId="{F9E8B787-050C-4F69-A20E-BAD011CC9837}" srcOrd="1" destOrd="0" presId="urn:microsoft.com/office/officeart/2018/2/layout/IconVerticalSolidList"/>
    <dgm:cxn modelId="{9BCEC8E0-4BC3-48FC-B6A1-D1D0110B5120}" type="presParOf" srcId="{B7BB8251-1976-46C1-B21A-D218037B4C1F}" destId="{7C563F11-7127-4CE2-9B1B-356B5B5C0393}" srcOrd="2" destOrd="0" presId="urn:microsoft.com/office/officeart/2018/2/layout/IconVerticalSolidList"/>
    <dgm:cxn modelId="{59FA15BD-7764-4093-93E1-D0B7C0B98FD7}" type="presParOf" srcId="{B7BB8251-1976-46C1-B21A-D218037B4C1F}" destId="{EBA7A35A-6404-4A85-9E35-5C22C5C74848}" srcOrd="3" destOrd="0" presId="urn:microsoft.com/office/officeart/2018/2/layout/IconVerticalSolidList"/>
    <dgm:cxn modelId="{1F30BDB7-7E8F-43DA-BE58-9194EEA27FEB}" type="presParOf" srcId="{86B14D98-C36B-45BD-8033-7636456A4C81}" destId="{A67D56F3-0BA1-4D9A-A1C9-3C0C7EB6BEBF}" srcOrd="3" destOrd="0" presId="urn:microsoft.com/office/officeart/2018/2/layout/IconVerticalSolidList"/>
    <dgm:cxn modelId="{17F0776F-CEB4-48C9-AB0C-F72C959589B1}" type="presParOf" srcId="{86B14D98-C36B-45BD-8033-7636456A4C81}" destId="{FC2C1311-83A5-4D6F-8F62-ED48B1569A23}" srcOrd="4" destOrd="0" presId="urn:microsoft.com/office/officeart/2018/2/layout/IconVerticalSolidList"/>
    <dgm:cxn modelId="{8C971CC9-8AF4-46E6-A531-A1D8D7CB13BF}" type="presParOf" srcId="{FC2C1311-83A5-4D6F-8F62-ED48B1569A23}" destId="{C95B9F67-B863-4E42-ADC8-99CE914CED48}" srcOrd="0" destOrd="0" presId="urn:microsoft.com/office/officeart/2018/2/layout/IconVerticalSolidList"/>
    <dgm:cxn modelId="{D4C2BE1B-FEF0-4A79-A345-DF2B12DE5060}" type="presParOf" srcId="{FC2C1311-83A5-4D6F-8F62-ED48B1569A23}" destId="{CC4A9061-20AD-47C1-AD06-5D4F3A9B9456}" srcOrd="1" destOrd="0" presId="urn:microsoft.com/office/officeart/2018/2/layout/IconVerticalSolidList"/>
    <dgm:cxn modelId="{A08CFFE7-C07A-49B5-A96B-2E7DA115AFF4}" type="presParOf" srcId="{FC2C1311-83A5-4D6F-8F62-ED48B1569A23}" destId="{048DD3A2-2C43-48ED-8E12-8ADC12D7ED4D}" srcOrd="2" destOrd="0" presId="urn:microsoft.com/office/officeart/2018/2/layout/IconVerticalSolidList"/>
    <dgm:cxn modelId="{95B74183-1266-467F-BD75-106E5DD5EE40}" type="presParOf" srcId="{FC2C1311-83A5-4D6F-8F62-ED48B1569A23}" destId="{B1DB74F5-A2EE-478A-84C2-9D4FFCDB175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9C0A46D4-D35B-4523-9BA4-9A736ABDA5B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EDD4908-7413-46B3-B1B7-D5C1F70AF5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Balanced model performance</a:t>
          </a:r>
        </a:p>
      </dgm:t>
    </dgm:pt>
    <dgm:pt modelId="{0708B52C-8BBF-48E9-B87C-A4061ABE5AC5}" type="parTrans" cxnId="{91134F72-93D7-42E6-AF1A-86EC0EB548B6}">
      <dgm:prSet/>
      <dgm:spPr/>
      <dgm:t>
        <a:bodyPr/>
        <a:lstStyle/>
        <a:p>
          <a:endParaRPr lang="en-US"/>
        </a:p>
      </dgm:t>
    </dgm:pt>
    <dgm:pt modelId="{FAD96F6A-85A2-4C9C-A489-2BF72E1B9DA6}" type="sibTrans" cxnId="{91134F72-93D7-42E6-AF1A-86EC0EB548B6}">
      <dgm:prSet/>
      <dgm:spPr/>
      <dgm:t>
        <a:bodyPr/>
        <a:lstStyle/>
        <a:p>
          <a:endParaRPr lang="en-US"/>
        </a:p>
      </dgm:t>
    </dgm:pt>
    <dgm:pt modelId="{08F4C90F-0121-4DEF-A1CE-BF48BB638A4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Slightly lower AUC than logistic Model 3</a:t>
          </a:r>
        </a:p>
      </dgm:t>
    </dgm:pt>
    <dgm:pt modelId="{A902B1B0-F5E2-41D7-9F52-390184B0D923}" type="parTrans" cxnId="{E2014253-C2E1-4A9D-8E80-AB7C5AB0F94E}">
      <dgm:prSet/>
      <dgm:spPr/>
      <dgm:t>
        <a:bodyPr/>
        <a:lstStyle/>
        <a:p>
          <a:endParaRPr lang="en-US"/>
        </a:p>
      </dgm:t>
    </dgm:pt>
    <dgm:pt modelId="{5E94E077-7684-4DF0-B8F6-F7B8C26A1A0C}" type="sibTrans" cxnId="{E2014253-C2E1-4A9D-8E80-AB7C5AB0F94E}">
      <dgm:prSet/>
      <dgm:spPr/>
      <dgm:t>
        <a:bodyPr/>
        <a:lstStyle/>
        <a:p>
          <a:endParaRPr lang="en-US"/>
        </a:p>
      </dgm:t>
    </dgm:pt>
    <dgm:pt modelId="{BF91929F-7880-4329-8D06-42C26F06FB7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Strong defaulter detection (high sensitivity)</a:t>
          </a:r>
        </a:p>
      </dgm:t>
    </dgm:pt>
    <dgm:pt modelId="{8DEC3D13-2874-42C4-99D2-3574C417A892}" type="parTrans" cxnId="{918F80FA-1674-4A10-ABB0-60AAB1EBE421}">
      <dgm:prSet/>
      <dgm:spPr/>
      <dgm:t>
        <a:bodyPr/>
        <a:lstStyle/>
        <a:p>
          <a:endParaRPr lang="en-US"/>
        </a:p>
      </dgm:t>
    </dgm:pt>
    <dgm:pt modelId="{9390E258-6CCA-4F69-A4C8-E0763946E8C6}" type="sibTrans" cxnId="{918F80FA-1674-4A10-ABB0-60AAB1EBE421}">
      <dgm:prSet/>
      <dgm:spPr/>
      <dgm:t>
        <a:bodyPr/>
        <a:lstStyle/>
        <a:p>
          <a:endParaRPr lang="en-US"/>
        </a:p>
      </dgm:t>
    </dgm:pt>
    <dgm:pt modelId="{E5B37ABB-797D-407D-B417-36B99ECB60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Interpretable and easy to deploy</a:t>
          </a:r>
        </a:p>
      </dgm:t>
    </dgm:pt>
    <dgm:pt modelId="{C150479D-4BFB-4C4E-9528-E1645C8A104D}" type="parTrans" cxnId="{037B982E-A561-4D8E-9948-BCC93FA97AE3}">
      <dgm:prSet/>
      <dgm:spPr/>
      <dgm:t>
        <a:bodyPr/>
        <a:lstStyle/>
        <a:p>
          <a:endParaRPr lang="en-US"/>
        </a:p>
      </dgm:t>
    </dgm:pt>
    <dgm:pt modelId="{C451BA33-10F8-498C-8FDE-A352B0D118E2}" type="sibTrans" cxnId="{037B982E-A561-4D8E-9948-BCC93FA97AE3}">
      <dgm:prSet/>
      <dgm:spPr/>
      <dgm:t>
        <a:bodyPr/>
        <a:lstStyle/>
        <a:p>
          <a:endParaRPr lang="en-US"/>
        </a:p>
      </dgm:t>
    </dgm:pt>
    <dgm:pt modelId="{ACADD8EF-EFAC-4782-BFD4-41196F0E6597}" type="pres">
      <dgm:prSet presAssocID="{9C0A46D4-D35B-4523-9BA4-9A736ABDA5B6}" presName="root" presStyleCnt="0">
        <dgm:presLayoutVars>
          <dgm:dir/>
          <dgm:resizeHandles val="exact"/>
        </dgm:presLayoutVars>
      </dgm:prSet>
      <dgm:spPr/>
    </dgm:pt>
    <dgm:pt modelId="{7FEC7A75-9E09-480D-93D6-271292F17BA2}" type="pres">
      <dgm:prSet presAssocID="{1EDD4908-7413-46B3-B1B7-D5C1F70AF5E3}" presName="compNode" presStyleCnt="0"/>
      <dgm:spPr/>
    </dgm:pt>
    <dgm:pt modelId="{DCB72A44-3F5F-405D-9430-3A8B3A5643A0}" type="pres">
      <dgm:prSet presAssocID="{1EDD4908-7413-46B3-B1B7-D5C1F70AF5E3}" presName="bgRect" presStyleLbl="bgShp" presStyleIdx="0" presStyleCnt="4"/>
      <dgm:spPr/>
    </dgm:pt>
    <dgm:pt modelId="{A07DF4B6-B898-4FF4-9DAF-6D04DC55259F}" type="pres">
      <dgm:prSet presAssocID="{1EDD4908-7413-46B3-B1B7-D5C1F70AF5E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DAAF840E-05FD-4CE0-AAC0-8EC5F2B9B619}" type="pres">
      <dgm:prSet presAssocID="{1EDD4908-7413-46B3-B1B7-D5C1F70AF5E3}" presName="spaceRect" presStyleCnt="0"/>
      <dgm:spPr/>
    </dgm:pt>
    <dgm:pt modelId="{BF92B0E3-05C5-4E5E-85CE-71CD5E0B63E3}" type="pres">
      <dgm:prSet presAssocID="{1EDD4908-7413-46B3-B1B7-D5C1F70AF5E3}" presName="parTx" presStyleLbl="revTx" presStyleIdx="0" presStyleCnt="4">
        <dgm:presLayoutVars>
          <dgm:chMax val="0"/>
          <dgm:chPref val="0"/>
        </dgm:presLayoutVars>
      </dgm:prSet>
      <dgm:spPr/>
    </dgm:pt>
    <dgm:pt modelId="{14F74A67-0341-4656-BA8A-C0D62F9C14D7}" type="pres">
      <dgm:prSet presAssocID="{FAD96F6A-85A2-4C9C-A489-2BF72E1B9DA6}" presName="sibTrans" presStyleCnt="0"/>
      <dgm:spPr/>
    </dgm:pt>
    <dgm:pt modelId="{440C6EBE-BFF8-404F-BB49-513F421A8783}" type="pres">
      <dgm:prSet presAssocID="{08F4C90F-0121-4DEF-A1CE-BF48BB638A49}" presName="compNode" presStyleCnt="0"/>
      <dgm:spPr/>
    </dgm:pt>
    <dgm:pt modelId="{DA1BA14B-D31A-4955-9074-FBF7675B803E}" type="pres">
      <dgm:prSet presAssocID="{08F4C90F-0121-4DEF-A1CE-BF48BB638A49}" presName="bgRect" presStyleLbl="bgShp" presStyleIdx="1" presStyleCnt="4"/>
      <dgm:spPr/>
    </dgm:pt>
    <dgm:pt modelId="{71DF3D2A-A197-47F5-B8A5-C1AE96FF896E}" type="pres">
      <dgm:prSet presAssocID="{08F4C90F-0121-4DEF-A1CE-BF48BB638A4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85A1FCDD-5E58-4C3D-9E64-2743BC8CA433}" type="pres">
      <dgm:prSet presAssocID="{08F4C90F-0121-4DEF-A1CE-BF48BB638A49}" presName="spaceRect" presStyleCnt="0"/>
      <dgm:spPr/>
    </dgm:pt>
    <dgm:pt modelId="{A63EA84B-945A-4107-AD11-FC49870C7D4D}" type="pres">
      <dgm:prSet presAssocID="{08F4C90F-0121-4DEF-A1CE-BF48BB638A49}" presName="parTx" presStyleLbl="revTx" presStyleIdx="1" presStyleCnt="4">
        <dgm:presLayoutVars>
          <dgm:chMax val="0"/>
          <dgm:chPref val="0"/>
        </dgm:presLayoutVars>
      </dgm:prSet>
      <dgm:spPr/>
    </dgm:pt>
    <dgm:pt modelId="{59702740-1239-48FA-98F1-67D82102048E}" type="pres">
      <dgm:prSet presAssocID="{5E94E077-7684-4DF0-B8F6-F7B8C26A1A0C}" presName="sibTrans" presStyleCnt="0"/>
      <dgm:spPr/>
    </dgm:pt>
    <dgm:pt modelId="{18C59129-56D9-46D4-92E3-68A5129B4A27}" type="pres">
      <dgm:prSet presAssocID="{BF91929F-7880-4329-8D06-42C26F06FB78}" presName="compNode" presStyleCnt="0"/>
      <dgm:spPr/>
    </dgm:pt>
    <dgm:pt modelId="{69B86E7E-6F5F-406A-8264-C26767765BD8}" type="pres">
      <dgm:prSet presAssocID="{BF91929F-7880-4329-8D06-42C26F06FB78}" presName="bgRect" presStyleLbl="bgShp" presStyleIdx="2" presStyleCnt="4"/>
      <dgm:spPr/>
    </dgm:pt>
    <dgm:pt modelId="{4CC73892-76A8-4C9A-B3B5-24A60CC80E01}" type="pres">
      <dgm:prSet presAssocID="{BF91929F-7880-4329-8D06-42C26F06FB7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adioactive Sign"/>
        </a:ext>
      </dgm:extLst>
    </dgm:pt>
    <dgm:pt modelId="{E0F3F0C3-2762-48D9-B308-75A2C9A84EFA}" type="pres">
      <dgm:prSet presAssocID="{BF91929F-7880-4329-8D06-42C26F06FB78}" presName="spaceRect" presStyleCnt="0"/>
      <dgm:spPr/>
    </dgm:pt>
    <dgm:pt modelId="{76B0E295-11D6-4C91-A78B-41CC0CE8E246}" type="pres">
      <dgm:prSet presAssocID="{BF91929F-7880-4329-8D06-42C26F06FB78}" presName="parTx" presStyleLbl="revTx" presStyleIdx="2" presStyleCnt="4">
        <dgm:presLayoutVars>
          <dgm:chMax val="0"/>
          <dgm:chPref val="0"/>
        </dgm:presLayoutVars>
      </dgm:prSet>
      <dgm:spPr/>
    </dgm:pt>
    <dgm:pt modelId="{B179E5AC-6E44-4D5D-8F3C-AA0F6F6BFEDB}" type="pres">
      <dgm:prSet presAssocID="{9390E258-6CCA-4F69-A4C8-E0763946E8C6}" presName="sibTrans" presStyleCnt="0"/>
      <dgm:spPr/>
    </dgm:pt>
    <dgm:pt modelId="{64642931-F5B9-4E16-A5FD-2F3F26A7E5EB}" type="pres">
      <dgm:prSet presAssocID="{E5B37ABB-797D-407D-B417-36B99ECB6021}" presName="compNode" presStyleCnt="0"/>
      <dgm:spPr/>
    </dgm:pt>
    <dgm:pt modelId="{44643AAA-9812-4920-81BC-9042EEA724CA}" type="pres">
      <dgm:prSet presAssocID="{E5B37ABB-797D-407D-B417-36B99ECB6021}" presName="bgRect" presStyleLbl="bgShp" presStyleIdx="3" presStyleCnt="4"/>
      <dgm:spPr/>
    </dgm:pt>
    <dgm:pt modelId="{DCAA3491-BE8E-4936-A1CE-40F0F96CDD50}" type="pres">
      <dgm:prSet presAssocID="{E5B37ABB-797D-407D-B417-36B99ECB602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900482E3-F01B-417E-B4FB-40368CAEA3E5}" type="pres">
      <dgm:prSet presAssocID="{E5B37ABB-797D-407D-B417-36B99ECB6021}" presName="spaceRect" presStyleCnt="0"/>
      <dgm:spPr/>
    </dgm:pt>
    <dgm:pt modelId="{F39BF9B8-C538-4E72-A29D-B4BEF3E48C77}" type="pres">
      <dgm:prSet presAssocID="{E5B37ABB-797D-407D-B417-36B99ECB602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37B982E-A561-4D8E-9948-BCC93FA97AE3}" srcId="{9C0A46D4-D35B-4523-9BA4-9A736ABDA5B6}" destId="{E5B37ABB-797D-407D-B417-36B99ECB6021}" srcOrd="3" destOrd="0" parTransId="{C150479D-4BFB-4C4E-9528-E1645C8A104D}" sibTransId="{C451BA33-10F8-498C-8FDE-A352B0D118E2}"/>
    <dgm:cxn modelId="{6DC19936-D57F-4CEA-9EF1-B5407DC6E085}" type="presOf" srcId="{E5B37ABB-797D-407D-B417-36B99ECB6021}" destId="{F39BF9B8-C538-4E72-A29D-B4BEF3E48C77}" srcOrd="0" destOrd="0" presId="urn:microsoft.com/office/officeart/2018/2/layout/IconVerticalSolidList"/>
    <dgm:cxn modelId="{3ADCE24E-AD19-4B38-9BFA-A4CBFDDF891C}" type="presOf" srcId="{9C0A46D4-D35B-4523-9BA4-9A736ABDA5B6}" destId="{ACADD8EF-EFAC-4782-BFD4-41196F0E6597}" srcOrd="0" destOrd="0" presId="urn:microsoft.com/office/officeart/2018/2/layout/IconVerticalSolidList"/>
    <dgm:cxn modelId="{E2014253-C2E1-4A9D-8E80-AB7C5AB0F94E}" srcId="{9C0A46D4-D35B-4523-9BA4-9A736ABDA5B6}" destId="{08F4C90F-0121-4DEF-A1CE-BF48BB638A49}" srcOrd="1" destOrd="0" parTransId="{A902B1B0-F5E2-41D7-9F52-390184B0D923}" sibTransId="{5E94E077-7684-4DF0-B8F6-F7B8C26A1A0C}"/>
    <dgm:cxn modelId="{91134F72-93D7-42E6-AF1A-86EC0EB548B6}" srcId="{9C0A46D4-D35B-4523-9BA4-9A736ABDA5B6}" destId="{1EDD4908-7413-46B3-B1B7-D5C1F70AF5E3}" srcOrd="0" destOrd="0" parTransId="{0708B52C-8BBF-48E9-B87C-A4061ABE5AC5}" sibTransId="{FAD96F6A-85A2-4C9C-A489-2BF72E1B9DA6}"/>
    <dgm:cxn modelId="{82CFBE7E-3A84-49BC-8A95-0F4EF29425A2}" type="presOf" srcId="{1EDD4908-7413-46B3-B1B7-D5C1F70AF5E3}" destId="{BF92B0E3-05C5-4E5E-85CE-71CD5E0B63E3}" srcOrd="0" destOrd="0" presId="urn:microsoft.com/office/officeart/2018/2/layout/IconVerticalSolidList"/>
    <dgm:cxn modelId="{F30177B0-BE6A-4076-9F1B-33709251B972}" type="presOf" srcId="{08F4C90F-0121-4DEF-A1CE-BF48BB638A49}" destId="{A63EA84B-945A-4107-AD11-FC49870C7D4D}" srcOrd="0" destOrd="0" presId="urn:microsoft.com/office/officeart/2018/2/layout/IconVerticalSolidList"/>
    <dgm:cxn modelId="{DDC74BDC-F0EF-4338-8D49-D43CBFD98F04}" type="presOf" srcId="{BF91929F-7880-4329-8D06-42C26F06FB78}" destId="{76B0E295-11D6-4C91-A78B-41CC0CE8E246}" srcOrd="0" destOrd="0" presId="urn:microsoft.com/office/officeart/2018/2/layout/IconVerticalSolidList"/>
    <dgm:cxn modelId="{918F80FA-1674-4A10-ABB0-60AAB1EBE421}" srcId="{9C0A46D4-D35B-4523-9BA4-9A736ABDA5B6}" destId="{BF91929F-7880-4329-8D06-42C26F06FB78}" srcOrd="2" destOrd="0" parTransId="{8DEC3D13-2874-42C4-99D2-3574C417A892}" sibTransId="{9390E258-6CCA-4F69-A4C8-E0763946E8C6}"/>
    <dgm:cxn modelId="{7285F934-A9D9-4BEC-941A-D808605A2E77}" type="presParOf" srcId="{ACADD8EF-EFAC-4782-BFD4-41196F0E6597}" destId="{7FEC7A75-9E09-480D-93D6-271292F17BA2}" srcOrd="0" destOrd="0" presId="urn:microsoft.com/office/officeart/2018/2/layout/IconVerticalSolidList"/>
    <dgm:cxn modelId="{9709C038-8C2E-4FFC-B784-45ECC77E306C}" type="presParOf" srcId="{7FEC7A75-9E09-480D-93D6-271292F17BA2}" destId="{DCB72A44-3F5F-405D-9430-3A8B3A5643A0}" srcOrd="0" destOrd="0" presId="urn:microsoft.com/office/officeart/2018/2/layout/IconVerticalSolidList"/>
    <dgm:cxn modelId="{450B8B2F-DC43-4058-9056-7CE799172FF5}" type="presParOf" srcId="{7FEC7A75-9E09-480D-93D6-271292F17BA2}" destId="{A07DF4B6-B898-4FF4-9DAF-6D04DC55259F}" srcOrd="1" destOrd="0" presId="urn:microsoft.com/office/officeart/2018/2/layout/IconVerticalSolidList"/>
    <dgm:cxn modelId="{4169A615-E94C-4D9C-9CA4-F7B9410142F4}" type="presParOf" srcId="{7FEC7A75-9E09-480D-93D6-271292F17BA2}" destId="{DAAF840E-05FD-4CE0-AAC0-8EC5F2B9B619}" srcOrd="2" destOrd="0" presId="urn:microsoft.com/office/officeart/2018/2/layout/IconVerticalSolidList"/>
    <dgm:cxn modelId="{CEAD2329-F989-4258-8A18-363C3C63E50D}" type="presParOf" srcId="{7FEC7A75-9E09-480D-93D6-271292F17BA2}" destId="{BF92B0E3-05C5-4E5E-85CE-71CD5E0B63E3}" srcOrd="3" destOrd="0" presId="urn:microsoft.com/office/officeart/2018/2/layout/IconVerticalSolidList"/>
    <dgm:cxn modelId="{1630EA1C-7B8E-4D4E-A062-3046B62F1D02}" type="presParOf" srcId="{ACADD8EF-EFAC-4782-BFD4-41196F0E6597}" destId="{14F74A67-0341-4656-BA8A-C0D62F9C14D7}" srcOrd="1" destOrd="0" presId="urn:microsoft.com/office/officeart/2018/2/layout/IconVerticalSolidList"/>
    <dgm:cxn modelId="{CF9F7A5D-8887-4193-B549-38B97288F3EA}" type="presParOf" srcId="{ACADD8EF-EFAC-4782-BFD4-41196F0E6597}" destId="{440C6EBE-BFF8-404F-BB49-513F421A8783}" srcOrd="2" destOrd="0" presId="urn:microsoft.com/office/officeart/2018/2/layout/IconVerticalSolidList"/>
    <dgm:cxn modelId="{012B4900-5EA4-424A-B71B-6FABB86DA142}" type="presParOf" srcId="{440C6EBE-BFF8-404F-BB49-513F421A8783}" destId="{DA1BA14B-D31A-4955-9074-FBF7675B803E}" srcOrd="0" destOrd="0" presId="urn:microsoft.com/office/officeart/2018/2/layout/IconVerticalSolidList"/>
    <dgm:cxn modelId="{6A3202C6-09A1-4EE3-AE27-7A8602A670F5}" type="presParOf" srcId="{440C6EBE-BFF8-404F-BB49-513F421A8783}" destId="{71DF3D2A-A197-47F5-B8A5-C1AE96FF896E}" srcOrd="1" destOrd="0" presId="urn:microsoft.com/office/officeart/2018/2/layout/IconVerticalSolidList"/>
    <dgm:cxn modelId="{F5A58EBD-55DC-4035-8F2A-B0C40FD5A1BE}" type="presParOf" srcId="{440C6EBE-BFF8-404F-BB49-513F421A8783}" destId="{85A1FCDD-5E58-4C3D-9E64-2743BC8CA433}" srcOrd="2" destOrd="0" presId="urn:microsoft.com/office/officeart/2018/2/layout/IconVerticalSolidList"/>
    <dgm:cxn modelId="{C29DBB7E-37B7-47CF-A593-1117DE7E36D1}" type="presParOf" srcId="{440C6EBE-BFF8-404F-BB49-513F421A8783}" destId="{A63EA84B-945A-4107-AD11-FC49870C7D4D}" srcOrd="3" destOrd="0" presId="urn:microsoft.com/office/officeart/2018/2/layout/IconVerticalSolidList"/>
    <dgm:cxn modelId="{67F84619-A254-45EA-8B2D-8C9016E9E868}" type="presParOf" srcId="{ACADD8EF-EFAC-4782-BFD4-41196F0E6597}" destId="{59702740-1239-48FA-98F1-67D82102048E}" srcOrd="3" destOrd="0" presId="urn:microsoft.com/office/officeart/2018/2/layout/IconVerticalSolidList"/>
    <dgm:cxn modelId="{9044E75F-EE3E-4FD3-877F-14982982E74E}" type="presParOf" srcId="{ACADD8EF-EFAC-4782-BFD4-41196F0E6597}" destId="{18C59129-56D9-46D4-92E3-68A5129B4A27}" srcOrd="4" destOrd="0" presId="urn:microsoft.com/office/officeart/2018/2/layout/IconVerticalSolidList"/>
    <dgm:cxn modelId="{0E83A05F-98DE-4FC0-A5E2-B436C4903113}" type="presParOf" srcId="{18C59129-56D9-46D4-92E3-68A5129B4A27}" destId="{69B86E7E-6F5F-406A-8264-C26767765BD8}" srcOrd="0" destOrd="0" presId="urn:microsoft.com/office/officeart/2018/2/layout/IconVerticalSolidList"/>
    <dgm:cxn modelId="{45BD1D24-3CDF-406B-A3FB-46EC60E20121}" type="presParOf" srcId="{18C59129-56D9-46D4-92E3-68A5129B4A27}" destId="{4CC73892-76A8-4C9A-B3B5-24A60CC80E01}" srcOrd="1" destOrd="0" presId="urn:microsoft.com/office/officeart/2018/2/layout/IconVerticalSolidList"/>
    <dgm:cxn modelId="{4236589E-0CFA-4CAB-A728-29A49D8B57F8}" type="presParOf" srcId="{18C59129-56D9-46D4-92E3-68A5129B4A27}" destId="{E0F3F0C3-2762-48D9-B308-75A2C9A84EFA}" srcOrd="2" destOrd="0" presId="urn:microsoft.com/office/officeart/2018/2/layout/IconVerticalSolidList"/>
    <dgm:cxn modelId="{42ABC124-3F8C-4F4F-AA73-AE9229B38E29}" type="presParOf" srcId="{18C59129-56D9-46D4-92E3-68A5129B4A27}" destId="{76B0E295-11D6-4C91-A78B-41CC0CE8E246}" srcOrd="3" destOrd="0" presId="urn:microsoft.com/office/officeart/2018/2/layout/IconVerticalSolidList"/>
    <dgm:cxn modelId="{71CC9754-7F20-4F6A-BE61-CA4D6B365D86}" type="presParOf" srcId="{ACADD8EF-EFAC-4782-BFD4-41196F0E6597}" destId="{B179E5AC-6E44-4D5D-8F3C-AA0F6F6BFEDB}" srcOrd="5" destOrd="0" presId="urn:microsoft.com/office/officeart/2018/2/layout/IconVerticalSolidList"/>
    <dgm:cxn modelId="{A6FECBF8-91BD-4099-A1D0-BA54DC57236A}" type="presParOf" srcId="{ACADD8EF-EFAC-4782-BFD4-41196F0E6597}" destId="{64642931-F5B9-4E16-A5FD-2F3F26A7E5EB}" srcOrd="6" destOrd="0" presId="urn:microsoft.com/office/officeart/2018/2/layout/IconVerticalSolidList"/>
    <dgm:cxn modelId="{25AF38A1-A5B3-4F70-BCC4-7080E2A7230B}" type="presParOf" srcId="{64642931-F5B9-4E16-A5FD-2F3F26A7E5EB}" destId="{44643AAA-9812-4920-81BC-9042EEA724CA}" srcOrd="0" destOrd="0" presId="urn:microsoft.com/office/officeart/2018/2/layout/IconVerticalSolidList"/>
    <dgm:cxn modelId="{8B4062B0-4B6B-45F6-A31D-05E4C2285219}" type="presParOf" srcId="{64642931-F5B9-4E16-A5FD-2F3F26A7E5EB}" destId="{DCAA3491-BE8E-4936-A1CE-40F0F96CDD50}" srcOrd="1" destOrd="0" presId="urn:microsoft.com/office/officeart/2018/2/layout/IconVerticalSolidList"/>
    <dgm:cxn modelId="{E0DB7756-B6C1-49DE-AA1C-A16F35EB4BCB}" type="presParOf" srcId="{64642931-F5B9-4E16-A5FD-2F3F26A7E5EB}" destId="{900482E3-F01B-417E-B4FB-40368CAEA3E5}" srcOrd="2" destOrd="0" presId="urn:microsoft.com/office/officeart/2018/2/layout/IconVerticalSolidList"/>
    <dgm:cxn modelId="{FDE26116-E131-440B-AEC1-AA9AA14986BC}" type="presParOf" srcId="{64642931-F5B9-4E16-A5FD-2F3F26A7E5EB}" destId="{F39BF9B8-C538-4E72-A29D-B4BEF3E48C7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60612BCF-5AC6-415D-8DFF-CC6A8A63CF8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0A95B1C-4A66-408A-AD27-4E4A7FC87469}">
      <dgm:prSet/>
      <dgm:spPr/>
      <dgm:t>
        <a:bodyPr/>
        <a:lstStyle/>
        <a:p>
          <a:r>
            <a:rPr lang="en-US"/>
            <a:t>Very high sensitivity – detects defaulters well</a:t>
          </a:r>
        </a:p>
      </dgm:t>
    </dgm:pt>
    <dgm:pt modelId="{80F37089-F864-4543-B991-BB0834266686}" type="parTrans" cxnId="{31F377F4-610B-4419-859E-C4730A58690A}">
      <dgm:prSet/>
      <dgm:spPr/>
      <dgm:t>
        <a:bodyPr/>
        <a:lstStyle/>
        <a:p>
          <a:endParaRPr lang="en-US"/>
        </a:p>
      </dgm:t>
    </dgm:pt>
    <dgm:pt modelId="{0DA3856D-14A8-4DC9-9869-2481A4DE770D}" type="sibTrans" cxnId="{31F377F4-610B-4419-859E-C4730A58690A}">
      <dgm:prSet/>
      <dgm:spPr/>
      <dgm:t>
        <a:bodyPr/>
        <a:lstStyle/>
        <a:p>
          <a:endParaRPr lang="en-US"/>
        </a:p>
      </dgm:t>
    </dgm:pt>
    <dgm:pt modelId="{A568C4CF-B8CD-4295-96B5-B4E0BB06C205}">
      <dgm:prSet/>
      <dgm:spPr/>
      <dgm:t>
        <a:bodyPr/>
        <a:lstStyle/>
        <a:p>
          <a:r>
            <a:rPr lang="en-US"/>
            <a:t>Specificity is lower → more false positives</a:t>
          </a:r>
        </a:p>
      </dgm:t>
    </dgm:pt>
    <dgm:pt modelId="{B89FCA44-F897-488A-A57F-6E1793D1B00B}" type="parTrans" cxnId="{E26803FE-D2EE-4226-91B4-574EFCD3CD32}">
      <dgm:prSet/>
      <dgm:spPr/>
      <dgm:t>
        <a:bodyPr/>
        <a:lstStyle/>
        <a:p>
          <a:endParaRPr lang="en-US"/>
        </a:p>
      </dgm:t>
    </dgm:pt>
    <dgm:pt modelId="{D8ED05D9-E687-468C-BF68-85139DABC6B4}" type="sibTrans" cxnId="{E26803FE-D2EE-4226-91B4-574EFCD3CD32}">
      <dgm:prSet/>
      <dgm:spPr/>
      <dgm:t>
        <a:bodyPr/>
        <a:lstStyle/>
        <a:p>
          <a:endParaRPr lang="en-US"/>
        </a:p>
      </dgm:t>
    </dgm:pt>
    <dgm:pt modelId="{40CFC92C-7141-4E72-8DC5-2FCDA262D74B}">
      <dgm:prSet/>
      <dgm:spPr/>
      <dgm:t>
        <a:bodyPr/>
        <a:lstStyle/>
        <a:p>
          <a:r>
            <a:rPr lang="en-US"/>
            <a:t>Consistent results across datasets</a:t>
          </a:r>
        </a:p>
      </dgm:t>
    </dgm:pt>
    <dgm:pt modelId="{C5784E4C-701C-4CA0-AE80-F60419B78DDA}" type="parTrans" cxnId="{88818965-A47C-493A-B4C0-911A258C8002}">
      <dgm:prSet/>
      <dgm:spPr/>
      <dgm:t>
        <a:bodyPr/>
        <a:lstStyle/>
        <a:p>
          <a:endParaRPr lang="en-US"/>
        </a:p>
      </dgm:t>
    </dgm:pt>
    <dgm:pt modelId="{66856D21-45CE-4930-BACB-7282C554C442}" type="sibTrans" cxnId="{88818965-A47C-493A-B4C0-911A258C8002}">
      <dgm:prSet/>
      <dgm:spPr/>
      <dgm:t>
        <a:bodyPr/>
        <a:lstStyle/>
        <a:p>
          <a:endParaRPr lang="en-US"/>
        </a:p>
      </dgm:t>
    </dgm:pt>
    <dgm:pt modelId="{422A47A4-0DBF-4024-93B0-AFE680159EE4}">
      <dgm:prSet/>
      <dgm:spPr/>
      <dgm:t>
        <a:bodyPr/>
        <a:lstStyle/>
        <a:p>
          <a:r>
            <a:rPr lang="en-US"/>
            <a:t>Easy to visualize and interpret</a:t>
          </a:r>
        </a:p>
      </dgm:t>
    </dgm:pt>
    <dgm:pt modelId="{059D3EEF-3322-4992-8994-5414C8068508}" type="parTrans" cxnId="{B6FC660B-E3BC-4911-A079-194AF4CDCFC1}">
      <dgm:prSet/>
      <dgm:spPr/>
      <dgm:t>
        <a:bodyPr/>
        <a:lstStyle/>
        <a:p>
          <a:endParaRPr lang="en-US"/>
        </a:p>
      </dgm:t>
    </dgm:pt>
    <dgm:pt modelId="{58A382FB-35E2-496A-9527-F195456447E5}" type="sibTrans" cxnId="{B6FC660B-E3BC-4911-A079-194AF4CDCFC1}">
      <dgm:prSet/>
      <dgm:spPr/>
      <dgm:t>
        <a:bodyPr/>
        <a:lstStyle/>
        <a:p>
          <a:endParaRPr lang="en-US"/>
        </a:p>
      </dgm:t>
    </dgm:pt>
    <dgm:pt modelId="{FB320B68-D002-CD4D-824A-3AA050510882}" type="pres">
      <dgm:prSet presAssocID="{60612BCF-5AC6-415D-8DFF-CC6A8A63CF80}" presName="linear" presStyleCnt="0">
        <dgm:presLayoutVars>
          <dgm:animLvl val="lvl"/>
          <dgm:resizeHandles val="exact"/>
        </dgm:presLayoutVars>
      </dgm:prSet>
      <dgm:spPr/>
    </dgm:pt>
    <dgm:pt modelId="{56CD3245-5790-B84D-A682-062637060C55}" type="pres">
      <dgm:prSet presAssocID="{C0A95B1C-4A66-408A-AD27-4E4A7FC8746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470F582-FA24-614B-A3BD-3D2406E31200}" type="pres">
      <dgm:prSet presAssocID="{0DA3856D-14A8-4DC9-9869-2481A4DE770D}" presName="spacer" presStyleCnt="0"/>
      <dgm:spPr/>
    </dgm:pt>
    <dgm:pt modelId="{A1FFA535-5481-EE47-A8E9-4D166B345929}" type="pres">
      <dgm:prSet presAssocID="{A568C4CF-B8CD-4295-96B5-B4E0BB06C20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9E3F5B2-585F-8D45-B836-00FD26B1AC97}" type="pres">
      <dgm:prSet presAssocID="{D8ED05D9-E687-468C-BF68-85139DABC6B4}" presName="spacer" presStyleCnt="0"/>
      <dgm:spPr/>
    </dgm:pt>
    <dgm:pt modelId="{9DD19E96-7BFA-184C-9C43-88069C6CF73E}" type="pres">
      <dgm:prSet presAssocID="{40CFC92C-7141-4E72-8DC5-2FCDA262D74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57382D6-1505-5A47-8A2D-87744E9628D8}" type="pres">
      <dgm:prSet presAssocID="{66856D21-45CE-4930-BACB-7282C554C442}" presName="spacer" presStyleCnt="0"/>
      <dgm:spPr/>
    </dgm:pt>
    <dgm:pt modelId="{3FA384B8-8BA6-2845-8CDB-F6430D62A91A}" type="pres">
      <dgm:prSet presAssocID="{422A47A4-0DBF-4024-93B0-AFE680159EE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6FC660B-E3BC-4911-A079-194AF4CDCFC1}" srcId="{60612BCF-5AC6-415D-8DFF-CC6A8A63CF80}" destId="{422A47A4-0DBF-4024-93B0-AFE680159EE4}" srcOrd="3" destOrd="0" parTransId="{059D3EEF-3322-4992-8994-5414C8068508}" sibTransId="{58A382FB-35E2-496A-9527-F195456447E5}"/>
    <dgm:cxn modelId="{32FCCF18-BE05-2E4B-B879-D2BD4DCEE054}" type="presOf" srcId="{60612BCF-5AC6-415D-8DFF-CC6A8A63CF80}" destId="{FB320B68-D002-CD4D-824A-3AA050510882}" srcOrd="0" destOrd="0" presId="urn:microsoft.com/office/officeart/2005/8/layout/vList2"/>
    <dgm:cxn modelId="{88818965-A47C-493A-B4C0-911A258C8002}" srcId="{60612BCF-5AC6-415D-8DFF-CC6A8A63CF80}" destId="{40CFC92C-7141-4E72-8DC5-2FCDA262D74B}" srcOrd="2" destOrd="0" parTransId="{C5784E4C-701C-4CA0-AE80-F60419B78DDA}" sibTransId="{66856D21-45CE-4930-BACB-7282C554C442}"/>
    <dgm:cxn modelId="{DE439B99-7443-7241-B542-78B68CEFE5FF}" type="presOf" srcId="{40CFC92C-7141-4E72-8DC5-2FCDA262D74B}" destId="{9DD19E96-7BFA-184C-9C43-88069C6CF73E}" srcOrd="0" destOrd="0" presId="urn:microsoft.com/office/officeart/2005/8/layout/vList2"/>
    <dgm:cxn modelId="{D31D75D0-1D2F-844E-BC53-3CCDE144D5D1}" type="presOf" srcId="{422A47A4-0DBF-4024-93B0-AFE680159EE4}" destId="{3FA384B8-8BA6-2845-8CDB-F6430D62A91A}" srcOrd="0" destOrd="0" presId="urn:microsoft.com/office/officeart/2005/8/layout/vList2"/>
    <dgm:cxn modelId="{5096FADD-2A50-6A4D-8F21-6DACEB1AC722}" type="presOf" srcId="{C0A95B1C-4A66-408A-AD27-4E4A7FC87469}" destId="{56CD3245-5790-B84D-A682-062637060C55}" srcOrd="0" destOrd="0" presId="urn:microsoft.com/office/officeart/2005/8/layout/vList2"/>
    <dgm:cxn modelId="{31F377F4-610B-4419-859E-C4730A58690A}" srcId="{60612BCF-5AC6-415D-8DFF-CC6A8A63CF80}" destId="{C0A95B1C-4A66-408A-AD27-4E4A7FC87469}" srcOrd="0" destOrd="0" parTransId="{80F37089-F864-4543-B991-BB0834266686}" sibTransId="{0DA3856D-14A8-4DC9-9869-2481A4DE770D}"/>
    <dgm:cxn modelId="{82341CFA-7073-C34A-889F-343AEBCDC361}" type="presOf" srcId="{A568C4CF-B8CD-4295-96B5-B4E0BB06C205}" destId="{A1FFA535-5481-EE47-A8E9-4D166B345929}" srcOrd="0" destOrd="0" presId="urn:microsoft.com/office/officeart/2005/8/layout/vList2"/>
    <dgm:cxn modelId="{E26803FE-D2EE-4226-91B4-574EFCD3CD32}" srcId="{60612BCF-5AC6-415D-8DFF-CC6A8A63CF80}" destId="{A568C4CF-B8CD-4295-96B5-B4E0BB06C205}" srcOrd="1" destOrd="0" parTransId="{B89FCA44-F897-488A-A57F-6E1793D1B00B}" sibTransId="{D8ED05D9-E687-468C-BF68-85139DABC6B4}"/>
    <dgm:cxn modelId="{9D533FFF-9640-3E45-BAA7-A3B8B941F407}" type="presParOf" srcId="{FB320B68-D002-CD4D-824A-3AA050510882}" destId="{56CD3245-5790-B84D-A682-062637060C55}" srcOrd="0" destOrd="0" presId="urn:microsoft.com/office/officeart/2005/8/layout/vList2"/>
    <dgm:cxn modelId="{C335CA19-0FA0-FB47-8A8D-2FDE0CDFE842}" type="presParOf" srcId="{FB320B68-D002-CD4D-824A-3AA050510882}" destId="{2470F582-FA24-614B-A3BD-3D2406E31200}" srcOrd="1" destOrd="0" presId="urn:microsoft.com/office/officeart/2005/8/layout/vList2"/>
    <dgm:cxn modelId="{213D10DD-5766-904A-8CFD-254FC9D158E1}" type="presParOf" srcId="{FB320B68-D002-CD4D-824A-3AA050510882}" destId="{A1FFA535-5481-EE47-A8E9-4D166B345929}" srcOrd="2" destOrd="0" presId="urn:microsoft.com/office/officeart/2005/8/layout/vList2"/>
    <dgm:cxn modelId="{4A02C0F9-BF6B-7C4A-928C-911BE87D7547}" type="presParOf" srcId="{FB320B68-D002-CD4D-824A-3AA050510882}" destId="{A9E3F5B2-585F-8D45-B836-00FD26B1AC97}" srcOrd="3" destOrd="0" presId="urn:microsoft.com/office/officeart/2005/8/layout/vList2"/>
    <dgm:cxn modelId="{6AABA9E6-1D7F-794C-A814-A59D7B7FCA7A}" type="presParOf" srcId="{FB320B68-D002-CD4D-824A-3AA050510882}" destId="{9DD19E96-7BFA-184C-9C43-88069C6CF73E}" srcOrd="4" destOrd="0" presId="urn:microsoft.com/office/officeart/2005/8/layout/vList2"/>
    <dgm:cxn modelId="{CBA684E2-CDDB-9846-BA78-7F677233A11A}" type="presParOf" srcId="{FB320B68-D002-CD4D-824A-3AA050510882}" destId="{D57382D6-1505-5A47-8A2D-87744E9628D8}" srcOrd="5" destOrd="0" presId="urn:microsoft.com/office/officeart/2005/8/layout/vList2"/>
    <dgm:cxn modelId="{7F39F12A-0377-2442-9EFD-2695C4288679}" type="presParOf" srcId="{FB320B68-D002-CD4D-824A-3AA050510882}" destId="{3FA384B8-8BA6-2845-8CDB-F6430D62A91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6F896C7B-9D61-4E21-895C-49F6C012423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28E89B8-83E5-493E-9E23-A0C176955FC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Excellent train performance → clear overfitting</a:t>
          </a:r>
        </a:p>
      </dgm:t>
    </dgm:pt>
    <dgm:pt modelId="{6242D96A-9784-47D5-90BD-47027CEDB9A2}" type="parTrans" cxnId="{98B4B811-24C3-4B30-BD60-4011A58ED2D9}">
      <dgm:prSet/>
      <dgm:spPr/>
      <dgm:t>
        <a:bodyPr/>
        <a:lstStyle/>
        <a:p>
          <a:endParaRPr lang="en-US"/>
        </a:p>
      </dgm:t>
    </dgm:pt>
    <dgm:pt modelId="{6BFDB4AF-E51F-4C12-AB03-9EEAFD2C2737}" type="sibTrans" cxnId="{98B4B811-24C3-4B30-BD60-4011A58ED2D9}">
      <dgm:prSet/>
      <dgm:spPr/>
      <dgm:t>
        <a:bodyPr/>
        <a:lstStyle/>
        <a:p>
          <a:endParaRPr lang="en-US"/>
        </a:p>
      </dgm:t>
    </dgm:pt>
    <dgm:pt modelId="{6D658A4E-91FE-4807-8AF2-D868C12FA08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High accuracy hides low sensitivity</a:t>
          </a:r>
        </a:p>
      </dgm:t>
    </dgm:pt>
    <dgm:pt modelId="{28E0C650-CFD5-48CE-A8C4-ECA3C05D97D1}" type="parTrans" cxnId="{7FE887A3-08FC-45DE-B6AC-98FF5ED78690}">
      <dgm:prSet/>
      <dgm:spPr/>
      <dgm:t>
        <a:bodyPr/>
        <a:lstStyle/>
        <a:p>
          <a:endParaRPr lang="en-US"/>
        </a:p>
      </dgm:t>
    </dgm:pt>
    <dgm:pt modelId="{6C900C60-0FE2-446B-8736-DB1157CB17F0}" type="sibTrans" cxnId="{7FE887A3-08FC-45DE-B6AC-98FF5ED78690}">
      <dgm:prSet/>
      <dgm:spPr/>
      <dgm:t>
        <a:bodyPr/>
        <a:lstStyle/>
        <a:p>
          <a:endParaRPr lang="en-US"/>
        </a:p>
      </dgm:t>
    </dgm:pt>
    <dgm:pt modelId="{4BC4AFA3-821A-4605-ABBA-57D6D31FFB9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Model fails to catch defaulters in test data</a:t>
          </a:r>
        </a:p>
      </dgm:t>
    </dgm:pt>
    <dgm:pt modelId="{BC1E6C9F-B228-4BCC-852A-B292FB69C0FC}" type="parTrans" cxnId="{17A3303F-532A-4449-A845-540DE4E752B3}">
      <dgm:prSet/>
      <dgm:spPr/>
      <dgm:t>
        <a:bodyPr/>
        <a:lstStyle/>
        <a:p>
          <a:endParaRPr lang="en-US"/>
        </a:p>
      </dgm:t>
    </dgm:pt>
    <dgm:pt modelId="{998D36DA-250A-4154-A965-18B6BF0EC11B}" type="sibTrans" cxnId="{17A3303F-532A-4449-A845-540DE4E752B3}">
      <dgm:prSet/>
      <dgm:spPr/>
      <dgm:t>
        <a:bodyPr/>
        <a:lstStyle/>
        <a:p>
          <a:endParaRPr lang="en-US"/>
        </a:p>
      </dgm:t>
    </dgm:pt>
    <dgm:pt modelId="{5E8768C1-71CA-4E9D-B079-2D198B918E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Needs tuning (e.g. class weights, threshold)</a:t>
          </a:r>
        </a:p>
      </dgm:t>
    </dgm:pt>
    <dgm:pt modelId="{4F63A328-D8F8-499A-8A20-521DDF2438E2}" type="parTrans" cxnId="{68A886D7-DBCD-4142-94F3-8C711A53D865}">
      <dgm:prSet/>
      <dgm:spPr/>
      <dgm:t>
        <a:bodyPr/>
        <a:lstStyle/>
        <a:p>
          <a:endParaRPr lang="en-US"/>
        </a:p>
      </dgm:t>
    </dgm:pt>
    <dgm:pt modelId="{B4DF4AED-1199-4169-BB8F-1678A3FB1897}" type="sibTrans" cxnId="{68A886D7-DBCD-4142-94F3-8C711A53D865}">
      <dgm:prSet/>
      <dgm:spPr/>
      <dgm:t>
        <a:bodyPr/>
        <a:lstStyle/>
        <a:p>
          <a:endParaRPr lang="en-US"/>
        </a:p>
      </dgm:t>
    </dgm:pt>
    <dgm:pt modelId="{712BD85E-1739-4357-A34C-3D2F51F4621D}" type="pres">
      <dgm:prSet presAssocID="{6F896C7B-9D61-4E21-895C-49F6C012423D}" presName="root" presStyleCnt="0">
        <dgm:presLayoutVars>
          <dgm:dir/>
          <dgm:resizeHandles val="exact"/>
        </dgm:presLayoutVars>
      </dgm:prSet>
      <dgm:spPr/>
    </dgm:pt>
    <dgm:pt modelId="{C7871068-A21B-4DF4-83B5-CE88C8750A21}" type="pres">
      <dgm:prSet presAssocID="{828E89B8-83E5-493E-9E23-A0C176955FC3}" presName="compNode" presStyleCnt="0"/>
      <dgm:spPr/>
    </dgm:pt>
    <dgm:pt modelId="{82F2C193-0CA1-4459-B938-7FDE0E3A7205}" type="pres">
      <dgm:prSet presAssocID="{828E89B8-83E5-493E-9E23-A0C176955FC3}" presName="bgRect" presStyleLbl="bgShp" presStyleIdx="0" presStyleCnt="4"/>
      <dgm:spPr/>
    </dgm:pt>
    <dgm:pt modelId="{AA00786E-EA41-475A-A12E-8CA950AABBAB}" type="pres">
      <dgm:prSet presAssocID="{828E89B8-83E5-493E-9E23-A0C176955FC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in"/>
        </a:ext>
      </dgm:extLst>
    </dgm:pt>
    <dgm:pt modelId="{AC84A86D-EF73-49F9-846D-295242A4DF42}" type="pres">
      <dgm:prSet presAssocID="{828E89B8-83E5-493E-9E23-A0C176955FC3}" presName="spaceRect" presStyleCnt="0"/>
      <dgm:spPr/>
    </dgm:pt>
    <dgm:pt modelId="{4A1C4DBE-3F81-4C62-8968-D4A58829374D}" type="pres">
      <dgm:prSet presAssocID="{828E89B8-83E5-493E-9E23-A0C176955FC3}" presName="parTx" presStyleLbl="revTx" presStyleIdx="0" presStyleCnt="4">
        <dgm:presLayoutVars>
          <dgm:chMax val="0"/>
          <dgm:chPref val="0"/>
        </dgm:presLayoutVars>
      </dgm:prSet>
      <dgm:spPr/>
    </dgm:pt>
    <dgm:pt modelId="{3E58C447-F23D-41C4-949C-45AADA138CDC}" type="pres">
      <dgm:prSet presAssocID="{6BFDB4AF-E51F-4C12-AB03-9EEAFD2C2737}" presName="sibTrans" presStyleCnt="0"/>
      <dgm:spPr/>
    </dgm:pt>
    <dgm:pt modelId="{C2B586F5-99E3-489F-9430-4E891EDD3E63}" type="pres">
      <dgm:prSet presAssocID="{6D658A4E-91FE-4807-8AF2-D868C12FA086}" presName="compNode" presStyleCnt="0"/>
      <dgm:spPr/>
    </dgm:pt>
    <dgm:pt modelId="{A6EB050E-7D35-4364-BB89-4749E5F2861D}" type="pres">
      <dgm:prSet presAssocID="{6D658A4E-91FE-4807-8AF2-D868C12FA086}" presName="bgRect" presStyleLbl="bgShp" presStyleIdx="1" presStyleCnt="4"/>
      <dgm:spPr/>
    </dgm:pt>
    <dgm:pt modelId="{A4FC5A45-9CED-48EC-BBF8-7928D7EE720A}" type="pres">
      <dgm:prSet presAssocID="{6D658A4E-91FE-4807-8AF2-D868C12FA08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22550B5-BD6D-4DD0-BC2C-E1C7303FD64D}" type="pres">
      <dgm:prSet presAssocID="{6D658A4E-91FE-4807-8AF2-D868C12FA086}" presName="spaceRect" presStyleCnt="0"/>
      <dgm:spPr/>
    </dgm:pt>
    <dgm:pt modelId="{E50D3AE5-B104-43D1-B700-CC788202BA10}" type="pres">
      <dgm:prSet presAssocID="{6D658A4E-91FE-4807-8AF2-D868C12FA086}" presName="parTx" presStyleLbl="revTx" presStyleIdx="1" presStyleCnt="4">
        <dgm:presLayoutVars>
          <dgm:chMax val="0"/>
          <dgm:chPref val="0"/>
        </dgm:presLayoutVars>
      </dgm:prSet>
      <dgm:spPr/>
    </dgm:pt>
    <dgm:pt modelId="{BE6C4505-22B1-4041-B253-2598DD12CCF6}" type="pres">
      <dgm:prSet presAssocID="{6C900C60-0FE2-446B-8736-DB1157CB17F0}" presName="sibTrans" presStyleCnt="0"/>
      <dgm:spPr/>
    </dgm:pt>
    <dgm:pt modelId="{B61D0DCE-6FBD-4D75-B2CA-A5711C50D3EE}" type="pres">
      <dgm:prSet presAssocID="{4BC4AFA3-821A-4605-ABBA-57D6D31FFB94}" presName="compNode" presStyleCnt="0"/>
      <dgm:spPr/>
    </dgm:pt>
    <dgm:pt modelId="{4553B104-3E94-4792-ADE1-5114A8AB76BB}" type="pres">
      <dgm:prSet presAssocID="{4BC4AFA3-821A-4605-ABBA-57D6D31FFB94}" presName="bgRect" presStyleLbl="bgShp" presStyleIdx="2" presStyleCnt="4"/>
      <dgm:spPr/>
    </dgm:pt>
    <dgm:pt modelId="{77B4A739-0C20-4A16-B56E-5A9F5439C6AD}" type="pres">
      <dgm:prSet presAssocID="{4BC4AFA3-821A-4605-ABBA-57D6D31FFB9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6B6B9461-AD23-4DA1-85A7-92A2573F1D87}" type="pres">
      <dgm:prSet presAssocID="{4BC4AFA3-821A-4605-ABBA-57D6D31FFB94}" presName="spaceRect" presStyleCnt="0"/>
      <dgm:spPr/>
    </dgm:pt>
    <dgm:pt modelId="{87AB7BB6-316F-4C56-BAD2-62C7B27DF837}" type="pres">
      <dgm:prSet presAssocID="{4BC4AFA3-821A-4605-ABBA-57D6D31FFB94}" presName="parTx" presStyleLbl="revTx" presStyleIdx="2" presStyleCnt="4">
        <dgm:presLayoutVars>
          <dgm:chMax val="0"/>
          <dgm:chPref val="0"/>
        </dgm:presLayoutVars>
      </dgm:prSet>
      <dgm:spPr/>
    </dgm:pt>
    <dgm:pt modelId="{BDB8BE36-FADF-4ABB-87A2-B94D4161C7DF}" type="pres">
      <dgm:prSet presAssocID="{998D36DA-250A-4154-A965-18B6BF0EC11B}" presName="sibTrans" presStyleCnt="0"/>
      <dgm:spPr/>
    </dgm:pt>
    <dgm:pt modelId="{24DCF3BB-86AD-4303-BD58-29CB49CE7998}" type="pres">
      <dgm:prSet presAssocID="{5E8768C1-71CA-4E9D-B079-2D198B918EE0}" presName="compNode" presStyleCnt="0"/>
      <dgm:spPr/>
    </dgm:pt>
    <dgm:pt modelId="{68B28943-9B3B-4BAF-A169-5ED3B37682E4}" type="pres">
      <dgm:prSet presAssocID="{5E8768C1-71CA-4E9D-B079-2D198B918EE0}" presName="bgRect" presStyleLbl="bgShp" presStyleIdx="3" presStyleCnt="4"/>
      <dgm:spPr/>
    </dgm:pt>
    <dgm:pt modelId="{148020B9-0D3E-4C3C-9F1D-8D6B687F51DD}" type="pres">
      <dgm:prSet presAssocID="{5E8768C1-71CA-4E9D-B079-2D198B918EE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umbbell"/>
        </a:ext>
      </dgm:extLst>
    </dgm:pt>
    <dgm:pt modelId="{9B888FE1-E880-461F-AF11-D2A1CD036B3C}" type="pres">
      <dgm:prSet presAssocID="{5E8768C1-71CA-4E9D-B079-2D198B918EE0}" presName="spaceRect" presStyleCnt="0"/>
      <dgm:spPr/>
    </dgm:pt>
    <dgm:pt modelId="{51131F7A-B82E-42D8-B1CB-A0D526F183D7}" type="pres">
      <dgm:prSet presAssocID="{5E8768C1-71CA-4E9D-B079-2D198B918EE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CEAF606-040B-4956-B360-D2A08551E50C}" type="presOf" srcId="{6F896C7B-9D61-4E21-895C-49F6C012423D}" destId="{712BD85E-1739-4357-A34C-3D2F51F4621D}" srcOrd="0" destOrd="0" presId="urn:microsoft.com/office/officeart/2018/2/layout/IconVerticalSolidList"/>
    <dgm:cxn modelId="{98B4B811-24C3-4B30-BD60-4011A58ED2D9}" srcId="{6F896C7B-9D61-4E21-895C-49F6C012423D}" destId="{828E89B8-83E5-493E-9E23-A0C176955FC3}" srcOrd="0" destOrd="0" parTransId="{6242D96A-9784-47D5-90BD-47027CEDB9A2}" sibTransId="{6BFDB4AF-E51F-4C12-AB03-9EEAFD2C2737}"/>
    <dgm:cxn modelId="{269C4228-6A18-4704-93C3-A27CA461EE37}" type="presOf" srcId="{6D658A4E-91FE-4807-8AF2-D868C12FA086}" destId="{E50D3AE5-B104-43D1-B700-CC788202BA10}" srcOrd="0" destOrd="0" presId="urn:microsoft.com/office/officeart/2018/2/layout/IconVerticalSolidList"/>
    <dgm:cxn modelId="{CA5DEC31-0513-4110-86D0-B64CC7057F75}" type="presOf" srcId="{4BC4AFA3-821A-4605-ABBA-57D6D31FFB94}" destId="{87AB7BB6-316F-4C56-BAD2-62C7B27DF837}" srcOrd="0" destOrd="0" presId="urn:microsoft.com/office/officeart/2018/2/layout/IconVerticalSolidList"/>
    <dgm:cxn modelId="{17A3303F-532A-4449-A845-540DE4E752B3}" srcId="{6F896C7B-9D61-4E21-895C-49F6C012423D}" destId="{4BC4AFA3-821A-4605-ABBA-57D6D31FFB94}" srcOrd="2" destOrd="0" parTransId="{BC1E6C9F-B228-4BCC-852A-B292FB69C0FC}" sibTransId="{998D36DA-250A-4154-A965-18B6BF0EC11B}"/>
    <dgm:cxn modelId="{2628B14F-6D95-4F4D-8415-CE41AE11A85E}" type="presOf" srcId="{828E89B8-83E5-493E-9E23-A0C176955FC3}" destId="{4A1C4DBE-3F81-4C62-8968-D4A58829374D}" srcOrd="0" destOrd="0" presId="urn:microsoft.com/office/officeart/2018/2/layout/IconVerticalSolidList"/>
    <dgm:cxn modelId="{F2167557-55A8-4991-B166-01EA8016769A}" type="presOf" srcId="{5E8768C1-71CA-4E9D-B079-2D198B918EE0}" destId="{51131F7A-B82E-42D8-B1CB-A0D526F183D7}" srcOrd="0" destOrd="0" presId="urn:microsoft.com/office/officeart/2018/2/layout/IconVerticalSolidList"/>
    <dgm:cxn modelId="{7FE887A3-08FC-45DE-B6AC-98FF5ED78690}" srcId="{6F896C7B-9D61-4E21-895C-49F6C012423D}" destId="{6D658A4E-91FE-4807-8AF2-D868C12FA086}" srcOrd="1" destOrd="0" parTransId="{28E0C650-CFD5-48CE-A8C4-ECA3C05D97D1}" sibTransId="{6C900C60-0FE2-446B-8736-DB1157CB17F0}"/>
    <dgm:cxn modelId="{68A886D7-DBCD-4142-94F3-8C711A53D865}" srcId="{6F896C7B-9D61-4E21-895C-49F6C012423D}" destId="{5E8768C1-71CA-4E9D-B079-2D198B918EE0}" srcOrd="3" destOrd="0" parTransId="{4F63A328-D8F8-499A-8A20-521DDF2438E2}" sibTransId="{B4DF4AED-1199-4169-BB8F-1678A3FB1897}"/>
    <dgm:cxn modelId="{5E653973-4688-4DC3-97E5-5188CE87E57D}" type="presParOf" srcId="{712BD85E-1739-4357-A34C-3D2F51F4621D}" destId="{C7871068-A21B-4DF4-83B5-CE88C8750A21}" srcOrd="0" destOrd="0" presId="urn:microsoft.com/office/officeart/2018/2/layout/IconVerticalSolidList"/>
    <dgm:cxn modelId="{36D942CF-5A74-41D4-88E1-D4B655A1A648}" type="presParOf" srcId="{C7871068-A21B-4DF4-83B5-CE88C8750A21}" destId="{82F2C193-0CA1-4459-B938-7FDE0E3A7205}" srcOrd="0" destOrd="0" presId="urn:microsoft.com/office/officeart/2018/2/layout/IconVerticalSolidList"/>
    <dgm:cxn modelId="{6B8A5326-1B1D-4EF0-8382-AB8CAEA63E39}" type="presParOf" srcId="{C7871068-A21B-4DF4-83B5-CE88C8750A21}" destId="{AA00786E-EA41-475A-A12E-8CA950AABBAB}" srcOrd="1" destOrd="0" presId="urn:microsoft.com/office/officeart/2018/2/layout/IconVerticalSolidList"/>
    <dgm:cxn modelId="{9AD9A03F-BE2F-4829-BF55-5E1A07E2BCA7}" type="presParOf" srcId="{C7871068-A21B-4DF4-83B5-CE88C8750A21}" destId="{AC84A86D-EF73-49F9-846D-295242A4DF42}" srcOrd="2" destOrd="0" presId="urn:microsoft.com/office/officeart/2018/2/layout/IconVerticalSolidList"/>
    <dgm:cxn modelId="{24E93AB8-BF4C-4E19-A59D-A7E0A13B3CAE}" type="presParOf" srcId="{C7871068-A21B-4DF4-83B5-CE88C8750A21}" destId="{4A1C4DBE-3F81-4C62-8968-D4A58829374D}" srcOrd="3" destOrd="0" presId="urn:microsoft.com/office/officeart/2018/2/layout/IconVerticalSolidList"/>
    <dgm:cxn modelId="{DB001286-5D53-4817-AD02-A77C3FA441F7}" type="presParOf" srcId="{712BD85E-1739-4357-A34C-3D2F51F4621D}" destId="{3E58C447-F23D-41C4-949C-45AADA138CDC}" srcOrd="1" destOrd="0" presId="urn:microsoft.com/office/officeart/2018/2/layout/IconVerticalSolidList"/>
    <dgm:cxn modelId="{3DE6CF65-A4F0-4689-A3B0-2064724BBD16}" type="presParOf" srcId="{712BD85E-1739-4357-A34C-3D2F51F4621D}" destId="{C2B586F5-99E3-489F-9430-4E891EDD3E63}" srcOrd="2" destOrd="0" presId="urn:microsoft.com/office/officeart/2018/2/layout/IconVerticalSolidList"/>
    <dgm:cxn modelId="{C20A3B8D-C061-4393-B7DC-93C9C40A5871}" type="presParOf" srcId="{C2B586F5-99E3-489F-9430-4E891EDD3E63}" destId="{A6EB050E-7D35-4364-BB89-4749E5F2861D}" srcOrd="0" destOrd="0" presId="urn:microsoft.com/office/officeart/2018/2/layout/IconVerticalSolidList"/>
    <dgm:cxn modelId="{079E667D-3433-40EA-836B-AC214289C8A3}" type="presParOf" srcId="{C2B586F5-99E3-489F-9430-4E891EDD3E63}" destId="{A4FC5A45-9CED-48EC-BBF8-7928D7EE720A}" srcOrd="1" destOrd="0" presId="urn:microsoft.com/office/officeart/2018/2/layout/IconVerticalSolidList"/>
    <dgm:cxn modelId="{B66DF287-D8CB-4213-8E02-02DA8C651628}" type="presParOf" srcId="{C2B586F5-99E3-489F-9430-4E891EDD3E63}" destId="{B22550B5-BD6D-4DD0-BC2C-E1C7303FD64D}" srcOrd="2" destOrd="0" presId="urn:microsoft.com/office/officeart/2018/2/layout/IconVerticalSolidList"/>
    <dgm:cxn modelId="{75579AB5-0F14-4FA6-992D-2BB11FE596EE}" type="presParOf" srcId="{C2B586F5-99E3-489F-9430-4E891EDD3E63}" destId="{E50D3AE5-B104-43D1-B700-CC788202BA10}" srcOrd="3" destOrd="0" presId="urn:microsoft.com/office/officeart/2018/2/layout/IconVerticalSolidList"/>
    <dgm:cxn modelId="{DC7710CD-7781-4B5A-A28B-B73EB6683D73}" type="presParOf" srcId="{712BD85E-1739-4357-A34C-3D2F51F4621D}" destId="{BE6C4505-22B1-4041-B253-2598DD12CCF6}" srcOrd="3" destOrd="0" presId="urn:microsoft.com/office/officeart/2018/2/layout/IconVerticalSolidList"/>
    <dgm:cxn modelId="{32E21CD5-9C29-4E1B-BDFC-7AE4A7770F38}" type="presParOf" srcId="{712BD85E-1739-4357-A34C-3D2F51F4621D}" destId="{B61D0DCE-6FBD-4D75-B2CA-A5711C50D3EE}" srcOrd="4" destOrd="0" presId="urn:microsoft.com/office/officeart/2018/2/layout/IconVerticalSolidList"/>
    <dgm:cxn modelId="{CFD8F4AA-C421-4F5F-9BC0-9CCEB1B4A7F7}" type="presParOf" srcId="{B61D0DCE-6FBD-4D75-B2CA-A5711C50D3EE}" destId="{4553B104-3E94-4792-ADE1-5114A8AB76BB}" srcOrd="0" destOrd="0" presId="urn:microsoft.com/office/officeart/2018/2/layout/IconVerticalSolidList"/>
    <dgm:cxn modelId="{E5721A66-A38C-463E-B82F-0F32CE3249BF}" type="presParOf" srcId="{B61D0DCE-6FBD-4D75-B2CA-A5711C50D3EE}" destId="{77B4A739-0C20-4A16-B56E-5A9F5439C6AD}" srcOrd="1" destOrd="0" presId="urn:microsoft.com/office/officeart/2018/2/layout/IconVerticalSolidList"/>
    <dgm:cxn modelId="{569DBC5F-849C-44D1-8942-7238138AD34B}" type="presParOf" srcId="{B61D0DCE-6FBD-4D75-B2CA-A5711C50D3EE}" destId="{6B6B9461-AD23-4DA1-85A7-92A2573F1D87}" srcOrd="2" destOrd="0" presId="urn:microsoft.com/office/officeart/2018/2/layout/IconVerticalSolidList"/>
    <dgm:cxn modelId="{A3640333-176E-4C80-81F4-164B73A588D3}" type="presParOf" srcId="{B61D0DCE-6FBD-4D75-B2CA-A5711C50D3EE}" destId="{87AB7BB6-316F-4C56-BAD2-62C7B27DF837}" srcOrd="3" destOrd="0" presId="urn:microsoft.com/office/officeart/2018/2/layout/IconVerticalSolidList"/>
    <dgm:cxn modelId="{57FEF7B4-4BFA-4CDE-96C6-A076DC178F62}" type="presParOf" srcId="{712BD85E-1739-4357-A34C-3D2F51F4621D}" destId="{BDB8BE36-FADF-4ABB-87A2-B94D4161C7DF}" srcOrd="5" destOrd="0" presId="urn:microsoft.com/office/officeart/2018/2/layout/IconVerticalSolidList"/>
    <dgm:cxn modelId="{BAFFC833-155C-4D78-A11F-0E766F9E22E3}" type="presParOf" srcId="{712BD85E-1739-4357-A34C-3D2F51F4621D}" destId="{24DCF3BB-86AD-4303-BD58-29CB49CE7998}" srcOrd="6" destOrd="0" presId="urn:microsoft.com/office/officeart/2018/2/layout/IconVerticalSolidList"/>
    <dgm:cxn modelId="{2340F8A3-4950-4C4D-BEA4-16DACBA975F2}" type="presParOf" srcId="{24DCF3BB-86AD-4303-BD58-29CB49CE7998}" destId="{68B28943-9B3B-4BAF-A169-5ED3B37682E4}" srcOrd="0" destOrd="0" presId="urn:microsoft.com/office/officeart/2018/2/layout/IconVerticalSolidList"/>
    <dgm:cxn modelId="{61818AF1-3D53-4CDB-B936-5B7D6B254395}" type="presParOf" srcId="{24DCF3BB-86AD-4303-BD58-29CB49CE7998}" destId="{148020B9-0D3E-4C3C-9F1D-8D6B687F51DD}" srcOrd="1" destOrd="0" presId="urn:microsoft.com/office/officeart/2018/2/layout/IconVerticalSolidList"/>
    <dgm:cxn modelId="{C40DCD3F-7555-40AE-BDA1-A9A51A5831B1}" type="presParOf" srcId="{24DCF3BB-86AD-4303-BD58-29CB49CE7998}" destId="{9B888FE1-E880-461F-AF11-D2A1CD036B3C}" srcOrd="2" destOrd="0" presId="urn:microsoft.com/office/officeart/2018/2/layout/IconVerticalSolidList"/>
    <dgm:cxn modelId="{EFAAC2D9-3EAE-4847-8DFE-936F8903E86D}" type="presParOf" srcId="{24DCF3BB-86AD-4303-BD58-29CB49CE7998}" destId="{51131F7A-B82E-42D8-B1CB-A0D526F183D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5E081CA5-5BA5-4F70-B8CB-CDFBC77935EE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BA77CF5-498C-C947-A67F-80F8FA68B15D}">
      <dgm:prSet/>
      <dgm:spPr/>
      <dgm:t>
        <a:bodyPr/>
        <a:lstStyle/>
        <a:p>
          <a:r>
            <a:rPr lang="en-US" dirty="0"/>
            <a:t>Key Findings</a:t>
          </a:r>
        </a:p>
      </dgm:t>
    </dgm:pt>
    <dgm:pt modelId="{2049E515-7D41-9646-9CF3-C3CE7070A1D9}" type="parTrans" cxnId="{B74E123E-801B-5B4A-8168-24865447B4D6}">
      <dgm:prSet/>
      <dgm:spPr/>
      <dgm:t>
        <a:bodyPr/>
        <a:lstStyle/>
        <a:p>
          <a:endParaRPr lang="en-US"/>
        </a:p>
      </dgm:t>
    </dgm:pt>
    <dgm:pt modelId="{FA4DD380-B54D-F847-AC7A-272530ECA532}" type="sibTrans" cxnId="{B74E123E-801B-5B4A-8168-24865447B4D6}">
      <dgm:prSet/>
      <dgm:spPr/>
      <dgm:t>
        <a:bodyPr/>
        <a:lstStyle/>
        <a:p>
          <a:endParaRPr lang="en-US"/>
        </a:p>
      </dgm:t>
    </dgm:pt>
    <dgm:pt modelId="{1FEBBC01-1040-A54F-8C3A-7DE4327E8089}">
      <dgm:prSet custT="1"/>
      <dgm:spPr/>
      <dgm:t>
        <a:bodyPr/>
        <a:lstStyle/>
        <a:p>
          <a:pPr algn="l">
            <a:lnSpc>
              <a:spcPct val="100000"/>
            </a:lnSpc>
          </a:pPr>
          <a:r>
            <a:rPr lang="en-US" sz="2400" dirty="0"/>
            <a:t>Debt-to-income is the strongest risk factor  
Longer employment reduces default risk
Zone shows strong geographic variation  
Logistic regression provides the best balance </a:t>
          </a:r>
        </a:p>
      </dgm:t>
    </dgm:pt>
    <dgm:pt modelId="{F7CE9BB4-F84D-9D49-8F7C-7472595E2FB8}" type="parTrans" cxnId="{C3E9D0D4-C7BD-344F-94CF-577C77496F45}">
      <dgm:prSet/>
      <dgm:spPr/>
      <dgm:t>
        <a:bodyPr/>
        <a:lstStyle/>
        <a:p>
          <a:endParaRPr lang="en-US"/>
        </a:p>
      </dgm:t>
    </dgm:pt>
    <dgm:pt modelId="{7ADC13EE-7430-1B46-8EFB-EF449161B650}" type="sibTrans" cxnId="{C3E9D0D4-C7BD-344F-94CF-577C77496F45}">
      <dgm:prSet/>
      <dgm:spPr/>
      <dgm:t>
        <a:bodyPr/>
        <a:lstStyle/>
        <a:p>
          <a:endParaRPr lang="en-US"/>
        </a:p>
      </dgm:t>
    </dgm:pt>
    <dgm:pt modelId="{C2B92B10-7555-474C-9584-A6105FD835D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Recommendations</a:t>
          </a:r>
        </a:p>
      </dgm:t>
    </dgm:pt>
    <dgm:pt modelId="{3FF9A9BF-6DDE-9347-93BA-559871326F54}" type="parTrans" cxnId="{D2A8056C-E01E-A54D-BD57-DB0C441E84E8}">
      <dgm:prSet/>
      <dgm:spPr/>
      <dgm:t>
        <a:bodyPr/>
        <a:lstStyle/>
        <a:p>
          <a:endParaRPr lang="en-US"/>
        </a:p>
      </dgm:t>
    </dgm:pt>
    <dgm:pt modelId="{5C9D180B-59C0-A741-8986-72B604F2DC07}" type="sibTrans" cxnId="{D2A8056C-E01E-A54D-BD57-DB0C441E84E8}">
      <dgm:prSet/>
      <dgm:spPr/>
      <dgm:t>
        <a:bodyPr/>
        <a:lstStyle/>
        <a:p>
          <a:endParaRPr lang="en-US"/>
        </a:p>
      </dgm:t>
    </dgm:pt>
    <dgm:pt modelId="{9E11194E-2B57-5042-B1EA-2DCA18C05AC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Use logistic regression as core model  
Monitor high debt-to-income customers  
Improve credit risk segmentation by zone  
Enhance customer experience (speed, service) </a:t>
          </a:r>
        </a:p>
      </dgm:t>
    </dgm:pt>
    <dgm:pt modelId="{D75B0957-70A8-6D4D-8DC6-1D5A36E9ECD9}" type="parTrans" cxnId="{FAB81694-FBBC-4240-9420-34F12D42A4CB}">
      <dgm:prSet/>
      <dgm:spPr/>
      <dgm:t>
        <a:bodyPr/>
        <a:lstStyle/>
        <a:p>
          <a:endParaRPr lang="en-US"/>
        </a:p>
      </dgm:t>
    </dgm:pt>
    <dgm:pt modelId="{0822B3F5-3BF6-CC47-8353-7F849E04907D}" type="sibTrans" cxnId="{FAB81694-FBBC-4240-9420-34F12D42A4CB}">
      <dgm:prSet/>
      <dgm:spPr/>
      <dgm:t>
        <a:bodyPr/>
        <a:lstStyle/>
        <a:p>
          <a:endParaRPr lang="en-US"/>
        </a:p>
      </dgm:t>
    </dgm:pt>
    <dgm:pt modelId="{102CC6A9-A949-6043-90A8-03E9F3C662DF}" type="pres">
      <dgm:prSet presAssocID="{5E081CA5-5BA5-4F70-B8CB-CDFBC77935EE}" presName="Name0" presStyleCnt="0">
        <dgm:presLayoutVars>
          <dgm:dir/>
          <dgm:animLvl val="lvl"/>
          <dgm:resizeHandles val="exact"/>
        </dgm:presLayoutVars>
      </dgm:prSet>
      <dgm:spPr/>
    </dgm:pt>
    <dgm:pt modelId="{33E96458-E280-4D45-9847-21FECAB3DEF1}" type="pres">
      <dgm:prSet presAssocID="{DBA77CF5-498C-C947-A67F-80F8FA68B15D}" presName="composite" presStyleCnt="0"/>
      <dgm:spPr/>
    </dgm:pt>
    <dgm:pt modelId="{5647DAEB-4643-964A-A6C9-857C3D576121}" type="pres">
      <dgm:prSet presAssocID="{DBA77CF5-498C-C947-A67F-80F8FA68B15D}" presName="parTx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BEAF674A-6F20-0047-88C7-3750008A0096}" type="pres">
      <dgm:prSet presAssocID="{DBA77CF5-498C-C947-A67F-80F8FA68B15D}" presName="desTx" presStyleLbl="revTx" presStyleIdx="0" presStyleCnt="2">
        <dgm:presLayoutVars>
          <dgm:bulletEnabled val="1"/>
        </dgm:presLayoutVars>
      </dgm:prSet>
      <dgm:spPr/>
    </dgm:pt>
    <dgm:pt modelId="{A4A64BE1-29F0-8D4B-A8B1-FE4F41076E49}" type="pres">
      <dgm:prSet presAssocID="{FA4DD380-B54D-F847-AC7A-272530ECA532}" presName="space" presStyleCnt="0"/>
      <dgm:spPr/>
    </dgm:pt>
    <dgm:pt modelId="{C87EA58D-1606-A441-9D16-9516C9BDA047}" type="pres">
      <dgm:prSet presAssocID="{C2B92B10-7555-474C-9584-A6105FD835DA}" presName="composite" presStyleCnt="0"/>
      <dgm:spPr/>
    </dgm:pt>
    <dgm:pt modelId="{66029FE8-19B8-3A4B-A6E4-7B26B3E1A7CA}" type="pres">
      <dgm:prSet presAssocID="{C2B92B10-7555-474C-9584-A6105FD835DA}" presName="parTx" presStyleLbl="node1" presStyleIdx="1" presStyleCnt="2">
        <dgm:presLayoutVars>
          <dgm:chMax val="0"/>
          <dgm:chPref val="0"/>
          <dgm:bulletEnabled val="1"/>
        </dgm:presLayoutVars>
      </dgm:prSet>
      <dgm:spPr/>
    </dgm:pt>
    <dgm:pt modelId="{737326F0-C167-9046-914C-387D10594F20}" type="pres">
      <dgm:prSet presAssocID="{C2B92B10-7555-474C-9584-A6105FD835DA}" presName="desTx" presStyleLbl="revTx" presStyleIdx="1" presStyleCnt="2">
        <dgm:presLayoutVars>
          <dgm:bulletEnabled val="1"/>
        </dgm:presLayoutVars>
      </dgm:prSet>
      <dgm:spPr/>
    </dgm:pt>
  </dgm:ptLst>
  <dgm:cxnLst>
    <dgm:cxn modelId="{437AEC23-6C8A-4F41-9888-D0F3DC87DC33}" type="presOf" srcId="{9E11194E-2B57-5042-B1EA-2DCA18C05AC5}" destId="{737326F0-C167-9046-914C-387D10594F20}" srcOrd="0" destOrd="0" presId="urn:microsoft.com/office/officeart/2005/8/layout/chevron1"/>
    <dgm:cxn modelId="{B74E123E-801B-5B4A-8168-24865447B4D6}" srcId="{5E081CA5-5BA5-4F70-B8CB-CDFBC77935EE}" destId="{DBA77CF5-498C-C947-A67F-80F8FA68B15D}" srcOrd="0" destOrd="0" parTransId="{2049E515-7D41-9646-9CF3-C3CE7070A1D9}" sibTransId="{FA4DD380-B54D-F847-AC7A-272530ECA532}"/>
    <dgm:cxn modelId="{D2A8056C-E01E-A54D-BD57-DB0C441E84E8}" srcId="{5E081CA5-5BA5-4F70-B8CB-CDFBC77935EE}" destId="{C2B92B10-7555-474C-9584-A6105FD835DA}" srcOrd="1" destOrd="0" parTransId="{3FF9A9BF-6DDE-9347-93BA-559871326F54}" sibTransId="{5C9D180B-59C0-A741-8986-72B604F2DC07}"/>
    <dgm:cxn modelId="{18B53376-BAB6-C346-A508-60B575EFDC39}" type="presOf" srcId="{1FEBBC01-1040-A54F-8C3A-7DE4327E8089}" destId="{BEAF674A-6F20-0047-88C7-3750008A0096}" srcOrd="0" destOrd="0" presId="urn:microsoft.com/office/officeart/2005/8/layout/chevron1"/>
    <dgm:cxn modelId="{4590567E-1A7C-DA48-BE1E-E99F5F303A0D}" type="presOf" srcId="{C2B92B10-7555-474C-9584-A6105FD835DA}" destId="{66029FE8-19B8-3A4B-A6E4-7B26B3E1A7CA}" srcOrd="0" destOrd="0" presId="urn:microsoft.com/office/officeart/2005/8/layout/chevron1"/>
    <dgm:cxn modelId="{FAB81694-FBBC-4240-9420-34F12D42A4CB}" srcId="{C2B92B10-7555-474C-9584-A6105FD835DA}" destId="{9E11194E-2B57-5042-B1EA-2DCA18C05AC5}" srcOrd="0" destOrd="0" parTransId="{D75B0957-70A8-6D4D-8DC6-1D5A36E9ECD9}" sibTransId="{0822B3F5-3BF6-CC47-8353-7F849E04907D}"/>
    <dgm:cxn modelId="{C3E9D0D4-C7BD-344F-94CF-577C77496F45}" srcId="{DBA77CF5-498C-C947-A67F-80F8FA68B15D}" destId="{1FEBBC01-1040-A54F-8C3A-7DE4327E8089}" srcOrd="0" destOrd="0" parTransId="{F7CE9BB4-F84D-9D49-8F7C-7472595E2FB8}" sibTransId="{7ADC13EE-7430-1B46-8EFB-EF449161B650}"/>
    <dgm:cxn modelId="{72F276E1-A907-2B48-8FA8-308AD631DB20}" type="presOf" srcId="{5E081CA5-5BA5-4F70-B8CB-CDFBC77935EE}" destId="{102CC6A9-A949-6043-90A8-03E9F3C662DF}" srcOrd="0" destOrd="0" presId="urn:microsoft.com/office/officeart/2005/8/layout/chevron1"/>
    <dgm:cxn modelId="{251902E6-AA53-0844-A9D5-AA2E52FB9B56}" type="presOf" srcId="{DBA77CF5-498C-C947-A67F-80F8FA68B15D}" destId="{5647DAEB-4643-964A-A6C9-857C3D576121}" srcOrd="0" destOrd="0" presId="urn:microsoft.com/office/officeart/2005/8/layout/chevron1"/>
    <dgm:cxn modelId="{DAC1B2E0-4532-834F-991B-DCD54AFBD83C}" type="presParOf" srcId="{102CC6A9-A949-6043-90A8-03E9F3C662DF}" destId="{33E96458-E280-4D45-9847-21FECAB3DEF1}" srcOrd="0" destOrd="0" presId="urn:microsoft.com/office/officeart/2005/8/layout/chevron1"/>
    <dgm:cxn modelId="{95E85D16-D864-5A41-90FB-92C6FA46BC79}" type="presParOf" srcId="{33E96458-E280-4D45-9847-21FECAB3DEF1}" destId="{5647DAEB-4643-964A-A6C9-857C3D576121}" srcOrd="0" destOrd="0" presId="urn:microsoft.com/office/officeart/2005/8/layout/chevron1"/>
    <dgm:cxn modelId="{2B839C4F-A1A7-3149-B71C-DE6CAB42AE38}" type="presParOf" srcId="{33E96458-E280-4D45-9847-21FECAB3DEF1}" destId="{BEAF674A-6F20-0047-88C7-3750008A0096}" srcOrd="1" destOrd="0" presId="urn:microsoft.com/office/officeart/2005/8/layout/chevron1"/>
    <dgm:cxn modelId="{55AFF334-52BD-8B46-AE48-BE370DAEF0D4}" type="presParOf" srcId="{102CC6A9-A949-6043-90A8-03E9F3C662DF}" destId="{A4A64BE1-29F0-8D4B-A8B1-FE4F41076E49}" srcOrd="1" destOrd="0" presId="urn:microsoft.com/office/officeart/2005/8/layout/chevron1"/>
    <dgm:cxn modelId="{D1CA53B9-75C0-7344-88F1-84C0BDE18F32}" type="presParOf" srcId="{102CC6A9-A949-6043-90A8-03E9F3C662DF}" destId="{C87EA58D-1606-A441-9D16-9516C9BDA047}" srcOrd="2" destOrd="0" presId="urn:microsoft.com/office/officeart/2005/8/layout/chevron1"/>
    <dgm:cxn modelId="{C7763268-2E28-2F4A-BF8C-C8C22D58D9D1}" type="presParOf" srcId="{C87EA58D-1606-A441-9D16-9516C9BDA047}" destId="{66029FE8-19B8-3A4B-A6E4-7B26B3E1A7CA}" srcOrd="0" destOrd="0" presId="urn:microsoft.com/office/officeart/2005/8/layout/chevron1"/>
    <dgm:cxn modelId="{62D5E55B-C1B6-5246-9606-725D36A47E6B}" type="presParOf" srcId="{C87EA58D-1606-A441-9D16-9516C9BDA047}" destId="{737326F0-C167-9046-914C-387D10594F20}" srcOrd="1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A4163E-5F76-49DA-92B1-DE825823D9EE}">
      <dsp:nvSpPr>
        <dsp:cNvPr id="0" name=""/>
        <dsp:cNvSpPr/>
      </dsp:nvSpPr>
      <dsp:spPr>
        <a:xfrm>
          <a:off x="0" y="471"/>
          <a:ext cx="10515600" cy="110236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C1D778-C0DB-47D3-A90D-C4E3A0B9DC5E}">
      <dsp:nvSpPr>
        <dsp:cNvPr id="0" name=""/>
        <dsp:cNvSpPr/>
      </dsp:nvSpPr>
      <dsp:spPr>
        <a:xfrm>
          <a:off x="333464" y="248502"/>
          <a:ext cx="606299" cy="6062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474B3F-5905-4129-B666-014DDB58C5BF}">
      <dsp:nvSpPr>
        <dsp:cNvPr id="0" name=""/>
        <dsp:cNvSpPr/>
      </dsp:nvSpPr>
      <dsp:spPr>
        <a:xfrm>
          <a:off x="1273229" y="471"/>
          <a:ext cx="9242370" cy="1102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667" tIns="116667" rIns="116667" bIns="11666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Credit scoring is a standard risk assessment practice in UK banking.</a:t>
          </a:r>
        </a:p>
      </dsp:txBody>
      <dsp:txXfrm>
        <a:off x="1273229" y="471"/>
        <a:ext cx="9242370" cy="1102363"/>
      </dsp:txXfrm>
    </dsp:sp>
    <dsp:sp modelId="{AB343A72-43CD-4DB2-A546-26681672D5AA}">
      <dsp:nvSpPr>
        <dsp:cNvPr id="0" name=""/>
        <dsp:cNvSpPr/>
      </dsp:nvSpPr>
      <dsp:spPr>
        <a:xfrm>
          <a:off x="0" y="1378424"/>
          <a:ext cx="10515600" cy="110236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E328D9-ED29-4425-8DA6-DFC8D9A841A5}">
      <dsp:nvSpPr>
        <dsp:cNvPr id="0" name=""/>
        <dsp:cNvSpPr/>
      </dsp:nvSpPr>
      <dsp:spPr>
        <a:xfrm>
          <a:off x="333464" y="1626456"/>
          <a:ext cx="606299" cy="6062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2DCA44-4F45-42AE-847F-F8AE30D1C1FB}">
      <dsp:nvSpPr>
        <dsp:cNvPr id="0" name=""/>
        <dsp:cNvSpPr/>
      </dsp:nvSpPr>
      <dsp:spPr>
        <a:xfrm>
          <a:off x="1273229" y="1378424"/>
          <a:ext cx="9242370" cy="1102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667" tIns="116667" rIns="116667" bIns="11666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Demographic and financial data are analyzed to identify default drivers.</a:t>
          </a:r>
        </a:p>
      </dsp:txBody>
      <dsp:txXfrm>
        <a:off x="1273229" y="1378424"/>
        <a:ext cx="9242370" cy="1102363"/>
      </dsp:txXfrm>
    </dsp:sp>
    <dsp:sp modelId="{38EB7959-A65D-43EC-8D4A-C66ED5D0B653}">
      <dsp:nvSpPr>
        <dsp:cNvPr id="0" name=""/>
        <dsp:cNvSpPr/>
      </dsp:nvSpPr>
      <dsp:spPr>
        <a:xfrm>
          <a:off x="0" y="2756378"/>
          <a:ext cx="10515600" cy="110236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6DCFD5-2C63-44C2-87F8-9EC8402678CA}">
      <dsp:nvSpPr>
        <dsp:cNvPr id="0" name=""/>
        <dsp:cNvSpPr/>
      </dsp:nvSpPr>
      <dsp:spPr>
        <a:xfrm>
          <a:off x="333464" y="3004410"/>
          <a:ext cx="606299" cy="60629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3C4E5C-19FA-4DB0-8C87-B5290F625745}">
      <dsp:nvSpPr>
        <dsp:cNvPr id="0" name=""/>
        <dsp:cNvSpPr/>
      </dsp:nvSpPr>
      <dsp:spPr>
        <a:xfrm>
          <a:off x="1273229" y="2756378"/>
          <a:ext cx="9242370" cy="1102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667" tIns="116667" rIns="116667" bIns="11666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The project uses real customer data including credit details, profiles, and feedback.</a:t>
          </a:r>
        </a:p>
      </dsp:txBody>
      <dsp:txXfrm>
        <a:off x="1273229" y="2756378"/>
        <a:ext cx="9242370" cy="11023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3F1BBF-1FCB-8F43-A267-F6420D40FE5C}">
      <dsp:nvSpPr>
        <dsp:cNvPr id="0" name=""/>
        <dsp:cNvSpPr/>
      </dsp:nvSpPr>
      <dsp:spPr>
        <a:xfrm>
          <a:off x="2596" y="286158"/>
          <a:ext cx="3927043" cy="971517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12700" rIns="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Debt-to-income shows largest variability</a:t>
          </a:r>
        </a:p>
      </dsp:txBody>
      <dsp:txXfrm>
        <a:off x="488355" y="286158"/>
        <a:ext cx="2955526" cy="971517"/>
      </dsp:txXfrm>
    </dsp:sp>
    <dsp:sp modelId="{7ABCB6D8-447A-F84A-B23C-3402CEE4D7E6}">
      <dsp:nvSpPr>
        <dsp:cNvPr id="0" name=""/>
        <dsp:cNvSpPr/>
      </dsp:nvSpPr>
      <dsp:spPr>
        <a:xfrm>
          <a:off x="2596" y="1420035"/>
          <a:ext cx="3927043" cy="971517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12700" rIns="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Credit debt has moderate spread</a:t>
          </a:r>
        </a:p>
      </dsp:txBody>
      <dsp:txXfrm>
        <a:off x="488355" y="1420035"/>
        <a:ext cx="2955526" cy="971517"/>
      </dsp:txXfrm>
    </dsp:sp>
    <dsp:sp modelId="{8B5C5585-A2CA-6640-B3C9-F4ACFC871C4F}">
      <dsp:nvSpPr>
        <dsp:cNvPr id="0" name=""/>
        <dsp:cNvSpPr/>
      </dsp:nvSpPr>
      <dsp:spPr>
        <a:xfrm>
          <a:off x="2596" y="2553911"/>
          <a:ext cx="3927043" cy="971517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12700" rIns="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Other debt is more stable</a:t>
          </a:r>
        </a:p>
      </dsp:txBody>
      <dsp:txXfrm>
        <a:off x="488355" y="2553911"/>
        <a:ext cx="2955526" cy="97151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77E85C-95BA-AE47-BEE2-04D823CEFE14}">
      <dsp:nvSpPr>
        <dsp:cNvPr id="0" name=""/>
        <dsp:cNvSpPr/>
      </dsp:nvSpPr>
      <dsp:spPr>
        <a:xfrm>
          <a:off x="1152" y="389302"/>
          <a:ext cx="2311725" cy="924690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10795" rIns="0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Higher debt-to-income</a:t>
          </a:r>
          <a:endParaRPr lang="en-UA" sz="1700" kern="1200" dirty="0"/>
        </a:p>
      </dsp:txBody>
      <dsp:txXfrm>
        <a:off x="463497" y="389302"/>
        <a:ext cx="1387035" cy="924690"/>
      </dsp:txXfrm>
    </dsp:sp>
    <dsp:sp modelId="{3BBE7E61-4981-864F-85DB-9CE08A1758A3}">
      <dsp:nvSpPr>
        <dsp:cNvPr id="0" name=""/>
        <dsp:cNvSpPr/>
      </dsp:nvSpPr>
      <dsp:spPr>
        <a:xfrm>
          <a:off x="2012353" y="467900"/>
          <a:ext cx="1918731" cy="767492"/>
        </a:xfrm>
        <a:prstGeom prst="chevron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10795" rIns="0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higher default risk</a:t>
          </a:r>
        </a:p>
      </dsp:txBody>
      <dsp:txXfrm>
        <a:off x="2396099" y="467900"/>
        <a:ext cx="1151239" cy="767492"/>
      </dsp:txXfrm>
    </dsp:sp>
    <dsp:sp modelId="{76A0EA3C-8A88-C94B-A789-9E5A9ED92B01}">
      <dsp:nvSpPr>
        <dsp:cNvPr id="0" name=""/>
        <dsp:cNvSpPr/>
      </dsp:nvSpPr>
      <dsp:spPr>
        <a:xfrm>
          <a:off x="1152" y="1443448"/>
          <a:ext cx="2311725" cy="924690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10795" rIns="0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Employment duration</a:t>
          </a:r>
        </a:p>
      </dsp:txBody>
      <dsp:txXfrm>
        <a:off x="463497" y="1443448"/>
        <a:ext cx="1387035" cy="924690"/>
      </dsp:txXfrm>
    </dsp:sp>
    <dsp:sp modelId="{99B1BF00-49A4-064B-9564-DAC125C2C563}">
      <dsp:nvSpPr>
        <dsp:cNvPr id="0" name=""/>
        <dsp:cNvSpPr/>
      </dsp:nvSpPr>
      <dsp:spPr>
        <a:xfrm>
          <a:off x="2012353" y="1522047"/>
          <a:ext cx="1918731" cy="767492"/>
        </a:xfrm>
        <a:prstGeom prst="chevron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10795" rIns="0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lower risk</a:t>
          </a:r>
        </a:p>
      </dsp:txBody>
      <dsp:txXfrm>
        <a:off x="2396099" y="1522047"/>
        <a:ext cx="1151239" cy="767492"/>
      </dsp:txXfrm>
    </dsp:sp>
    <dsp:sp modelId="{05FBA630-8CC3-ED44-8CDB-0BDA18EC0F42}">
      <dsp:nvSpPr>
        <dsp:cNvPr id="0" name=""/>
        <dsp:cNvSpPr/>
      </dsp:nvSpPr>
      <dsp:spPr>
        <a:xfrm>
          <a:off x="1152" y="2497595"/>
          <a:ext cx="2311725" cy="92469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10795" rIns="0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Other debts</a:t>
          </a:r>
        </a:p>
      </dsp:txBody>
      <dsp:txXfrm>
        <a:off x="463497" y="2497595"/>
        <a:ext cx="1387035" cy="924690"/>
      </dsp:txXfrm>
    </dsp:sp>
    <dsp:sp modelId="{D2D55F8E-BD0B-954F-86E6-381943C1961A}">
      <dsp:nvSpPr>
        <dsp:cNvPr id="0" name=""/>
        <dsp:cNvSpPr/>
      </dsp:nvSpPr>
      <dsp:spPr>
        <a:xfrm>
          <a:off x="2012353" y="2576194"/>
          <a:ext cx="1918731" cy="767492"/>
        </a:xfrm>
        <a:prstGeom prst="chevron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10795" rIns="0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show weaker separation</a:t>
          </a:r>
        </a:p>
      </dsp:txBody>
      <dsp:txXfrm>
        <a:off x="2396099" y="2576194"/>
        <a:ext cx="1151239" cy="76749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82F921-86CC-1B4C-9B55-077D0CDD4C2D}">
      <dsp:nvSpPr>
        <dsp:cNvPr id="0" name=""/>
        <dsp:cNvSpPr/>
      </dsp:nvSpPr>
      <dsp:spPr>
        <a:xfrm>
          <a:off x="0" y="1436901"/>
          <a:ext cx="4771178" cy="19136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70296" tIns="562356" rIns="370296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Zone 2 shows highest default (&gt;25%), zone 1 lowest (&lt;8%)</a:t>
          </a:r>
          <a:endParaRPr lang="en-UA" sz="2700" kern="1200" dirty="0"/>
        </a:p>
      </dsp:txBody>
      <dsp:txXfrm>
        <a:off x="0" y="1436901"/>
        <a:ext cx="4771178" cy="1913625"/>
      </dsp:txXfrm>
    </dsp:sp>
    <dsp:sp modelId="{1D96B2F9-C387-FE4B-AE7D-9545CBBE4333}">
      <dsp:nvSpPr>
        <dsp:cNvPr id="0" name=""/>
        <dsp:cNvSpPr/>
      </dsp:nvSpPr>
      <dsp:spPr>
        <a:xfrm>
          <a:off x="238558" y="1038381"/>
          <a:ext cx="3339824" cy="79703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6237" tIns="0" rIns="126237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Bad Rate by zone</a:t>
          </a:r>
          <a:endParaRPr lang="en-UA" sz="2700" kern="1200"/>
        </a:p>
      </dsp:txBody>
      <dsp:txXfrm>
        <a:off x="277466" y="1077289"/>
        <a:ext cx="3262008" cy="71922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EF395D-12B1-4840-B5A7-84C0FB652BA3}">
      <dsp:nvSpPr>
        <dsp:cNvPr id="0" name=""/>
        <dsp:cNvSpPr/>
      </dsp:nvSpPr>
      <dsp:spPr>
        <a:xfrm>
          <a:off x="134978" y="1408"/>
          <a:ext cx="2154282" cy="861712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Singles</a:t>
          </a:r>
          <a:endParaRPr lang="en-UA" sz="1500" kern="1200" dirty="0"/>
        </a:p>
      </dsp:txBody>
      <dsp:txXfrm>
        <a:off x="565834" y="1408"/>
        <a:ext cx="1292570" cy="861712"/>
      </dsp:txXfrm>
    </dsp:sp>
    <dsp:sp modelId="{1267FF52-2EDA-F043-B60F-7C1AFE0E740B}">
      <dsp:nvSpPr>
        <dsp:cNvPr id="0" name=""/>
        <dsp:cNvSpPr/>
      </dsp:nvSpPr>
      <dsp:spPr>
        <a:xfrm>
          <a:off x="2009204" y="74654"/>
          <a:ext cx="1788054" cy="715221"/>
        </a:xfrm>
        <a:prstGeom prst="chevron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slightly higher default</a:t>
          </a:r>
        </a:p>
      </dsp:txBody>
      <dsp:txXfrm>
        <a:off x="2366815" y="74654"/>
        <a:ext cx="1072833" cy="715221"/>
      </dsp:txXfrm>
    </dsp:sp>
    <dsp:sp modelId="{DCE3BE12-40FE-D044-B686-CADB638CFCC2}">
      <dsp:nvSpPr>
        <dsp:cNvPr id="0" name=""/>
        <dsp:cNvSpPr/>
      </dsp:nvSpPr>
      <dsp:spPr>
        <a:xfrm>
          <a:off x="134978" y="983761"/>
          <a:ext cx="2154282" cy="861712"/>
        </a:xfrm>
        <a:prstGeom prst="chevron">
          <a:avLst/>
        </a:prstGeom>
        <a:solidFill>
          <a:schemeClr val="accent4">
            <a:hueOff val="407026"/>
            <a:satOff val="-15508"/>
            <a:lumOff val="77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Vehicle ownership</a:t>
          </a:r>
          <a:endParaRPr lang="en-UA" sz="1500" kern="1200" dirty="0"/>
        </a:p>
      </dsp:txBody>
      <dsp:txXfrm>
        <a:off x="565834" y="983761"/>
        <a:ext cx="1292570" cy="861712"/>
      </dsp:txXfrm>
    </dsp:sp>
    <dsp:sp modelId="{ACBBB435-80DC-CA41-A5B3-D5885F28DEE4}">
      <dsp:nvSpPr>
        <dsp:cNvPr id="0" name=""/>
        <dsp:cNvSpPr/>
      </dsp:nvSpPr>
      <dsp:spPr>
        <a:xfrm>
          <a:off x="2009204" y="1057006"/>
          <a:ext cx="1788054" cy="715221"/>
        </a:xfrm>
        <a:prstGeom prst="chevron">
          <a:avLst/>
        </a:prstGeom>
        <a:solidFill>
          <a:schemeClr val="accent4">
            <a:tint val="40000"/>
            <a:alpha val="90000"/>
            <a:hueOff val="682369"/>
            <a:satOff val="5958"/>
            <a:lumOff val="1107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682369"/>
              <a:satOff val="5958"/>
              <a:lumOff val="11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minimal effect on default rate</a:t>
          </a:r>
          <a:endParaRPr lang="en-UA" sz="1400" kern="1200" dirty="0"/>
        </a:p>
      </dsp:txBody>
      <dsp:txXfrm>
        <a:off x="2366815" y="1057006"/>
        <a:ext cx="1072833" cy="715221"/>
      </dsp:txXfrm>
    </dsp:sp>
    <dsp:sp modelId="{6F51940A-20F3-8341-88A3-129E2565BD0B}">
      <dsp:nvSpPr>
        <dsp:cNvPr id="0" name=""/>
        <dsp:cNvSpPr/>
      </dsp:nvSpPr>
      <dsp:spPr>
        <a:xfrm>
          <a:off x="134978" y="1966113"/>
          <a:ext cx="2154282" cy="861712"/>
        </a:xfrm>
        <a:prstGeom prst="chevron">
          <a:avLst/>
        </a:prstGeom>
        <a:solidFill>
          <a:schemeClr val="accent4">
            <a:hueOff val="814052"/>
            <a:satOff val="-31015"/>
            <a:lumOff val="1542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Having children</a:t>
          </a:r>
          <a:endParaRPr lang="en-UA" sz="1500" kern="1200" dirty="0"/>
        </a:p>
      </dsp:txBody>
      <dsp:txXfrm>
        <a:off x="565834" y="1966113"/>
        <a:ext cx="1292570" cy="861712"/>
      </dsp:txXfrm>
    </dsp:sp>
    <dsp:sp modelId="{CA18CE7A-0ECE-E84A-B1EC-FCF7742C5630}">
      <dsp:nvSpPr>
        <dsp:cNvPr id="0" name=""/>
        <dsp:cNvSpPr/>
      </dsp:nvSpPr>
      <dsp:spPr>
        <a:xfrm>
          <a:off x="2009204" y="2039359"/>
          <a:ext cx="1788054" cy="715221"/>
        </a:xfrm>
        <a:prstGeom prst="chevron">
          <a:avLst/>
        </a:prstGeom>
        <a:solidFill>
          <a:schemeClr val="accent4">
            <a:tint val="40000"/>
            <a:alpha val="90000"/>
            <a:hueOff val="1364738"/>
            <a:satOff val="11915"/>
            <a:lumOff val="2215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1364738"/>
              <a:satOff val="11915"/>
              <a:lumOff val="22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slightly increases risk</a:t>
          </a:r>
          <a:endParaRPr lang="en-UA" sz="1400" kern="1200" dirty="0"/>
        </a:p>
      </dsp:txBody>
      <dsp:txXfrm>
        <a:off x="2366815" y="2039359"/>
        <a:ext cx="1072833" cy="715221"/>
      </dsp:txXfrm>
    </dsp:sp>
    <dsp:sp modelId="{07223018-3596-1D45-84D9-BFC2A49A0A72}">
      <dsp:nvSpPr>
        <dsp:cNvPr id="0" name=""/>
        <dsp:cNvSpPr/>
      </dsp:nvSpPr>
      <dsp:spPr>
        <a:xfrm>
          <a:off x="134978" y="2948466"/>
          <a:ext cx="2154282" cy="861712"/>
        </a:xfrm>
        <a:prstGeom prst="chevron">
          <a:avLst/>
        </a:prstGeom>
        <a:solidFill>
          <a:schemeClr val="accent4">
            <a:hueOff val="1221078"/>
            <a:satOff val="-46523"/>
            <a:lumOff val="2313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Homeowners</a:t>
          </a:r>
          <a:endParaRPr lang="en-UA" sz="1500" kern="1200" dirty="0"/>
        </a:p>
      </dsp:txBody>
      <dsp:txXfrm>
        <a:off x="565834" y="2948466"/>
        <a:ext cx="1292570" cy="861712"/>
      </dsp:txXfrm>
    </dsp:sp>
    <dsp:sp modelId="{3C2EF523-07D7-374F-9C01-83DC61433264}">
      <dsp:nvSpPr>
        <dsp:cNvPr id="0" name=""/>
        <dsp:cNvSpPr/>
      </dsp:nvSpPr>
      <dsp:spPr>
        <a:xfrm>
          <a:off x="2009204" y="3021712"/>
          <a:ext cx="1788054" cy="715221"/>
        </a:xfrm>
        <a:prstGeom prst="chevron">
          <a:avLst/>
        </a:prstGeom>
        <a:solidFill>
          <a:schemeClr val="accent4">
            <a:tint val="40000"/>
            <a:alpha val="90000"/>
            <a:hueOff val="2047106"/>
            <a:satOff val="17873"/>
            <a:lumOff val="3322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2047106"/>
              <a:satOff val="17873"/>
              <a:lumOff val="33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slightly higher default</a:t>
          </a:r>
          <a:endParaRPr lang="en-UA" sz="1400" kern="1200" dirty="0"/>
        </a:p>
      </dsp:txBody>
      <dsp:txXfrm>
        <a:off x="2366815" y="3021712"/>
        <a:ext cx="1072833" cy="71522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2DAFC0-7317-0D43-A9BC-8FEB888351A8}">
      <dsp:nvSpPr>
        <dsp:cNvPr id="0" name=""/>
        <dsp:cNvSpPr/>
      </dsp:nvSpPr>
      <dsp:spPr>
        <a:xfrm>
          <a:off x="134978" y="1408"/>
          <a:ext cx="2154282" cy="861712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Deposit</a:t>
          </a:r>
          <a:endParaRPr lang="en-UA" sz="1900" kern="1200" dirty="0"/>
        </a:p>
      </dsp:txBody>
      <dsp:txXfrm>
        <a:off x="565834" y="1408"/>
        <a:ext cx="1292570" cy="861712"/>
      </dsp:txXfrm>
    </dsp:sp>
    <dsp:sp modelId="{B17D38CF-D4E1-8B4B-B30A-BCB3DB9FF53A}">
      <dsp:nvSpPr>
        <dsp:cNvPr id="0" name=""/>
        <dsp:cNvSpPr/>
      </dsp:nvSpPr>
      <dsp:spPr>
        <a:xfrm>
          <a:off x="2009204" y="74654"/>
          <a:ext cx="1788054" cy="715221"/>
        </a:xfrm>
        <a:prstGeom prst="chevron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do not reduce default risk</a:t>
          </a:r>
          <a:endParaRPr lang="en-UA" sz="1600" kern="1200" dirty="0"/>
        </a:p>
      </dsp:txBody>
      <dsp:txXfrm>
        <a:off x="2366815" y="74654"/>
        <a:ext cx="1072833" cy="715221"/>
      </dsp:txXfrm>
    </dsp:sp>
    <dsp:sp modelId="{405AE8A9-C279-B241-A034-2296A831476F}">
      <dsp:nvSpPr>
        <dsp:cNvPr id="0" name=""/>
        <dsp:cNvSpPr/>
      </dsp:nvSpPr>
      <dsp:spPr>
        <a:xfrm>
          <a:off x="134978" y="983761"/>
          <a:ext cx="2154282" cy="861712"/>
        </a:xfrm>
        <a:prstGeom prst="chevron">
          <a:avLst/>
        </a:prstGeom>
        <a:solidFill>
          <a:schemeClr val="accent4">
            <a:hueOff val="407026"/>
            <a:satOff val="-15508"/>
            <a:lumOff val="77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Self-employed</a:t>
          </a:r>
          <a:endParaRPr lang="en-UA" sz="1900" kern="1200" dirty="0"/>
        </a:p>
      </dsp:txBody>
      <dsp:txXfrm>
        <a:off x="565834" y="983761"/>
        <a:ext cx="1292570" cy="861712"/>
      </dsp:txXfrm>
    </dsp:sp>
    <dsp:sp modelId="{0655CC90-27BE-EE4D-B229-B854D2F1123D}">
      <dsp:nvSpPr>
        <dsp:cNvPr id="0" name=""/>
        <dsp:cNvSpPr/>
      </dsp:nvSpPr>
      <dsp:spPr>
        <a:xfrm>
          <a:off x="2009204" y="1057006"/>
          <a:ext cx="1788054" cy="715221"/>
        </a:xfrm>
        <a:prstGeom prst="chevron">
          <a:avLst/>
        </a:prstGeom>
        <a:solidFill>
          <a:schemeClr val="accent4">
            <a:tint val="40000"/>
            <a:alpha val="90000"/>
            <a:hueOff val="682369"/>
            <a:satOff val="5958"/>
            <a:lumOff val="1107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682369"/>
              <a:satOff val="5958"/>
              <a:lumOff val="11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slightly higher risk</a:t>
          </a:r>
          <a:endParaRPr lang="en-UA" sz="1600" kern="1200" dirty="0"/>
        </a:p>
      </dsp:txBody>
      <dsp:txXfrm>
        <a:off x="2366815" y="1057006"/>
        <a:ext cx="1072833" cy="715221"/>
      </dsp:txXfrm>
    </dsp:sp>
    <dsp:sp modelId="{27099D84-E939-1940-99F9-A0DBCBEAB3CE}">
      <dsp:nvSpPr>
        <dsp:cNvPr id="0" name=""/>
        <dsp:cNvSpPr/>
      </dsp:nvSpPr>
      <dsp:spPr>
        <a:xfrm>
          <a:off x="134978" y="1966113"/>
          <a:ext cx="2154282" cy="861712"/>
        </a:xfrm>
        <a:prstGeom prst="chevron">
          <a:avLst/>
        </a:prstGeom>
        <a:solidFill>
          <a:schemeClr val="accent4">
            <a:hueOff val="814052"/>
            <a:satOff val="-31015"/>
            <a:lumOff val="1542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Account holders</a:t>
          </a:r>
          <a:endParaRPr lang="en-UA" sz="1900" kern="1200" dirty="0"/>
        </a:p>
      </dsp:txBody>
      <dsp:txXfrm>
        <a:off x="565834" y="1966113"/>
        <a:ext cx="1292570" cy="861712"/>
      </dsp:txXfrm>
    </dsp:sp>
    <dsp:sp modelId="{BE1033CD-5499-EC4A-93D1-E71F4BE2AD33}">
      <dsp:nvSpPr>
        <dsp:cNvPr id="0" name=""/>
        <dsp:cNvSpPr/>
      </dsp:nvSpPr>
      <dsp:spPr>
        <a:xfrm>
          <a:off x="2009204" y="2039359"/>
          <a:ext cx="1788054" cy="715221"/>
        </a:xfrm>
        <a:prstGeom prst="chevron">
          <a:avLst/>
        </a:prstGeom>
        <a:solidFill>
          <a:schemeClr val="accent4">
            <a:tint val="40000"/>
            <a:alpha val="90000"/>
            <a:hueOff val="1364738"/>
            <a:satOff val="11915"/>
            <a:lumOff val="2215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1364738"/>
              <a:satOff val="11915"/>
              <a:lumOff val="22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slightly higher default</a:t>
          </a:r>
          <a:endParaRPr lang="en-UA" sz="1600" kern="1200" dirty="0"/>
        </a:p>
      </dsp:txBody>
      <dsp:txXfrm>
        <a:off x="2366815" y="2039359"/>
        <a:ext cx="1072833" cy="715221"/>
      </dsp:txXfrm>
    </dsp:sp>
    <dsp:sp modelId="{5F73D2C4-21A0-3B4E-87D5-45A015C6B8CC}">
      <dsp:nvSpPr>
        <dsp:cNvPr id="0" name=""/>
        <dsp:cNvSpPr/>
      </dsp:nvSpPr>
      <dsp:spPr>
        <a:xfrm>
          <a:off x="134978" y="2948466"/>
          <a:ext cx="2154282" cy="861712"/>
        </a:xfrm>
        <a:prstGeom prst="chevron">
          <a:avLst/>
        </a:prstGeom>
        <a:solidFill>
          <a:schemeClr val="accent4">
            <a:hueOff val="1221078"/>
            <a:satOff val="-46523"/>
            <a:lumOff val="2313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Prior loans</a:t>
          </a:r>
          <a:endParaRPr lang="en-UA" sz="1900" kern="1200" dirty="0"/>
        </a:p>
      </dsp:txBody>
      <dsp:txXfrm>
        <a:off x="565834" y="2948466"/>
        <a:ext cx="1292570" cy="861712"/>
      </dsp:txXfrm>
    </dsp:sp>
    <dsp:sp modelId="{AB02CDD1-F6E3-B94F-8196-0FB7D3A58BFD}">
      <dsp:nvSpPr>
        <dsp:cNvPr id="0" name=""/>
        <dsp:cNvSpPr/>
      </dsp:nvSpPr>
      <dsp:spPr>
        <a:xfrm>
          <a:off x="2009204" y="3021712"/>
          <a:ext cx="1788054" cy="715221"/>
        </a:xfrm>
        <a:prstGeom prst="chevron">
          <a:avLst/>
        </a:prstGeom>
        <a:solidFill>
          <a:schemeClr val="accent4">
            <a:tint val="40000"/>
            <a:alpha val="90000"/>
            <a:hueOff val="2047106"/>
            <a:satOff val="17873"/>
            <a:lumOff val="3322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2047106"/>
              <a:satOff val="17873"/>
              <a:lumOff val="33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slightly higher default</a:t>
          </a:r>
          <a:endParaRPr lang="en-UA" sz="1600" kern="1200" dirty="0"/>
        </a:p>
      </dsp:txBody>
      <dsp:txXfrm>
        <a:off x="2366815" y="3021712"/>
        <a:ext cx="1072833" cy="71522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8CD37B-70E1-D142-8D55-23E7FB3440C3}">
      <dsp:nvSpPr>
        <dsp:cNvPr id="0" name=""/>
        <dsp:cNvSpPr/>
      </dsp:nvSpPr>
      <dsp:spPr>
        <a:xfrm>
          <a:off x="0" y="532765"/>
          <a:ext cx="10297886" cy="554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DA9A39-AC2A-FF4B-8536-9DD03A70E849}">
      <dsp:nvSpPr>
        <dsp:cNvPr id="0" name=""/>
        <dsp:cNvSpPr/>
      </dsp:nvSpPr>
      <dsp:spPr>
        <a:xfrm>
          <a:off x="514894" y="208045"/>
          <a:ext cx="7208520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2465" tIns="0" rIns="272465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Zone is the strongest predictor of default (&gt;15%)</a:t>
          </a:r>
        </a:p>
      </dsp:txBody>
      <dsp:txXfrm>
        <a:off x="546597" y="239748"/>
        <a:ext cx="7145114" cy="586034"/>
      </dsp:txXfrm>
    </dsp:sp>
    <dsp:sp modelId="{F64D780A-DED8-DB4E-B0AD-CB53F9F3A939}">
      <dsp:nvSpPr>
        <dsp:cNvPr id="0" name=""/>
        <dsp:cNvSpPr/>
      </dsp:nvSpPr>
      <dsp:spPr>
        <a:xfrm>
          <a:off x="0" y="1530685"/>
          <a:ext cx="10297886" cy="554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408155-97BA-A044-9101-2FB7BBB64118}">
      <dsp:nvSpPr>
        <dsp:cNvPr id="0" name=""/>
        <dsp:cNvSpPr/>
      </dsp:nvSpPr>
      <dsp:spPr>
        <a:xfrm>
          <a:off x="514894" y="1205965"/>
          <a:ext cx="7208520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2465" tIns="0" rIns="272465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Debt-to-income ratio significantly increases risk</a:t>
          </a:r>
        </a:p>
      </dsp:txBody>
      <dsp:txXfrm>
        <a:off x="546597" y="1237668"/>
        <a:ext cx="7145114" cy="586034"/>
      </dsp:txXfrm>
    </dsp:sp>
    <dsp:sp modelId="{EB994727-3293-B449-B7D6-C38FFCF10FCA}">
      <dsp:nvSpPr>
        <dsp:cNvPr id="0" name=""/>
        <dsp:cNvSpPr/>
      </dsp:nvSpPr>
      <dsp:spPr>
        <a:xfrm>
          <a:off x="0" y="2528605"/>
          <a:ext cx="10297886" cy="554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F2A3C3-D9A5-914C-90E0-846EA89A92B2}">
      <dsp:nvSpPr>
        <dsp:cNvPr id="0" name=""/>
        <dsp:cNvSpPr/>
      </dsp:nvSpPr>
      <dsp:spPr>
        <a:xfrm>
          <a:off x="514894" y="2203885"/>
          <a:ext cx="7208520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2465" tIns="0" rIns="272465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Employment length reduces default probability</a:t>
          </a:r>
        </a:p>
      </dsp:txBody>
      <dsp:txXfrm>
        <a:off x="546597" y="2235588"/>
        <a:ext cx="7145114" cy="586034"/>
      </dsp:txXfrm>
    </dsp:sp>
    <dsp:sp modelId="{DF00FB75-E26C-6440-90F9-CF1281BC028B}">
      <dsp:nvSpPr>
        <dsp:cNvPr id="0" name=""/>
        <dsp:cNvSpPr/>
      </dsp:nvSpPr>
      <dsp:spPr>
        <a:xfrm>
          <a:off x="0" y="3526525"/>
          <a:ext cx="10297886" cy="554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EE6E7B-FA7E-E94B-9E23-4DE959DE20A4}">
      <dsp:nvSpPr>
        <dsp:cNvPr id="0" name=""/>
        <dsp:cNvSpPr/>
      </dsp:nvSpPr>
      <dsp:spPr>
        <a:xfrm>
          <a:off x="514894" y="3201805"/>
          <a:ext cx="7208520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2465" tIns="0" rIns="272465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Demographic variables have moderate impact</a:t>
          </a:r>
        </a:p>
      </dsp:txBody>
      <dsp:txXfrm>
        <a:off x="546597" y="3233508"/>
        <a:ext cx="7145114" cy="58603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8D44F4-A185-2542-A2B7-366D06AF2F32}">
      <dsp:nvSpPr>
        <dsp:cNvPr id="0" name=""/>
        <dsp:cNvSpPr/>
      </dsp:nvSpPr>
      <dsp:spPr>
        <a:xfrm>
          <a:off x="17557" y="0"/>
          <a:ext cx="4691022" cy="1071707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1430" rIns="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Zone 2 has the highest default rate for both groups (&gt;25%)</a:t>
          </a:r>
        </a:p>
      </dsp:txBody>
      <dsp:txXfrm>
        <a:off x="553411" y="0"/>
        <a:ext cx="3619315" cy="1071707"/>
      </dsp:txXfrm>
    </dsp:sp>
    <dsp:sp modelId="{633E3126-FB6E-3C4A-87E3-4AAE1DD0041E}">
      <dsp:nvSpPr>
        <dsp:cNvPr id="0" name=""/>
        <dsp:cNvSpPr/>
      </dsp:nvSpPr>
      <dsp:spPr>
        <a:xfrm>
          <a:off x="27819" y="1223336"/>
          <a:ext cx="4691022" cy="1071707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1430" rIns="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Zone 1: Married clients have </a:t>
          </a:r>
          <a:r>
            <a:rPr lang="en-US" sz="1800" b="1" kern="1200" dirty="0"/>
            <a:t>half the default rate</a:t>
          </a:r>
          <a:r>
            <a:rPr lang="en-US" sz="1800" kern="1200" dirty="0"/>
            <a:t> compared to singles</a:t>
          </a:r>
        </a:p>
      </dsp:txBody>
      <dsp:txXfrm>
        <a:off x="563673" y="1223336"/>
        <a:ext cx="3619315" cy="1071707"/>
      </dsp:txXfrm>
    </dsp:sp>
    <dsp:sp modelId="{5FE8DEAE-6FE0-5D45-9F6F-C3EE33A950D1}">
      <dsp:nvSpPr>
        <dsp:cNvPr id="0" name=""/>
        <dsp:cNvSpPr/>
      </dsp:nvSpPr>
      <dsp:spPr>
        <a:xfrm>
          <a:off x="27819" y="2445083"/>
          <a:ext cx="4691022" cy="1071707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1430" rIns="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Overall: Married clients tend to default </a:t>
          </a:r>
          <a:r>
            <a:rPr lang="en-US" sz="1800" b="1" kern="1200" dirty="0"/>
            <a:t>less</a:t>
          </a:r>
          <a:r>
            <a:rPr lang="en-US" sz="1800" kern="1200" dirty="0"/>
            <a:t>, but this varies by zone</a:t>
          </a:r>
        </a:p>
      </dsp:txBody>
      <dsp:txXfrm>
        <a:off x="563673" y="2445083"/>
        <a:ext cx="3619315" cy="107170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D3A113-BC4F-FC46-A41D-CDE6F4456CFD}">
      <dsp:nvSpPr>
        <dsp:cNvPr id="0" name=""/>
        <dsp:cNvSpPr/>
      </dsp:nvSpPr>
      <dsp:spPr>
        <a:xfrm>
          <a:off x="321194" y="1850"/>
          <a:ext cx="4515398" cy="1122221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1430" rIns="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Zone 2: With child = 23%, No child = 26% — both very high</a:t>
          </a:r>
          <a:endParaRPr lang="en-UA" sz="1800" kern="1200" dirty="0"/>
        </a:p>
      </dsp:txBody>
      <dsp:txXfrm>
        <a:off x="882305" y="1850"/>
        <a:ext cx="3393177" cy="1122221"/>
      </dsp:txXfrm>
    </dsp:sp>
    <dsp:sp modelId="{E3C6D0E6-C3C5-BB4D-8D7E-D9FBF1D429A1}">
      <dsp:nvSpPr>
        <dsp:cNvPr id="0" name=""/>
        <dsp:cNvSpPr/>
      </dsp:nvSpPr>
      <dsp:spPr>
        <a:xfrm>
          <a:off x="321194" y="1281183"/>
          <a:ext cx="4515398" cy="1122221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1430" rIns="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In most zones, default rate is </a:t>
          </a:r>
          <a:r>
            <a:rPr lang="en-US" sz="1800" b="1" kern="1200" dirty="0"/>
            <a:t>higher for clients with children</a:t>
          </a:r>
          <a:endParaRPr lang="en-UA" sz="1800" kern="1200" dirty="0"/>
        </a:p>
      </dsp:txBody>
      <dsp:txXfrm>
        <a:off x="882305" y="1281183"/>
        <a:ext cx="3393177" cy="1122221"/>
      </dsp:txXfrm>
    </dsp:sp>
    <dsp:sp modelId="{E03AD6F9-6DA7-CC45-ABFC-F1B38E036B52}">
      <dsp:nvSpPr>
        <dsp:cNvPr id="0" name=""/>
        <dsp:cNvSpPr/>
      </dsp:nvSpPr>
      <dsp:spPr>
        <a:xfrm>
          <a:off x="321194" y="2560515"/>
          <a:ext cx="4515398" cy="1122221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1430" rIns="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Some zones (e.g. 9, 10): No-child group shows slightly higher risk</a:t>
          </a:r>
          <a:endParaRPr lang="en-UA" sz="1800" kern="1200" dirty="0"/>
        </a:p>
      </dsp:txBody>
      <dsp:txXfrm>
        <a:off x="882305" y="2560515"/>
        <a:ext cx="3393177" cy="112222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553641-8070-8C4D-9C7D-05EDCEF4E9A8}">
      <dsp:nvSpPr>
        <dsp:cNvPr id="0" name=""/>
        <dsp:cNvSpPr/>
      </dsp:nvSpPr>
      <dsp:spPr>
        <a:xfrm>
          <a:off x="0" y="74252"/>
          <a:ext cx="5458837" cy="6356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High sensitivity → effective detection of defaulters</a:t>
          </a:r>
        </a:p>
      </dsp:txBody>
      <dsp:txXfrm>
        <a:off x="31028" y="105280"/>
        <a:ext cx="5396781" cy="573546"/>
      </dsp:txXfrm>
    </dsp:sp>
    <dsp:sp modelId="{F8D88E2B-F15B-1346-B6DB-FD0038F693F6}">
      <dsp:nvSpPr>
        <dsp:cNvPr id="0" name=""/>
        <dsp:cNvSpPr/>
      </dsp:nvSpPr>
      <dsp:spPr>
        <a:xfrm>
          <a:off x="0" y="755934"/>
          <a:ext cx="5458837" cy="6356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Moderate specificity → some false positives tolerated</a:t>
          </a:r>
        </a:p>
      </dsp:txBody>
      <dsp:txXfrm>
        <a:off x="31028" y="786962"/>
        <a:ext cx="5396781" cy="573546"/>
      </dsp:txXfrm>
    </dsp:sp>
    <dsp:sp modelId="{5AF2488F-7DCD-3A49-AFF7-734F6BC80D05}">
      <dsp:nvSpPr>
        <dsp:cNvPr id="0" name=""/>
        <dsp:cNvSpPr/>
      </dsp:nvSpPr>
      <dsp:spPr>
        <a:xfrm>
          <a:off x="0" y="1437617"/>
          <a:ext cx="5458837" cy="6356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Stable results on both datasets → no overfitting</a:t>
          </a:r>
        </a:p>
      </dsp:txBody>
      <dsp:txXfrm>
        <a:off x="31028" y="1468645"/>
        <a:ext cx="5396781" cy="573546"/>
      </dsp:txXfrm>
    </dsp:sp>
    <dsp:sp modelId="{BE331D12-325D-9B40-9582-E02977AFC6FE}">
      <dsp:nvSpPr>
        <dsp:cNvPr id="0" name=""/>
        <dsp:cNvSpPr/>
      </dsp:nvSpPr>
      <dsp:spPr>
        <a:xfrm>
          <a:off x="0" y="2119300"/>
          <a:ext cx="5458837" cy="6356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AUC ≈ 0.75 → reliable risk separation</a:t>
          </a:r>
        </a:p>
      </dsp:txBody>
      <dsp:txXfrm>
        <a:off x="31028" y="2150328"/>
        <a:ext cx="5396781" cy="573546"/>
      </dsp:txXfrm>
    </dsp:sp>
    <dsp:sp modelId="{D10D38EE-3FF7-0945-B6A4-4690F717FC46}">
      <dsp:nvSpPr>
        <dsp:cNvPr id="0" name=""/>
        <dsp:cNvSpPr/>
      </dsp:nvSpPr>
      <dsp:spPr>
        <a:xfrm>
          <a:off x="0" y="2800982"/>
          <a:ext cx="5458837" cy="6356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Logistic regression is interpretable and deployable</a:t>
          </a:r>
        </a:p>
      </dsp:txBody>
      <dsp:txXfrm>
        <a:off x="31028" y="2832010"/>
        <a:ext cx="5396781" cy="573546"/>
      </dsp:txXfrm>
    </dsp:sp>
    <dsp:sp modelId="{9BC827B9-B57D-D94D-B870-6ECA44B087D1}">
      <dsp:nvSpPr>
        <dsp:cNvPr id="0" name=""/>
        <dsp:cNvSpPr/>
      </dsp:nvSpPr>
      <dsp:spPr>
        <a:xfrm>
          <a:off x="0" y="3482665"/>
          <a:ext cx="5458837" cy="6356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Suitable as a baseline model before ML enhancement</a:t>
          </a:r>
        </a:p>
      </dsp:txBody>
      <dsp:txXfrm>
        <a:off x="31028" y="3513693"/>
        <a:ext cx="5396781" cy="57354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0C67A6-B000-49FC-A294-73A414422C22}">
      <dsp:nvSpPr>
        <dsp:cNvPr id="0" name=""/>
        <dsp:cNvSpPr/>
      </dsp:nvSpPr>
      <dsp:spPr>
        <a:xfrm>
          <a:off x="0" y="511"/>
          <a:ext cx="5458837" cy="119757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ADFF40-A7A0-4869-9A73-D8BDD7B5ECFB}">
      <dsp:nvSpPr>
        <dsp:cNvPr id="0" name=""/>
        <dsp:cNvSpPr/>
      </dsp:nvSpPr>
      <dsp:spPr>
        <a:xfrm>
          <a:off x="362265" y="269965"/>
          <a:ext cx="658663" cy="6586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537C82-ABDB-4A15-8102-5E6D0AA82B8F}">
      <dsp:nvSpPr>
        <dsp:cNvPr id="0" name=""/>
        <dsp:cNvSpPr/>
      </dsp:nvSpPr>
      <dsp:spPr>
        <a:xfrm>
          <a:off x="1383193" y="511"/>
          <a:ext cx="4075644" cy="1197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743" tIns="126743" rIns="126743" bIns="126743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Slight improvement in accuracy</a:t>
          </a:r>
        </a:p>
      </dsp:txBody>
      <dsp:txXfrm>
        <a:off x="1383193" y="511"/>
        <a:ext cx="4075644" cy="1197570"/>
      </dsp:txXfrm>
    </dsp:sp>
    <dsp:sp modelId="{02F34992-DDAF-4098-8D96-69D60AB8D7E8}">
      <dsp:nvSpPr>
        <dsp:cNvPr id="0" name=""/>
        <dsp:cNvSpPr/>
      </dsp:nvSpPr>
      <dsp:spPr>
        <a:xfrm>
          <a:off x="0" y="1497474"/>
          <a:ext cx="5458837" cy="119757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E8B787-050C-4F69-A20E-BAD011CC9837}">
      <dsp:nvSpPr>
        <dsp:cNvPr id="0" name=""/>
        <dsp:cNvSpPr/>
      </dsp:nvSpPr>
      <dsp:spPr>
        <a:xfrm>
          <a:off x="362265" y="1766928"/>
          <a:ext cx="658663" cy="65866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A7A35A-6404-4A85-9E35-5C22C5C74848}">
      <dsp:nvSpPr>
        <dsp:cNvPr id="0" name=""/>
        <dsp:cNvSpPr/>
      </dsp:nvSpPr>
      <dsp:spPr>
        <a:xfrm>
          <a:off x="1383193" y="1497474"/>
          <a:ext cx="4075644" cy="1197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743" tIns="126743" rIns="126743" bIns="126743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More balanced between sensitivity &amp; specificity</a:t>
          </a:r>
        </a:p>
      </dsp:txBody>
      <dsp:txXfrm>
        <a:off x="1383193" y="1497474"/>
        <a:ext cx="4075644" cy="1197570"/>
      </dsp:txXfrm>
    </dsp:sp>
    <dsp:sp modelId="{C95B9F67-B863-4E42-ADC8-99CE914CED48}">
      <dsp:nvSpPr>
        <dsp:cNvPr id="0" name=""/>
        <dsp:cNvSpPr/>
      </dsp:nvSpPr>
      <dsp:spPr>
        <a:xfrm>
          <a:off x="0" y="2994437"/>
          <a:ext cx="5458837" cy="119757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4A9061-20AD-47C1-AD06-5D4F3A9B9456}">
      <dsp:nvSpPr>
        <dsp:cNvPr id="0" name=""/>
        <dsp:cNvSpPr/>
      </dsp:nvSpPr>
      <dsp:spPr>
        <a:xfrm>
          <a:off x="362265" y="3263891"/>
          <a:ext cx="658663" cy="65866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DB74F5-A2EE-478A-84C2-9D4FFCDB1750}">
      <dsp:nvSpPr>
        <dsp:cNvPr id="0" name=""/>
        <dsp:cNvSpPr/>
      </dsp:nvSpPr>
      <dsp:spPr>
        <a:xfrm>
          <a:off x="1383193" y="2994437"/>
          <a:ext cx="4075644" cy="1197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743" tIns="126743" rIns="126743" bIns="126743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Strong test performance</a:t>
          </a:r>
        </a:p>
      </dsp:txBody>
      <dsp:txXfrm>
        <a:off x="1383193" y="2994437"/>
        <a:ext cx="4075644" cy="119757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B72A44-3F5F-405D-9430-3A8B3A5643A0}">
      <dsp:nvSpPr>
        <dsp:cNvPr id="0" name=""/>
        <dsp:cNvSpPr/>
      </dsp:nvSpPr>
      <dsp:spPr>
        <a:xfrm>
          <a:off x="0" y="1740"/>
          <a:ext cx="5458837" cy="88190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7DF4B6-B898-4FF4-9DAF-6D04DC55259F}">
      <dsp:nvSpPr>
        <dsp:cNvPr id="0" name=""/>
        <dsp:cNvSpPr/>
      </dsp:nvSpPr>
      <dsp:spPr>
        <a:xfrm>
          <a:off x="266775" y="200168"/>
          <a:ext cx="485046" cy="48504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92B0E3-05C5-4E5E-85CE-71CD5E0B63E3}">
      <dsp:nvSpPr>
        <dsp:cNvPr id="0" name=""/>
        <dsp:cNvSpPr/>
      </dsp:nvSpPr>
      <dsp:spPr>
        <a:xfrm>
          <a:off x="1018598" y="1740"/>
          <a:ext cx="4440239" cy="8819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335" tIns="93335" rIns="93335" bIns="9333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Balanced model performance</a:t>
          </a:r>
        </a:p>
      </dsp:txBody>
      <dsp:txXfrm>
        <a:off x="1018598" y="1740"/>
        <a:ext cx="4440239" cy="881903"/>
      </dsp:txXfrm>
    </dsp:sp>
    <dsp:sp modelId="{DA1BA14B-D31A-4955-9074-FBF7675B803E}">
      <dsp:nvSpPr>
        <dsp:cNvPr id="0" name=""/>
        <dsp:cNvSpPr/>
      </dsp:nvSpPr>
      <dsp:spPr>
        <a:xfrm>
          <a:off x="0" y="1104118"/>
          <a:ext cx="5458837" cy="88190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DF3D2A-A197-47F5-B8A5-C1AE96FF896E}">
      <dsp:nvSpPr>
        <dsp:cNvPr id="0" name=""/>
        <dsp:cNvSpPr/>
      </dsp:nvSpPr>
      <dsp:spPr>
        <a:xfrm>
          <a:off x="266775" y="1302547"/>
          <a:ext cx="485046" cy="48504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3EA84B-945A-4107-AD11-FC49870C7D4D}">
      <dsp:nvSpPr>
        <dsp:cNvPr id="0" name=""/>
        <dsp:cNvSpPr/>
      </dsp:nvSpPr>
      <dsp:spPr>
        <a:xfrm>
          <a:off x="1018598" y="1104118"/>
          <a:ext cx="4440239" cy="8819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335" tIns="93335" rIns="93335" bIns="9333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Slightly lower AUC than logistic Model 3</a:t>
          </a:r>
        </a:p>
      </dsp:txBody>
      <dsp:txXfrm>
        <a:off x="1018598" y="1104118"/>
        <a:ext cx="4440239" cy="881903"/>
      </dsp:txXfrm>
    </dsp:sp>
    <dsp:sp modelId="{69B86E7E-6F5F-406A-8264-C26767765BD8}">
      <dsp:nvSpPr>
        <dsp:cNvPr id="0" name=""/>
        <dsp:cNvSpPr/>
      </dsp:nvSpPr>
      <dsp:spPr>
        <a:xfrm>
          <a:off x="0" y="2206497"/>
          <a:ext cx="5458837" cy="88190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C73892-76A8-4C9A-B3B5-24A60CC80E01}">
      <dsp:nvSpPr>
        <dsp:cNvPr id="0" name=""/>
        <dsp:cNvSpPr/>
      </dsp:nvSpPr>
      <dsp:spPr>
        <a:xfrm>
          <a:off x="266775" y="2404926"/>
          <a:ext cx="485046" cy="48504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B0E295-11D6-4C91-A78B-41CC0CE8E246}">
      <dsp:nvSpPr>
        <dsp:cNvPr id="0" name=""/>
        <dsp:cNvSpPr/>
      </dsp:nvSpPr>
      <dsp:spPr>
        <a:xfrm>
          <a:off x="1018598" y="2206497"/>
          <a:ext cx="4440239" cy="8819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335" tIns="93335" rIns="93335" bIns="9333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Strong defaulter detection (high sensitivity)</a:t>
          </a:r>
        </a:p>
      </dsp:txBody>
      <dsp:txXfrm>
        <a:off x="1018598" y="2206497"/>
        <a:ext cx="4440239" cy="881903"/>
      </dsp:txXfrm>
    </dsp:sp>
    <dsp:sp modelId="{44643AAA-9812-4920-81BC-9042EEA724CA}">
      <dsp:nvSpPr>
        <dsp:cNvPr id="0" name=""/>
        <dsp:cNvSpPr/>
      </dsp:nvSpPr>
      <dsp:spPr>
        <a:xfrm>
          <a:off x="0" y="3308876"/>
          <a:ext cx="5458837" cy="88190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AA3491-BE8E-4936-A1CE-40F0F96CDD50}">
      <dsp:nvSpPr>
        <dsp:cNvPr id="0" name=""/>
        <dsp:cNvSpPr/>
      </dsp:nvSpPr>
      <dsp:spPr>
        <a:xfrm>
          <a:off x="266775" y="3507305"/>
          <a:ext cx="485046" cy="48504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9BF9B8-C538-4E72-A29D-B4BEF3E48C77}">
      <dsp:nvSpPr>
        <dsp:cNvPr id="0" name=""/>
        <dsp:cNvSpPr/>
      </dsp:nvSpPr>
      <dsp:spPr>
        <a:xfrm>
          <a:off x="1018598" y="3308876"/>
          <a:ext cx="4440239" cy="8819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335" tIns="93335" rIns="93335" bIns="9333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Interpretable and easy to deploy</a:t>
          </a:r>
        </a:p>
      </dsp:txBody>
      <dsp:txXfrm>
        <a:off x="1018598" y="3308876"/>
        <a:ext cx="4440239" cy="881903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CD3245-5790-B84D-A682-062637060C55}">
      <dsp:nvSpPr>
        <dsp:cNvPr id="0" name=""/>
        <dsp:cNvSpPr/>
      </dsp:nvSpPr>
      <dsp:spPr>
        <a:xfrm>
          <a:off x="0" y="83140"/>
          <a:ext cx="5458837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Very high sensitivity – detects defaulters well</a:t>
          </a:r>
        </a:p>
      </dsp:txBody>
      <dsp:txXfrm>
        <a:off x="46606" y="129746"/>
        <a:ext cx="5365625" cy="861507"/>
      </dsp:txXfrm>
    </dsp:sp>
    <dsp:sp modelId="{A1FFA535-5481-EE47-A8E9-4D166B345929}">
      <dsp:nvSpPr>
        <dsp:cNvPr id="0" name=""/>
        <dsp:cNvSpPr/>
      </dsp:nvSpPr>
      <dsp:spPr>
        <a:xfrm>
          <a:off x="0" y="1106980"/>
          <a:ext cx="5458837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Specificity is lower → more false positives</a:t>
          </a:r>
        </a:p>
      </dsp:txBody>
      <dsp:txXfrm>
        <a:off x="46606" y="1153586"/>
        <a:ext cx="5365625" cy="861507"/>
      </dsp:txXfrm>
    </dsp:sp>
    <dsp:sp modelId="{9DD19E96-7BFA-184C-9C43-88069C6CF73E}">
      <dsp:nvSpPr>
        <dsp:cNvPr id="0" name=""/>
        <dsp:cNvSpPr/>
      </dsp:nvSpPr>
      <dsp:spPr>
        <a:xfrm>
          <a:off x="0" y="2130820"/>
          <a:ext cx="5458837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Consistent results across datasets</a:t>
          </a:r>
        </a:p>
      </dsp:txBody>
      <dsp:txXfrm>
        <a:off x="46606" y="2177426"/>
        <a:ext cx="5365625" cy="861507"/>
      </dsp:txXfrm>
    </dsp:sp>
    <dsp:sp modelId="{3FA384B8-8BA6-2845-8CDB-F6430D62A91A}">
      <dsp:nvSpPr>
        <dsp:cNvPr id="0" name=""/>
        <dsp:cNvSpPr/>
      </dsp:nvSpPr>
      <dsp:spPr>
        <a:xfrm>
          <a:off x="0" y="3154660"/>
          <a:ext cx="5458837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Easy to visualize and interpret</a:t>
          </a:r>
        </a:p>
      </dsp:txBody>
      <dsp:txXfrm>
        <a:off x="46606" y="3201266"/>
        <a:ext cx="5365625" cy="861507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F2C193-0CA1-4459-B938-7FDE0E3A7205}">
      <dsp:nvSpPr>
        <dsp:cNvPr id="0" name=""/>
        <dsp:cNvSpPr/>
      </dsp:nvSpPr>
      <dsp:spPr>
        <a:xfrm>
          <a:off x="0" y="1740"/>
          <a:ext cx="5257800" cy="88190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00786E-EA41-475A-A12E-8CA950AABBAB}">
      <dsp:nvSpPr>
        <dsp:cNvPr id="0" name=""/>
        <dsp:cNvSpPr/>
      </dsp:nvSpPr>
      <dsp:spPr>
        <a:xfrm>
          <a:off x="266775" y="200168"/>
          <a:ext cx="485046" cy="48504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1C4DBE-3F81-4C62-8968-D4A58829374D}">
      <dsp:nvSpPr>
        <dsp:cNvPr id="0" name=""/>
        <dsp:cNvSpPr/>
      </dsp:nvSpPr>
      <dsp:spPr>
        <a:xfrm>
          <a:off x="1018598" y="1740"/>
          <a:ext cx="4239201" cy="8819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335" tIns="93335" rIns="93335" bIns="93335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Excellent train performance → clear overfitting</a:t>
          </a:r>
        </a:p>
      </dsp:txBody>
      <dsp:txXfrm>
        <a:off x="1018598" y="1740"/>
        <a:ext cx="4239201" cy="881903"/>
      </dsp:txXfrm>
    </dsp:sp>
    <dsp:sp modelId="{A6EB050E-7D35-4364-BB89-4749E5F2861D}">
      <dsp:nvSpPr>
        <dsp:cNvPr id="0" name=""/>
        <dsp:cNvSpPr/>
      </dsp:nvSpPr>
      <dsp:spPr>
        <a:xfrm>
          <a:off x="0" y="1104118"/>
          <a:ext cx="5257800" cy="88190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FC5A45-9CED-48EC-BBF8-7928D7EE720A}">
      <dsp:nvSpPr>
        <dsp:cNvPr id="0" name=""/>
        <dsp:cNvSpPr/>
      </dsp:nvSpPr>
      <dsp:spPr>
        <a:xfrm>
          <a:off x="266775" y="1302547"/>
          <a:ext cx="485046" cy="48504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0D3AE5-B104-43D1-B700-CC788202BA10}">
      <dsp:nvSpPr>
        <dsp:cNvPr id="0" name=""/>
        <dsp:cNvSpPr/>
      </dsp:nvSpPr>
      <dsp:spPr>
        <a:xfrm>
          <a:off x="1018598" y="1104118"/>
          <a:ext cx="4239201" cy="8819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335" tIns="93335" rIns="93335" bIns="93335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High accuracy hides low sensitivity</a:t>
          </a:r>
        </a:p>
      </dsp:txBody>
      <dsp:txXfrm>
        <a:off x="1018598" y="1104118"/>
        <a:ext cx="4239201" cy="881903"/>
      </dsp:txXfrm>
    </dsp:sp>
    <dsp:sp modelId="{4553B104-3E94-4792-ADE1-5114A8AB76BB}">
      <dsp:nvSpPr>
        <dsp:cNvPr id="0" name=""/>
        <dsp:cNvSpPr/>
      </dsp:nvSpPr>
      <dsp:spPr>
        <a:xfrm>
          <a:off x="0" y="2206497"/>
          <a:ext cx="5257800" cy="88190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B4A739-0C20-4A16-B56E-5A9F5439C6AD}">
      <dsp:nvSpPr>
        <dsp:cNvPr id="0" name=""/>
        <dsp:cNvSpPr/>
      </dsp:nvSpPr>
      <dsp:spPr>
        <a:xfrm>
          <a:off x="266775" y="2404926"/>
          <a:ext cx="485046" cy="48504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AB7BB6-316F-4C56-BAD2-62C7B27DF837}">
      <dsp:nvSpPr>
        <dsp:cNvPr id="0" name=""/>
        <dsp:cNvSpPr/>
      </dsp:nvSpPr>
      <dsp:spPr>
        <a:xfrm>
          <a:off x="1018598" y="2206497"/>
          <a:ext cx="4239201" cy="8819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335" tIns="93335" rIns="93335" bIns="93335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Model fails to catch defaulters in test data</a:t>
          </a:r>
        </a:p>
      </dsp:txBody>
      <dsp:txXfrm>
        <a:off x="1018598" y="2206497"/>
        <a:ext cx="4239201" cy="881903"/>
      </dsp:txXfrm>
    </dsp:sp>
    <dsp:sp modelId="{68B28943-9B3B-4BAF-A169-5ED3B37682E4}">
      <dsp:nvSpPr>
        <dsp:cNvPr id="0" name=""/>
        <dsp:cNvSpPr/>
      </dsp:nvSpPr>
      <dsp:spPr>
        <a:xfrm>
          <a:off x="0" y="3308876"/>
          <a:ext cx="5257800" cy="88190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8020B9-0D3E-4C3C-9F1D-8D6B687F51DD}">
      <dsp:nvSpPr>
        <dsp:cNvPr id="0" name=""/>
        <dsp:cNvSpPr/>
      </dsp:nvSpPr>
      <dsp:spPr>
        <a:xfrm>
          <a:off x="266775" y="3507305"/>
          <a:ext cx="485046" cy="48504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131F7A-B82E-42D8-B1CB-A0D526F183D7}">
      <dsp:nvSpPr>
        <dsp:cNvPr id="0" name=""/>
        <dsp:cNvSpPr/>
      </dsp:nvSpPr>
      <dsp:spPr>
        <a:xfrm>
          <a:off x="1018598" y="3308876"/>
          <a:ext cx="4239201" cy="8819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335" tIns="93335" rIns="93335" bIns="93335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Needs tuning (e.g. class weights, threshold)</a:t>
          </a:r>
        </a:p>
      </dsp:txBody>
      <dsp:txXfrm>
        <a:off x="1018598" y="3308876"/>
        <a:ext cx="4239201" cy="881903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47DAEB-4643-964A-A6C9-857C3D576121}">
      <dsp:nvSpPr>
        <dsp:cNvPr id="0" name=""/>
        <dsp:cNvSpPr/>
      </dsp:nvSpPr>
      <dsp:spPr>
        <a:xfrm>
          <a:off x="3926" y="2056"/>
          <a:ext cx="4948216" cy="113400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011" tIns="28004" rIns="28004" bIns="2800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Key Findings</a:t>
          </a:r>
        </a:p>
      </dsp:txBody>
      <dsp:txXfrm>
        <a:off x="570926" y="2056"/>
        <a:ext cx="3814216" cy="1134000"/>
      </dsp:txXfrm>
    </dsp:sp>
    <dsp:sp modelId="{BEAF674A-6F20-0047-88C7-3750008A0096}">
      <dsp:nvSpPr>
        <dsp:cNvPr id="0" name=""/>
        <dsp:cNvSpPr/>
      </dsp:nvSpPr>
      <dsp:spPr>
        <a:xfrm>
          <a:off x="3926" y="1277806"/>
          <a:ext cx="3958573" cy="3591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228600" lvl="1" indent="-228600" algn="l" defTabSz="10668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Debt-to-income is the strongest risk factor  
Longer employment reduces default risk
Zone shows strong geographic variation  
Logistic regression provides the best balance </a:t>
          </a:r>
        </a:p>
      </dsp:txBody>
      <dsp:txXfrm>
        <a:off x="3926" y="1277806"/>
        <a:ext cx="3958573" cy="3591000"/>
      </dsp:txXfrm>
    </dsp:sp>
    <dsp:sp modelId="{66029FE8-19B8-3A4B-A6E4-7B26B3E1A7CA}">
      <dsp:nvSpPr>
        <dsp:cNvPr id="0" name=""/>
        <dsp:cNvSpPr/>
      </dsp:nvSpPr>
      <dsp:spPr>
        <a:xfrm>
          <a:off x="4736143" y="2056"/>
          <a:ext cx="4948216" cy="113400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011" tIns="28004" rIns="28004" bIns="28004" numCol="1" spcCol="1270" anchor="ctr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Recommendations</a:t>
          </a:r>
        </a:p>
      </dsp:txBody>
      <dsp:txXfrm>
        <a:off x="5303143" y="2056"/>
        <a:ext cx="3814216" cy="1134000"/>
      </dsp:txXfrm>
    </dsp:sp>
    <dsp:sp modelId="{737326F0-C167-9046-914C-387D10594F20}">
      <dsp:nvSpPr>
        <dsp:cNvPr id="0" name=""/>
        <dsp:cNvSpPr/>
      </dsp:nvSpPr>
      <dsp:spPr>
        <a:xfrm>
          <a:off x="4736143" y="1277806"/>
          <a:ext cx="3958573" cy="3591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228600" lvl="1" indent="-228600" algn="l" defTabSz="933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Use logistic regression as core model  
Monitor high debt-to-income customers  
Improve credit risk segmentation by zone  
Enhance customer experience (speed, service) </a:t>
          </a:r>
        </a:p>
      </dsp:txBody>
      <dsp:txXfrm>
        <a:off x="4736143" y="1277806"/>
        <a:ext cx="3958573" cy="3591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C0C22-EBDA-4130-87AE-CB28BC19B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4/23/26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419A8-07CA-4A4C-AEC2-C40D4D50A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A7B86-E610-42EA-B4DC-C2F44778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A7BA06D-B3FF-4E91-8639-B4569AE3AA23}"/>
              </a:ext>
            </a:extLst>
          </p:cNvPr>
          <p:cNvSpPr/>
          <p:nvPr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2B30C86D-5A07-48BC-9C9D-6F9A2DB1E9E1}"/>
              </a:ext>
            </a:extLst>
          </p:cNvPr>
          <p:cNvSpPr/>
          <p:nvPr/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0217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4/23/26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3264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5F313-1240-47AE-A026-7F349292B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48158-6132-4335-B8E1-F6A896383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4C5B6-1598-48B4-9B3A-3078FDBE9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EDBDD32-D3EE-4848-A112-BA814D4631CD}"/>
              </a:ext>
            </a:extLst>
          </p:cNvPr>
          <p:cNvSpPr/>
          <p:nvPr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61350361-843C-49D0-BD6A-ECDBA3842BA0}"/>
              </a:ext>
            </a:extLst>
          </p:cNvPr>
          <p:cNvSpPr/>
          <p:nvPr/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7359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2054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4/23/26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3570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4/23/26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4284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4/23/26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5676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7433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0893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6E5D1-6D19-4E7F-9B4E-42326B771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D2A06C-F91A-4ADC-9CD2-61F0A4D7EE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AA9A-2280-4F63-8B3D-20742AE69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D986B-E58E-43B6-8A80-FFA9D8F74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40D36-2E71-4F27-967F-7A3E4C6EE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1609904-5327-4D2C-A445-B270A00F3B5F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0FC7BEC-08C5-4D95-9C84-B48BC8AD1C9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6293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1FEA3D-0C7F-45CD-B6A0-942F707B3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8B8A12-BCE6-4D03-A637-1DEC8924B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9755-9FF4-428A-AEB7-1A6477466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41836-11E2-49FD-877D-53B74514A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24C42-4B05-4EEF-BE14-29041EC9C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BADDEB1-F604-408B-B02A-A2814606E6AF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DF7987-332F-4D6C-81C3-990F39C76C96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4966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82EDB8D0-98ED-4B86-9D5F-E61ADC70144D}" type="datetimeFigureOut">
              <a:rPr lang="en-US" smtClean="0"/>
              <a:pPr/>
              <a:t>4/23/26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145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50" r:id="rId6"/>
    <p:sldLayoutId id="2147483745" r:id="rId7"/>
    <p:sldLayoutId id="2147483746" r:id="rId8"/>
    <p:sldLayoutId id="2147483747" r:id="rId9"/>
    <p:sldLayoutId id="2147483749" r:id="rId10"/>
    <p:sldLayoutId id="214748374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10" Type="http://schemas.openxmlformats.org/officeDocument/2006/relationships/image" Target="../media/image21.png"/><Relationship Id="rId4" Type="http://schemas.openxmlformats.org/officeDocument/2006/relationships/diagramLayout" Target="../diagrams/layout5.xml"/><Relationship Id="rId9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10" Type="http://schemas.openxmlformats.org/officeDocument/2006/relationships/image" Target="../media/image25.png"/><Relationship Id="rId4" Type="http://schemas.openxmlformats.org/officeDocument/2006/relationships/diagramLayout" Target="../diagrams/layout6.xml"/><Relationship Id="rId9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26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7" Type="http://schemas.openxmlformats.org/officeDocument/2006/relationships/image" Target="../media/image27.pn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9651FA3-B4A1-4E98-9B71-4CF820877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C31101-3BC6-327C-5070-971B63CDC5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6" y="753626"/>
            <a:ext cx="5334930" cy="3004145"/>
          </a:xfrm>
        </p:spPr>
        <p:txBody>
          <a:bodyPr>
            <a:normAutofit fontScale="90000"/>
          </a:bodyPr>
          <a:lstStyle/>
          <a:p>
            <a:r>
              <a:rPr lang="en-US" dirty="0"/>
              <a:t>Credit Scoring in the Banking Sector</a:t>
            </a:r>
            <a:endParaRPr lang="en-U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A47C6D-2750-E25B-C63F-1270A0AC12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5" y="4278085"/>
            <a:ext cx="5334931" cy="1760973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solidFill>
                  <a:srgbClr val="151515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Oksana Tkachuk</a:t>
            </a:r>
            <a:endParaRPr lang="en-US" sz="2400" dirty="0">
              <a:solidFill>
                <a:srgbClr val="151515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algn="l"/>
            <a:r>
              <a:rPr lang="en-US" sz="2400" dirty="0">
                <a:solidFill>
                  <a:srgbClr val="151515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Postgraduate Diploma in Data Science</a:t>
            </a:r>
          </a:p>
          <a:p>
            <a:pPr algn="l"/>
            <a:r>
              <a:rPr lang="en-US" dirty="0">
                <a:solidFill>
                  <a:srgbClr val="151515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June 2025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04059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Freeform: Shape 19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03994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An abstract genetic concept">
            <a:extLst>
              <a:ext uri="{FF2B5EF4-FFF2-40B4-BE49-F238E27FC236}">
                <a16:creationId xmlns:a16="http://schemas.microsoft.com/office/drawing/2014/main" id="{6DBA6942-0881-F146-DD1A-1CA2632B36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" b="3"/>
          <a:stretch>
            <a:fillRect/>
          </a:stretch>
        </p:blipFill>
        <p:spPr>
          <a:xfrm>
            <a:off x="6595884" y="57974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67336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32259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04059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382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074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7DA1F35B-C8F7-4A5A-9339-7DA4D785B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Arc 65">
            <a:extLst>
              <a:ext uri="{FF2B5EF4-FFF2-40B4-BE49-F238E27FC236}">
                <a16:creationId xmlns:a16="http://schemas.microsoft.com/office/drawing/2014/main" id="{B2D4AD41-40DA-4A81-92F5-B6E3BA1ED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746107">
            <a:off x="8175088" y="457951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7E6513-A0EC-D68E-977E-774F8CA6B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Background</a:t>
            </a:r>
            <a:endParaRPr lang="en-UA" dirty="0"/>
          </a:p>
        </p:txBody>
      </p:sp>
      <p:graphicFrame>
        <p:nvGraphicFramePr>
          <p:cNvPr id="60" name="Content Placeholder 2">
            <a:extLst>
              <a:ext uri="{FF2B5EF4-FFF2-40B4-BE49-F238E27FC236}">
                <a16:creationId xmlns:a16="http://schemas.microsoft.com/office/drawing/2014/main" id="{79E03CB2-75A0-9107-939F-400A1F4398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9283263"/>
              </p:ext>
            </p:extLst>
          </p:nvPr>
        </p:nvGraphicFramePr>
        <p:xfrm>
          <a:off x="838200" y="1825625"/>
          <a:ext cx="10515600" cy="38592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4167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1" name="Rectangle 73">
            <a:extLst>
              <a:ext uri="{FF2B5EF4-FFF2-40B4-BE49-F238E27FC236}">
                <a16:creationId xmlns:a16="http://schemas.microsoft.com/office/drawing/2014/main" id="{77C59BEC-C4CC-4741-B975-08C543178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" name="Arc 75">
            <a:extLst>
              <a:ext uri="{FF2B5EF4-FFF2-40B4-BE49-F238E27FC236}">
                <a16:creationId xmlns:a16="http://schemas.microsoft.com/office/drawing/2014/main" id="{72DEF309-605D-4117-9340-6D589B6C3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6173" flipV="1">
            <a:off x="3930947" y="651615"/>
            <a:ext cx="4083433" cy="408343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7E6513-A0EC-D68E-977E-774F8CA6B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41" y="810778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Objectives</a:t>
            </a:r>
            <a:endParaRPr lang="en-UA" dirty="0"/>
          </a:p>
        </p:txBody>
      </p:sp>
      <p:sp>
        <p:nvSpPr>
          <p:cNvPr id="93" name="Content Placeholder 2">
            <a:extLst>
              <a:ext uri="{FF2B5EF4-FFF2-40B4-BE49-F238E27FC236}">
                <a16:creationId xmlns:a16="http://schemas.microsoft.com/office/drawing/2014/main" id="{02F11EDC-505C-CBF9-8501-76768648B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93361" cy="4221597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200" dirty="0"/>
              <a:t>Identify key risk factors of default  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Build logistic regression model  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Compare with ML models  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Evaluate performance (ROC, AUC)  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Analyze customer feedback </a:t>
            </a:r>
            <a:endParaRPr lang="en-UA" sz="2200" dirty="0"/>
          </a:p>
        </p:txBody>
      </p:sp>
      <p:sp>
        <p:nvSpPr>
          <p:cNvPr id="94" name="Oval 77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77008" y="5228027"/>
            <a:ext cx="1107241" cy="10772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2" name="Graphic 61" descr="Statistics">
            <a:extLst>
              <a:ext uri="{FF2B5EF4-FFF2-40B4-BE49-F238E27FC236}">
                <a16:creationId xmlns:a16="http://schemas.microsoft.com/office/drawing/2014/main" id="{154CCF97-1B2A-E96C-32CB-F880502754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09962" y="1929820"/>
            <a:ext cx="4221597" cy="4221597"/>
          </a:xfrm>
          <a:custGeom>
            <a:avLst/>
            <a:gdLst/>
            <a:ahLst/>
            <a:cxnLst/>
            <a:rect l="l" t="t" r="r" b="b"/>
            <a:pathLst>
              <a:path w="4221597" h="4303912">
                <a:moveTo>
                  <a:pt x="126986" y="0"/>
                </a:moveTo>
                <a:lnTo>
                  <a:pt x="4094611" y="0"/>
                </a:lnTo>
                <a:cubicBezTo>
                  <a:pt x="4164743" y="0"/>
                  <a:pt x="4221597" y="56854"/>
                  <a:pt x="4221597" y="126986"/>
                </a:cubicBezTo>
                <a:lnTo>
                  <a:pt x="4221597" y="4176926"/>
                </a:lnTo>
                <a:cubicBezTo>
                  <a:pt x="4221597" y="4247058"/>
                  <a:pt x="4164743" y="4303912"/>
                  <a:pt x="4094611" y="4303912"/>
                </a:cubicBezTo>
                <a:lnTo>
                  <a:pt x="126986" y="4303912"/>
                </a:lnTo>
                <a:cubicBezTo>
                  <a:pt x="56854" y="4303912"/>
                  <a:pt x="0" y="4247058"/>
                  <a:pt x="0" y="4176926"/>
                </a:cubicBezTo>
                <a:lnTo>
                  <a:pt x="0" y="126986"/>
                </a:lnTo>
                <a:cubicBezTo>
                  <a:pt x="0" y="56854"/>
                  <a:pt x="56854" y="0"/>
                  <a:pt x="126986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759306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A7BA06D-B3FF-4E91-8639-B4569AE3A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2B30C86D-5A07-48BC-9C9D-6F9A2DB1E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155D19-C30E-B598-BDAB-F6429EC2A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1939159"/>
            <a:ext cx="7644627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Phase 1 – Data Management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2">
                <a:lumMod val="75000"/>
              </a:schemeClr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7167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18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Arc 20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DF6439-B400-0E5A-1F65-FA9F422BB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 dirty="0"/>
              <a:t>Data Overview</a:t>
            </a:r>
            <a:endParaRPr lang="en-UA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phic 6" descr="CRM Customer Insights App">
            <a:extLst>
              <a:ext uri="{FF2B5EF4-FFF2-40B4-BE49-F238E27FC236}">
                <a16:creationId xmlns:a16="http://schemas.microsoft.com/office/drawing/2014/main" id="{4100FEE9-F825-E0FE-4EA1-19FA14FD2B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182" y="955437"/>
            <a:ext cx="4777381" cy="4777381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48527623-B8EB-6144-92FF-1A0064F15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Imported 3 structured datasets:</a:t>
            </a:r>
            <a:br>
              <a:rPr lang="en-US"/>
            </a:br>
            <a:endParaRPr lang="uk-UA"/>
          </a:p>
          <a:p>
            <a:r>
              <a:rPr lang="en-US"/>
              <a:t>customer credit details, </a:t>
            </a:r>
            <a:endParaRPr lang="uk-UA"/>
          </a:p>
          <a:p>
            <a:r>
              <a:rPr lang="en-US"/>
              <a:t>customer info, </a:t>
            </a:r>
            <a:endParaRPr lang="uk-UA"/>
          </a:p>
          <a:p>
            <a:r>
              <a:rPr lang="en-US"/>
              <a:t>customer profiles.</a:t>
            </a:r>
            <a:br>
              <a:rPr lang="en-US"/>
            </a:br>
            <a:endParaRPr lang="uk-UA"/>
          </a:p>
          <a:p>
            <a:pPr marL="0" indent="0">
              <a:buNone/>
            </a:pPr>
            <a:r>
              <a:rPr lang="en-US"/>
              <a:t>Merged using </a:t>
            </a:r>
            <a:r>
              <a:rPr lang="en-US" u="sng"/>
              <a:t>custid</a:t>
            </a:r>
            <a:r>
              <a:rPr lang="en-US"/>
              <a:t> to create a master dataset</a:t>
            </a:r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114234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CD81A2A-6ED4-4EF4-A14C-912D31E14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16AD7-50BE-04D4-CA1D-3AA167D2D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724" y="501197"/>
            <a:ext cx="5393361" cy="1325563"/>
          </a:xfrm>
        </p:spPr>
        <p:txBody>
          <a:bodyPr>
            <a:normAutofit/>
          </a:bodyPr>
          <a:lstStyle/>
          <a:p>
            <a:r>
              <a:rPr lang="en-US" dirty="0"/>
              <a:t>Data Preparation</a:t>
            </a:r>
            <a:endParaRPr lang="en-UA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661932C-CA15-4E17-B115-FAE7CBEE4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BEFB702E-0455-3904-8F25-1E92125C66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2725" y="1621880"/>
            <a:ext cx="5393361" cy="3980769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200" dirty="0"/>
              <a:t>Removed duplicates and invalid values  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Handled missing data  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Recoded categorical variables  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Created debt-to-income groups </a:t>
            </a:r>
            <a:endParaRPr lang="en-UA" sz="22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590ADD5-9383-4D3D-9047-3DA2593CC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540822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phic 6" descr="Filter">
            <a:extLst>
              <a:ext uri="{FF2B5EF4-FFF2-40B4-BE49-F238E27FC236}">
                <a16:creationId xmlns:a16="http://schemas.microsoft.com/office/drawing/2014/main" id="{34FD80D5-776E-805D-2102-00C5987D07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87184" y="1216485"/>
            <a:ext cx="3781051" cy="3781051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ABE3E45-88CF-45D8-8D40-C773324D9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CD1692-827B-4C8D-B4A1-134FD04CF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91ECDA9-56DC-4270-8F33-01C5637B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6580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5F47824-961D-465D-84F9-EAE11BC61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EC9DA3E-C1D7-472D-B7C0-F71AE41FB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1725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F1C09-C661-8CB7-6E3F-F63F7081E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Rate</a:t>
            </a:r>
            <a:endParaRPr lang="en-U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29853-4BFA-6542-8E75-59AF10D75A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6"/>
            <a:ext cx="10245436" cy="952500"/>
          </a:xfrm>
        </p:spPr>
        <p:txBody>
          <a:bodyPr/>
          <a:lstStyle/>
          <a:p>
            <a:r>
              <a:rPr lang="en-US" dirty="0"/>
              <a:t>Calculated the overall </a:t>
            </a:r>
            <a:r>
              <a:rPr lang="en-US" b="1" dirty="0"/>
              <a:t>Bad Rate</a:t>
            </a:r>
            <a:r>
              <a:rPr lang="en-US" dirty="0"/>
              <a:t> in the dataset:</a:t>
            </a:r>
            <a:endParaRPr lang="uk-UA" dirty="0"/>
          </a:p>
          <a:p>
            <a:endParaRPr lang="en-UA" dirty="0"/>
          </a:p>
        </p:txBody>
      </p:sp>
      <p:pic>
        <p:nvPicPr>
          <p:cNvPr id="5" name="Picture 4" descr="A close-up of a text&#10;&#10;Description automatically generated">
            <a:extLst>
              <a:ext uri="{FF2B5EF4-FFF2-40B4-BE49-F238E27FC236}">
                <a16:creationId xmlns:a16="http://schemas.microsoft.com/office/drawing/2014/main" id="{B698A307-BD31-B7CA-A58C-1805C8B68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13064"/>
            <a:ext cx="8188037" cy="1696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256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A7BA06D-B3FF-4E91-8639-B4569AE3A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2B30C86D-5A07-48BC-9C9D-6F9A2DB1E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AFC454B-A080-4D23-B177-6D5356C6E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D9E9DD-ACC2-EEEF-CC48-6FDC125F4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1939159"/>
            <a:ext cx="7644627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Phase 2 – Exploratory Data Analysis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58029" y="3334786"/>
            <a:ext cx="1942241" cy="188955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474479" y="1096414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2">
                <a:lumMod val="75000"/>
              </a:schemeClr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188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B0964-685A-B08E-BD46-BCD7F0770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393371"/>
          </a:xfrm>
        </p:spPr>
        <p:txBody>
          <a:bodyPr/>
          <a:lstStyle/>
          <a:p>
            <a:r>
              <a:rPr lang="en-US" dirty="0"/>
              <a:t>Boxplot of Key Debt Variables</a:t>
            </a:r>
            <a:endParaRPr lang="en-UA" dirty="0"/>
          </a:p>
        </p:txBody>
      </p:sp>
      <p:pic>
        <p:nvPicPr>
          <p:cNvPr id="6" name="Picture Placeholder 5" descr="A diagram of a graph&#10;&#10;Description automatically generated">
            <a:extLst>
              <a:ext uri="{FF2B5EF4-FFF2-40B4-BE49-F238E27FC236}">
                <a16:creationId xmlns:a16="http://schemas.microsoft.com/office/drawing/2014/main" id="{983D4687-4C40-E47F-EFB6-303858BF04B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557" r="1557"/>
          <a:stretch>
            <a:fillRect/>
          </a:stretch>
        </p:blipFill>
        <p:spPr>
          <a:xfrm>
            <a:off x="5183188" y="987425"/>
            <a:ext cx="6436884" cy="5082622"/>
          </a:xfrm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A7DE7B53-990D-D7B8-C593-8F3047E35B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4067316"/>
              </p:ext>
            </p:extLst>
          </p:nvPr>
        </p:nvGraphicFramePr>
        <p:xfrm>
          <a:off x="839788" y="2057400"/>
          <a:ext cx="3932237" cy="3811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45728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F7CC2-DB9E-A704-4770-B9292889A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 Variables by Default</a:t>
            </a:r>
            <a:endParaRPr lang="en-UA" dirty="0"/>
          </a:p>
        </p:txBody>
      </p:sp>
      <p:pic>
        <p:nvPicPr>
          <p:cNvPr id="6" name="Picture Placeholder 5" descr="A screenshot of a graph&#10;&#10;Description automatically generated">
            <a:extLst>
              <a:ext uri="{FF2B5EF4-FFF2-40B4-BE49-F238E27FC236}">
                <a16:creationId xmlns:a16="http://schemas.microsoft.com/office/drawing/2014/main" id="{EE2469AC-7179-7FAF-6E6C-CEDC55AA4B0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557" r="1557"/>
          <a:stretch>
            <a:fillRect/>
          </a:stretch>
        </p:blipFill>
        <p:spPr/>
      </p:pic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50A94EC7-BFFD-D4B0-650C-3DCFC1C5A7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0089841"/>
              </p:ext>
            </p:extLst>
          </p:nvPr>
        </p:nvGraphicFramePr>
        <p:xfrm>
          <a:off x="839788" y="2057400"/>
          <a:ext cx="3932237" cy="3811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606546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23DA7759-3209-4FE2-96D1-4EEDD81E9E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41460DAD-8769-4C9F-9C8C-BB0443909D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23536" y="5717905"/>
            <a:ext cx="1771609" cy="1140095"/>
          </a:xfrm>
          <a:custGeom>
            <a:avLst/>
            <a:gdLst/>
            <a:ahLst/>
            <a:cxnLst/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95199994-21AE-49A2-BA0D-12E295989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D77C37-F5FF-28B2-49B3-8BBDA1D12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9570" y="530578"/>
            <a:ext cx="4771178" cy="116011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Bad Rate by Categorical Variables</a:t>
            </a:r>
          </a:p>
        </p:txBody>
      </p:sp>
      <p:pic>
        <p:nvPicPr>
          <p:cNvPr id="20" name="Picture Placeholder 19" descr="A graph of different colored bars&#10;&#10;Description automatically generated">
            <a:extLst>
              <a:ext uri="{FF2B5EF4-FFF2-40B4-BE49-F238E27FC236}">
                <a16:creationId xmlns:a16="http://schemas.microsoft.com/office/drawing/2014/main" id="{148FDD71-45B8-43E9-1A76-01A7CE2F76F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557" r="1557"/>
          <a:stretch>
            <a:fillRect/>
          </a:stretch>
        </p:blipFill>
        <p:spPr>
          <a:xfrm>
            <a:off x="838199" y="1224801"/>
            <a:ext cx="5440195" cy="4295509"/>
          </a:xfrm>
          <a:custGeom>
            <a:avLst/>
            <a:gdLst/>
            <a:ahLst/>
            <a:cxnLst/>
            <a:rect l="l" t="t" r="r" b="b"/>
            <a:pathLst>
              <a:path w="4643496" h="5550370">
                <a:moveTo>
                  <a:pt x="81586" y="0"/>
                </a:moveTo>
                <a:lnTo>
                  <a:pt x="4561910" y="0"/>
                </a:lnTo>
                <a:cubicBezTo>
                  <a:pt x="4606969" y="0"/>
                  <a:pt x="4643496" y="36527"/>
                  <a:pt x="4643496" y="81586"/>
                </a:cubicBezTo>
                <a:lnTo>
                  <a:pt x="4643496" y="5468784"/>
                </a:lnTo>
                <a:cubicBezTo>
                  <a:pt x="4643496" y="5513843"/>
                  <a:pt x="4606969" y="5550370"/>
                  <a:pt x="4561910" y="5550370"/>
                </a:cubicBezTo>
                <a:lnTo>
                  <a:pt x="81586" y="5550370"/>
                </a:lnTo>
                <a:cubicBezTo>
                  <a:pt x="36527" y="5550370"/>
                  <a:pt x="0" y="5513843"/>
                  <a:pt x="0" y="5468784"/>
                </a:cubicBezTo>
                <a:lnTo>
                  <a:pt x="0" y="81586"/>
                </a:lnTo>
                <a:cubicBezTo>
                  <a:pt x="0" y="36527"/>
                  <a:pt x="36527" y="0"/>
                  <a:pt x="81586" y="0"/>
                </a:cubicBezTo>
                <a:close/>
              </a:path>
            </a:pathLst>
          </a:custGeom>
        </p:spPr>
      </p:pic>
      <p:sp>
        <p:nvSpPr>
          <p:cNvPr id="32" name="Arc 31">
            <a:extLst>
              <a:ext uri="{FF2B5EF4-FFF2-40B4-BE49-F238E27FC236}">
                <a16:creationId xmlns:a16="http://schemas.microsoft.com/office/drawing/2014/main" id="{A2C34835-4F79-4934-B151-D68E79764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8717845" y="3339275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C2CBA025-6BAC-F01F-8B04-975CCB23FA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89450567"/>
              </p:ext>
            </p:extLst>
          </p:nvPr>
        </p:nvGraphicFramePr>
        <p:xfrm>
          <a:off x="6769570" y="1825625"/>
          <a:ext cx="4771178" cy="43889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47628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51334-E051-0CDF-4DAC-CE568C28A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Bad Rate by Categorical Variables</a:t>
            </a:r>
            <a:endParaRPr lang="en-UA" dirty="0"/>
          </a:p>
        </p:txBody>
      </p:sp>
      <p:pic>
        <p:nvPicPr>
          <p:cNvPr id="6" name="Picture Placeholder 5" descr="A yellow and purple rectangles&#10;&#10;Description automatically generated">
            <a:extLst>
              <a:ext uri="{FF2B5EF4-FFF2-40B4-BE49-F238E27FC236}">
                <a16:creationId xmlns:a16="http://schemas.microsoft.com/office/drawing/2014/main" id="{CA421ADF-A5CC-9EC6-B470-4AD09B700F5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557" r="1557"/>
          <a:stretch>
            <a:fillRect/>
          </a:stretch>
        </p:blipFill>
        <p:spPr>
          <a:xfrm>
            <a:off x="5299393" y="455668"/>
            <a:ext cx="3235007" cy="2554391"/>
          </a:xfrm>
        </p:spPr>
      </p:pic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D721EB3E-833A-962C-1275-7993D0E6BF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9205212"/>
              </p:ext>
            </p:extLst>
          </p:nvPr>
        </p:nvGraphicFramePr>
        <p:xfrm>
          <a:off x="839787" y="2155371"/>
          <a:ext cx="3932237" cy="3811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Picture 7" descr="A yellow and purple rectangles&#10;&#10;Description automatically generated">
            <a:extLst>
              <a:ext uri="{FF2B5EF4-FFF2-40B4-BE49-F238E27FC236}">
                <a16:creationId xmlns:a16="http://schemas.microsoft.com/office/drawing/2014/main" id="{A46B30C8-0BC0-F951-9B7A-CA72AB6A25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9392" y="3602035"/>
            <a:ext cx="3235007" cy="2474823"/>
          </a:xfrm>
          <a:prstGeom prst="rect">
            <a:avLst/>
          </a:prstGeom>
        </p:spPr>
      </p:pic>
      <p:pic>
        <p:nvPicPr>
          <p:cNvPr id="10" name="Picture 9" descr="A yellow and purple rectangles&#10;&#10;Description automatically generated">
            <a:extLst>
              <a:ext uri="{FF2B5EF4-FFF2-40B4-BE49-F238E27FC236}">
                <a16:creationId xmlns:a16="http://schemas.microsoft.com/office/drawing/2014/main" id="{3272E0BF-F9D4-7E3B-F715-BF4A7D83C2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8643" y="3517245"/>
            <a:ext cx="3345843" cy="2559614"/>
          </a:xfrm>
          <a:prstGeom prst="rect">
            <a:avLst/>
          </a:prstGeom>
        </p:spPr>
      </p:pic>
      <p:pic>
        <p:nvPicPr>
          <p:cNvPr id="12" name="Picture 11" descr="A yellow and purple rectangles&#10;&#10;Description automatically generated">
            <a:extLst>
              <a:ext uri="{FF2B5EF4-FFF2-40B4-BE49-F238E27FC236}">
                <a16:creationId xmlns:a16="http://schemas.microsoft.com/office/drawing/2014/main" id="{230EA89A-9CC2-30EF-4751-C538F21D99C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8643" y="455668"/>
            <a:ext cx="3345842" cy="2559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838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2706B-EBC5-7C41-D363-0CCA3555E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Bad Rate by Categorical Variables</a:t>
            </a:r>
            <a:endParaRPr lang="en-UA" dirty="0"/>
          </a:p>
        </p:txBody>
      </p:sp>
      <p:pic>
        <p:nvPicPr>
          <p:cNvPr id="6" name="Picture Placeholder 5" descr="A yellow and purple rectangles&#10;&#10;Description automatically generated">
            <a:extLst>
              <a:ext uri="{FF2B5EF4-FFF2-40B4-BE49-F238E27FC236}">
                <a16:creationId xmlns:a16="http://schemas.microsoft.com/office/drawing/2014/main" id="{E0471F43-C30A-90DD-6648-2B5033FB6DD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557" r="1557"/>
          <a:stretch>
            <a:fillRect/>
          </a:stretch>
        </p:blipFill>
        <p:spPr>
          <a:xfrm>
            <a:off x="8253009" y="457200"/>
            <a:ext cx="3757109" cy="2966647"/>
          </a:xfrm>
        </p:spPr>
      </p:pic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7E7760C0-DB67-107A-AB61-C2C3BAA492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92116971"/>
              </p:ext>
            </p:extLst>
          </p:nvPr>
        </p:nvGraphicFramePr>
        <p:xfrm>
          <a:off x="839788" y="2166257"/>
          <a:ext cx="3932237" cy="3811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Picture 7" descr="A yellow and purple rectangles&#10;&#10;Description automatically generated">
            <a:extLst>
              <a:ext uri="{FF2B5EF4-FFF2-40B4-BE49-F238E27FC236}">
                <a16:creationId xmlns:a16="http://schemas.microsoft.com/office/drawing/2014/main" id="{9FEEDFEA-E219-586F-0069-8C8CB1DF69F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6876" y="3530874"/>
            <a:ext cx="3482635" cy="2664261"/>
          </a:xfrm>
          <a:prstGeom prst="rect">
            <a:avLst/>
          </a:prstGeom>
        </p:spPr>
      </p:pic>
      <p:pic>
        <p:nvPicPr>
          <p:cNvPr id="10" name="Picture 9" descr="A yellow and purple rectangles&#10;&#10;Description automatically generated">
            <a:extLst>
              <a:ext uri="{FF2B5EF4-FFF2-40B4-BE49-F238E27FC236}">
                <a16:creationId xmlns:a16="http://schemas.microsoft.com/office/drawing/2014/main" id="{70BB3A5D-9120-A1EE-2142-5D4E9A7D1A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76876" y="646272"/>
            <a:ext cx="3482636" cy="2664262"/>
          </a:xfrm>
          <a:prstGeom prst="rect">
            <a:avLst/>
          </a:prstGeom>
        </p:spPr>
      </p:pic>
      <p:pic>
        <p:nvPicPr>
          <p:cNvPr id="12" name="Picture 11" descr="A yellow and purple rectangles&#10;&#10;Description automatically generated">
            <a:extLst>
              <a:ext uri="{FF2B5EF4-FFF2-40B4-BE49-F238E27FC236}">
                <a16:creationId xmlns:a16="http://schemas.microsoft.com/office/drawing/2014/main" id="{E4DEC77C-EA99-045E-59C1-9D8641D3521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59513" y="3530875"/>
            <a:ext cx="3624700" cy="2772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1778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59195-7F8C-DF5F-EA01-650141AA8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Bad Rate by Categorical Variables </a:t>
            </a:r>
            <a:endParaRPr lang="en-UA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8961CC2-B45D-D859-716A-B36607C624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6709678"/>
              </p:ext>
            </p:extLst>
          </p:nvPr>
        </p:nvGraphicFramePr>
        <p:xfrm>
          <a:off x="838200" y="1458686"/>
          <a:ext cx="10297886" cy="42889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258995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27D80-E019-26DA-8E97-AF234E058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Heatmaps of Bad Rate</a:t>
            </a:r>
            <a:endParaRPr lang="en-U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0F406-7CBD-D70E-42D6-E4F2386CB6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r>
              <a:rPr lang="en-US" dirty="0"/>
              <a:t>Heatmap 1: Zone × Marital Status</a:t>
            </a:r>
            <a:endParaRPr lang="en-UA" dirty="0"/>
          </a:p>
        </p:txBody>
      </p:sp>
      <p:graphicFrame>
        <p:nvGraphicFramePr>
          <p:cNvPr id="10" name="Content Placeholder 3">
            <a:extLst>
              <a:ext uri="{FF2B5EF4-FFF2-40B4-BE49-F238E27FC236}">
                <a16:creationId xmlns:a16="http://schemas.microsoft.com/office/drawing/2014/main" id="{C528E794-86D0-BBDB-0850-C7A8149EAA0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47133604"/>
              </p:ext>
            </p:extLst>
          </p:nvPr>
        </p:nvGraphicFramePr>
        <p:xfrm>
          <a:off x="965771" y="2505075"/>
          <a:ext cx="4746661" cy="35183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Content Placeholder 7" descr="A graph of bad rate&#10;&#10;Description automatically generated">
            <a:extLst>
              <a:ext uri="{FF2B5EF4-FFF2-40B4-BE49-F238E27FC236}">
                <a16:creationId xmlns:a16="http://schemas.microsoft.com/office/drawing/2014/main" id="{8A2D7344-DC95-E870-953F-5F1ABE8A66A6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7"/>
          <a:stretch>
            <a:fillRect/>
          </a:stretch>
        </p:blipFill>
        <p:spPr>
          <a:xfrm>
            <a:off x="5838415" y="1101511"/>
            <a:ext cx="6084834" cy="4654978"/>
          </a:xfrm>
        </p:spPr>
      </p:pic>
    </p:spTree>
    <p:extLst>
      <p:ext uri="{BB962C8B-B14F-4D97-AF65-F5344CB8AC3E}">
        <p14:creationId xmlns:p14="http://schemas.microsoft.com/office/powerpoint/2010/main" val="34609383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0E6F2-6214-AD20-753F-005C92BC9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Heatmaps of Bad Rate</a:t>
            </a:r>
            <a:endParaRPr lang="en-U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5E1F42-A98F-D589-2AE6-4E555B828F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r>
              <a:rPr lang="en-US" dirty="0"/>
              <a:t>Heatmap 2: Zone × Child</a:t>
            </a:r>
            <a:endParaRPr lang="en-UA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7AD48EBF-71E8-699F-2950-1A65FC81EF5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87115707"/>
              </p:ext>
            </p:extLst>
          </p:nvPr>
        </p:nvGraphicFramePr>
        <p:xfrm>
          <a:off x="839788" y="2505075"/>
          <a:ext cx="5157787" cy="3684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Content Placeholder 7" descr="A graph with different colored bars&#10;&#10;Description automatically generated with medium confidence">
            <a:extLst>
              <a:ext uri="{FF2B5EF4-FFF2-40B4-BE49-F238E27FC236}">
                <a16:creationId xmlns:a16="http://schemas.microsoft.com/office/drawing/2014/main" id="{2A95692D-F734-050D-72D8-D6A01F4C031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7"/>
          <a:stretch>
            <a:fillRect/>
          </a:stretch>
        </p:blipFill>
        <p:spPr>
          <a:xfrm>
            <a:off x="5903545" y="1385191"/>
            <a:ext cx="5965316" cy="4563545"/>
          </a:xfrm>
        </p:spPr>
      </p:pic>
    </p:spTree>
    <p:extLst>
      <p:ext uri="{BB962C8B-B14F-4D97-AF65-F5344CB8AC3E}">
        <p14:creationId xmlns:p14="http://schemas.microsoft.com/office/powerpoint/2010/main" val="15889442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A7BA06D-B3FF-4E91-8639-B4569AE3A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2B30C86D-5A07-48BC-9C9D-6F9A2DB1E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AFC454B-A080-4D23-B177-6D5356C6E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7D08A4-6024-515C-24C9-28BC8F676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1939159"/>
            <a:ext cx="7644627" cy="275108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r"/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Phase 3</a:t>
            </a:r>
            <a:r>
              <a:rPr lang="uk-UA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,</a:t>
            </a:r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4 – Logistic Regression Modeling, </a:t>
            </a:r>
            <a:r>
              <a:rPr lang="en-US" sz="6000" dirty="0"/>
              <a:t>ML Comparison</a:t>
            </a:r>
            <a:endParaRPr lang="en-US" sz="6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58029" y="3334786"/>
            <a:ext cx="1942241" cy="188955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474479" y="1096414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2">
                <a:lumMod val="75000"/>
              </a:schemeClr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87340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AB6231-5C81-3B75-AF08-054706801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Logistic Regression – Model 2</a:t>
            </a:r>
            <a:endParaRPr lang="en-UA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60813-DE83-080F-0679-4D4C4CFB2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uk-UA" dirty="0" err="1"/>
              <a:t>T</a:t>
            </a:r>
            <a:r>
              <a:rPr lang="en-US" dirty="0"/>
              <a:t>rain/Test split: 80% / 20%</a:t>
            </a:r>
          </a:p>
          <a:p>
            <a:r>
              <a:rPr lang="en-US" dirty="0"/>
              <a:t>Target variable: bad (1 = default)</a:t>
            </a:r>
          </a:p>
          <a:p>
            <a:r>
              <a:rPr lang="en-US" dirty="0"/>
              <a:t>Predictors: </a:t>
            </a:r>
            <a:r>
              <a:rPr lang="en-US" dirty="0" err="1"/>
              <a:t>creddebt</a:t>
            </a:r>
            <a:r>
              <a:rPr lang="en-US" dirty="0"/>
              <a:t>, emp, address, branch, </a:t>
            </a:r>
            <a:r>
              <a:rPr lang="en-US" dirty="0" err="1"/>
              <a:t>debtinc_cat</a:t>
            </a:r>
            <a:endParaRPr lang="en-US" dirty="0"/>
          </a:p>
          <a:p>
            <a:r>
              <a:rPr lang="en-US" dirty="0"/>
              <a:t>All VIF values &lt; 1.3 → no multicollinearity</a:t>
            </a:r>
          </a:p>
          <a:p>
            <a:r>
              <a:rPr lang="en-US" dirty="0"/>
              <a:t>Clean, interpretable model structure</a:t>
            </a:r>
          </a:p>
          <a:p>
            <a:endParaRPr lang="en-UA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38838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43C2D-3A14-67B8-E714-6F63808EC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 Curve – Train Data (Model 2)</a:t>
            </a:r>
            <a:endParaRPr lang="en-UA" dirty="0"/>
          </a:p>
        </p:txBody>
      </p:sp>
      <p:pic>
        <p:nvPicPr>
          <p:cNvPr id="6" name="Picture Placeholder 5" descr="A graph of a curve&#10;&#10;Description automatically generated">
            <a:extLst>
              <a:ext uri="{FF2B5EF4-FFF2-40B4-BE49-F238E27FC236}">
                <a16:creationId xmlns:a16="http://schemas.microsoft.com/office/drawing/2014/main" id="{ECE5429C-C72E-CB75-9A13-387DA99DACA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557" r="1557"/>
          <a:stretch>
            <a:fillRect/>
          </a:stretch>
        </p:blipFill>
        <p:spPr>
          <a:xfrm>
            <a:off x="4772025" y="616528"/>
            <a:ext cx="7123707" cy="5624944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68DBAF-518C-BC65-13E6-3F19612336E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AUC = </a:t>
            </a:r>
            <a:r>
              <a:rPr lang="en-US" b="1" dirty="0"/>
              <a:t>0.7487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Clear separation from diagonal 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Strong discrimination on training 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 sensitivity to identify defaulters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Balanced performance across thresholds</a:t>
            </a:r>
          </a:p>
        </p:txBody>
      </p:sp>
    </p:spTree>
    <p:extLst>
      <p:ext uri="{BB962C8B-B14F-4D97-AF65-F5344CB8AC3E}">
        <p14:creationId xmlns:p14="http://schemas.microsoft.com/office/powerpoint/2010/main" val="3169004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F6C93-70F0-AE4F-30C7-95A0F7AB3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 Curve – Test Data (Model 2)</a:t>
            </a:r>
            <a:endParaRPr lang="en-UA" dirty="0"/>
          </a:p>
        </p:txBody>
      </p:sp>
      <p:pic>
        <p:nvPicPr>
          <p:cNvPr id="6" name="Picture Placeholder 5" descr="A graph of a curve&#10;&#10;Description automatically generated">
            <a:extLst>
              <a:ext uri="{FF2B5EF4-FFF2-40B4-BE49-F238E27FC236}">
                <a16:creationId xmlns:a16="http://schemas.microsoft.com/office/drawing/2014/main" id="{58BB7BBA-9780-671A-0E2D-EE5477566DA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557" r="1557"/>
          <a:stretch>
            <a:fillRect/>
          </a:stretch>
        </p:blipFill>
        <p:spPr>
          <a:xfrm>
            <a:off x="4772025" y="636122"/>
            <a:ext cx="7074078" cy="5585756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834852-0559-223B-FF47-E8FB9FB49FF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AUC = </a:t>
            </a:r>
            <a:r>
              <a:rPr lang="en-US" b="1" dirty="0"/>
              <a:t>0.755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overfitting observed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Consistent generalization to unseen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Model maintains high detection power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Suitable for real-world scoring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Higher debt-to-income ratio increases probability of default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Longer employment reduces risk</a:t>
            </a:r>
          </a:p>
        </p:txBody>
      </p:sp>
    </p:spTree>
    <p:extLst>
      <p:ext uri="{BB962C8B-B14F-4D97-AF65-F5344CB8AC3E}">
        <p14:creationId xmlns:p14="http://schemas.microsoft.com/office/powerpoint/2010/main" val="1723085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11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Arc 13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34B3A7-F330-166E-EB95-4D40F31B4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 dirty="0"/>
              <a:t>Classification Results – Train vs Test</a:t>
            </a:r>
            <a:endParaRPr lang="en-UA" dirty="0"/>
          </a:p>
        </p:txBody>
      </p:sp>
      <p:sp>
        <p:nvSpPr>
          <p:cNvPr id="29" name="Freeform: Shape 15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8" name="Content Placeholder 8">
            <a:extLst>
              <a:ext uri="{FF2B5EF4-FFF2-40B4-BE49-F238E27FC236}">
                <a16:creationId xmlns:a16="http://schemas.microsoft.com/office/drawing/2014/main" id="{01DC574E-83F8-C3BB-680E-59CAAB1AE6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3379693"/>
              </p:ext>
            </p:extLst>
          </p:nvPr>
        </p:nvGraphicFramePr>
        <p:xfrm>
          <a:off x="5894962" y="1984443"/>
          <a:ext cx="5458838" cy="4192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412DD449-194F-7415-E0A1-51774DAF34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3427966"/>
              </p:ext>
            </p:extLst>
          </p:nvPr>
        </p:nvGraphicFramePr>
        <p:xfrm>
          <a:off x="703182" y="1918474"/>
          <a:ext cx="4777383" cy="2851310"/>
        </p:xfrm>
        <a:graphic>
          <a:graphicData uri="http://schemas.openxmlformats.org/drawingml/2006/table">
            <a:tbl>
              <a:tblPr>
                <a:tableStyleId>{69012ECD-51FC-41F1-AA8D-1B2483CD663E}</a:tableStyleId>
              </a:tblPr>
              <a:tblGrid>
                <a:gridCol w="1904473">
                  <a:extLst>
                    <a:ext uri="{9D8B030D-6E8A-4147-A177-3AD203B41FA5}">
                      <a16:colId xmlns:a16="http://schemas.microsoft.com/office/drawing/2014/main" val="2635369949"/>
                    </a:ext>
                  </a:extLst>
                </a:gridCol>
                <a:gridCol w="1436455">
                  <a:extLst>
                    <a:ext uri="{9D8B030D-6E8A-4147-A177-3AD203B41FA5}">
                      <a16:colId xmlns:a16="http://schemas.microsoft.com/office/drawing/2014/main" val="2474533158"/>
                    </a:ext>
                  </a:extLst>
                </a:gridCol>
                <a:gridCol w="1436455">
                  <a:extLst>
                    <a:ext uri="{9D8B030D-6E8A-4147-A177-3AD203B41FA5}">
                      <a16:colId xmlns:a16="http://schemas.microsoft.com/office/drawing/2014/main" val="3595092735"/>
                    </a:ext>
                  </a:extLst>
                </a:gridCol>
              </a:tblGrid>
              <a:tr h="570262">
                <a:tc>
                  <a:txBody>
                    <a:bodyPr/>
                    <a:lstStyle/>
                    <a:p>
                      <a:r>
                        <a:rPr lang="en-US" sz="2600" dirty="0"/>
                        <a:t>Metric</a:t>
                      </a:r>
                    </a:p>
                  </a:txBody>
                  <a:tcPr marL="129605" marR="129605" marT="64802" marB="64802" anchor="ctr"/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Train</a:t>
                      </a:r>
                    </a:p>
                  </a:txBody>
                  <a:tcPr marL="129605" marR="129605" marT="64802" marB="64802" anchor="ctr"/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Test</a:t>
                      </a:r>
                    </a:p>
                  </a:txBody>
                  <a:tcPr marL="129605" marR="129605" marT="64802" marB="64802" anchor="ctr"/>
                </a:tc>
                <a:extLst>
                  <a:ext uri="{0D108BD9-81ED-4DB2-BD59-A6C34878D82A}">
                    <a16:rowId xmlns:a16="http://schemas.microsoft.com/office/drawing/2014/main" val="1543861643"/>
                  </a:ext>
                </a:extLst>
              </a:tr>
              <a:tr h="570262">
                <a:tc>
                  <a:txBody>
                    <a:bodyPr/>
                    <a:lstStyle/>
                    <a:p>
                      <a:r>
                        <a:rPr lang="en-US" sz="2600"/>
                        <a:t>Accuracy</a:t>
                      </a:r>
                    </a:p>
                  </a:txBody>
                  <a:tcPr marL="129605" marR="129605" marT="64802" marB="64802" anchor="ctr"/>
                </a:tc>
                <a:tc>
                  <a:txBody>
                    <a:bodyPr/>
                    <a:lstStyle/>
                    <a:p>
                      <a:r>
                        <a:rPr lang="en-UA" sz="2600" dirty="0"/>
                        <a:t>64.1%</a:t>
                      </a:r>
                    </a:p>
                  </a:txBody>
                  <a:tcPr marL="129605" marR="129605" marT="64802" marB="64802" anchor="ctr"/>
                </a:tc>
                <a:tc>
                  <a:txBody>
                    <a:bodyPr/>
                    <a:lstStyle/>
                    <a:p>
                      <a:r>
                        <a:rPr lang="en-UA" sz="2600"/>
                        <a:t>63.3%</a:t>
                      </a:r>
                    </a:p>
                  </a:txBody>
                  <a:tcPr marL="129605" marR="129605" marT="64802" marB="64802" anchor="ctr"/>
                </a:tc>
                <a:extLst>
                  <a:ext uri="{0D108BD9-81ED-4DB2-BD59-A6C34878D82A}">
                    <a16:rowId xmlns:a16="http://schemas.microsoft.com/office/drawing/2014/main" val="3201528406"/>
                  </a:ext>
                </a:extLst>
              </a:tr>
              <a:tr h="570262">
                <a:tc>
                  <a:txBody>
                    <a:bodyPr/>
                    <a:lstStyle/>
                    <a:p>
                      <a:r>
                        <a:rPr lang="en-US" sz="2600"/>
                        <a:t>Sensitivity</a:t>
                      </a:r>
                    </a:p>
                  </a:txBody>
                  <a:tcPr marL="129605" marR="129605" marT="64802" marB="64802" anchor="ctr"/>
                </a:tc>
                <a:tc>
                  <a:txBody>
                    <a:bodyPr/>
                    <a:lstStyle/>
                    <a:p>
                      <a:r>
                        <a:rPr lang="en-UA" sz="2600"/>
                        <a:t>76.6%</a:t>
                      </a:r>
                    </a:p>
                  </a:txBody>
                  <a:tcPr marL="129605" marR="129605" marT="64802" marB="64802" anchor="ctr"/>
                </a:tc>
                <a:tc>
                  <a:txBody>
                    <a:bodyPr/>
                    <a:lstStyle/>
                    <a:p>
                      <a:r>
                        <a:rPr lang="en-UA" sz="2600"/>
                        <a:t>79.4%</a:t>
                      </a:r>
                    </a:p>
                  </a:txBody>
                  <a:tcPr marL="129605" marR="129605" marT="64802" marB="64802" anchor="ctr"/>
                </a:tc>
                <a:extLst>
                  <a:ext uri="{0D108BD9-81ED-4DB2-BD59-A6C34878D82A}">
                    <a16:rowId xmlns:a16="http://schemas.microsoft.com/office/drawing/2014/main" val="1929439501"/>
                  </a:ext>
                </a:extLst>
              </a:tr>
              <a:tr h="570262">
                <a:tc>
                  <a:txBody>
                    <a:bodyPr/>
                    <a:lstStyle/>
                    <a:p>
                      <a:r>
                        <a:rPr lang="en-US" sz="2600"/>
                        <a:t>Specificity</a:t>
                      </a:r>
                    </a:p>
                  </a:txBody>
                  <a:tcPr marL="129605" marR="129605" marT="64802" marB="64802" anchor="ctr"/>
                </a:tc>
                <a:tc>
                  <a:txBody>
                    <a:bodyPr/>
                    <a:lstStyle/>
                    <a:p>
                      <a:r>
                        <a:rPr lang="en-UA" sz="2600"/>
                        <a:t>62.2%</a:t>
                      </a:r>
                    </a:p>
                  </a:txBody>
                  <a:tcPr marL="129605" marR="129605" marT="64802" marB="64802" anchor="ctr"/>
                </a:tc>
                <a:tc>
                  <a:txBody>
                    <a:bodyPr/>
                    <a:lstStyle/>
                    <a:p>
                      <a:r>
                        <a:rPr lang="en-UA" sz="2600"/>
                        <a:t>60.9%</a:t>
                      </a:r>
                    </a:p>
                  </a:txBody>
                  <a:tcPr marL="129605" marR="129605" marT="64802" marB="64802" anchor="ctr"/>
                </a:tc>
                <a:extLst>
                  <a:ext uri="{0D108BD9-81ED-4DB2-BD59-A6C34878D82A}">
                    <a16:rowId xmlns:a16="http://schemas.microsoft.com/office/drawing/2014/main" val="187487062"/>
                  </a:ext>
                </a:extLst>
              </a:tr>
              <a:tr h="570262">
                <a:tc>
                  <a:txBody>
                    <a:bodyPr/>
                    <a:lstStyle/>
                    <a:p>
                      <a:r>
                        <a:rPr lang="en-US" sz="2600"/>
                        <a:t>AUC</a:t>
                      </a:r>
                    </a:p>
                  </a:txBody>
                  <a:tcPr marL="129605" marR="129605" marT="64802" marB="64802" anchor="ctr"/>
                </a:tc>
                <a:tc>
                  <a:txBody>
                    <a:bodyPr/>
                    <a:lstStyle/>
                    <a:p>
                      <a:r>
                        <a:rPr lang="en-UA" sz="2600"/>
                        <a:t>0.7487</a:t>
                      </a:r>
                    </a:p>
                  </a:txBody>
                  <a:tcPr marL="129605" marR="129605" marT="64802" marB="64802" anchor="ctr"/>
                </a:tc>
                <a:tc>
                  <a:txBody>
                    <a:bodyPr/>
                    <a:lstStyle/>
                    <a:p>
                      <a:r>
                        <a:rPr lang="en-UA" sz="2600" dirty="0"/>
                        <a:t>0.7550</a:t>
                      </a:r>
                    </a:p>
                  </a:txBody>
                  <a:tcPr marL="129605" marR="129605" marT="64802" marB="64802" anchor="ctr"/>
                </a:tc>
                <a:extLst>
                  <a:ext uri="{0D108BD9-81ED-4DB2-BD59-A6C34878D82A}">
                    <a16:rowId xmlns:a16="http://schemas.microsoft.com/office/drawing/2014/main" val="9671438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43005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F00CEF-4353-20C5-5719-A0758D47A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Logistic Regression – Model 3 (Numeric debtinc)</a:t>
            </a:r>
            <a:endParaRPr lang="en-UA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9D59F-B00F-2645-CFF7-E405ECDF4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Replaced </a:t>
            </a:r>
            <a:r>
              <a:rPr lang="en-US" dirty="0" err="1"/>
              <a:t>debtinc_cat</a:t>
            </a:r>
            <a:r>
              <a:rPr lang="en-US" dirty="0"/>
              <a:t> with numeric </a:t>
            </a:r>
            <a:r>
              <a:rPr lang="en-US" dirty="0" err="1"/>
              <a:t>debtinc</a:t>
            </a:r>
            <a:endParaRPr lang="en-US" dirty="0"/>
          </a:p>
          <a:p>
            <a:r>
              <a:rPr lang="en-US" dirty="0"/>
              <a:t>Predictors: </a:t>
            </a:r>
            <a:r>
              <a:rPr lang="en-US" dirty="0" err="1"/>
              <a:t>debtinc</a:t>
            </a:r>
            <a:r>
              <a:rPr lang="en-US" dirty="0"/>
              <a:t>, </a:t>
            </a:r>
            <a:r>
              <a:rPr lang="en-US" dirty="0" err="1"/>
              <a:t>creddebt</a:t>
            </a:r>
            <a:r>
              <a:rPr lang="en-US" dirty="0"/>
              <a:t>, emp, address, branch</a:t>
            </a:r>
          </a:p>
          <a:p>
            <a:r>
              <a:rPr lang="en-US" dirty="0"/>
              <a:t>VIF values &lt; 1.8 → no multicollinearity</a:t>
            </a:r>
          </a:p>
          <a:p>
            <a:r>
              <a:rPr lang="en-US" dirty="0"/>
              <a:t>All variables statistically significant (</a:t>
            </a:r>
            <a:r>
              <a:rPr lang="en-US" b="1" dirty="0"/>
              <a:t>p &lt; 0.01</a:t>
            </a:r>
            <a:r>
              <a:rPr lang="en-US" dirty="0"/>
              <a:t>)</a:t>
            </a:r>
          </a:p>
          <a:p>
            <a:r>
              <a:rPr lang="en-US" dirty="0"/>
              <a:t>Model structure is simple, interpretable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41947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0E0A5-116C-A622-7CC3-C47D093DC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 Curve – Train Data (Model 3)</a:t>
            </a:r>
            <a:endParaRPr lang="en-UA" dirty="0"/>
          </a:p>
        </p:txBody>
      </p:sp>
      <p:pic>
        <p:nvPicPr>
          <p:cNvPr id="6" name="Picture Placeholder 5" descr="A graph of a curve&#10;&#10;Description automatically generated">
            <a:extLst>
              <a:ext uri="{FF2B5EF4-FFF2-40B4-BE49-F238E27FC236}">
                <a16:creationId xmlns:a16="http://schemas.microsoft.com/office/drawing/2014/main" id="{F2F06895-EEE0-2324-1EBE-78DDCB08CEE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557" r="1557"/>
          <a:stretch>
            <a:fillRect/>
          </a:stretch>
        </p:blipFill>
        <p:spPr>
          <a:xfrm>
            <a:off x="4772025" y="542827"/>
            <a:ext cx="7310384" cy="5772345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28F41B-B6AC-DF31-4AE4-80B867DC7F8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AUC = </a:t>
            </a:r>
            <a:r>
              <a:rPr lang="en-US" b="1" dirty="0"/>
              <a:t>0.7483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Curve similar to Model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 sensitivity (~71%)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Balanced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Model fits training data well</a:t>
            </a:r>
          </a:p>
          <a:p>
            <a:endParaRPr lang="en-UA" dirty="0"/>
          </a:p>
        </p:txBody>
      </p:sp>
    </p:spTree>
    <p:extLst>
      <p:ext uri="{BB962C8B-B14F-4D97-AF65-F5344CB8AC3E}">
        <p14:creationId xmlns:p14="http://schemas.microsoft.com/office/powerpoint/2010/main" val="4168168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B2352-291F-04B7-4CD7-3E160570F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 Curve – Test Data (Model 3)</a:t>
            </a:r>
            <a:endParaRPr lang="en-UA" dirty="0"/>
          </a:p>
        </p:txBody>
      </p:sp>
      <p:pic>
        <p:nvPicPr>
          <p:cNvPr id="6" name="Picture Placeholder 5" descr="A graph of a curve&#10;&#10;Description automatically generated">
            <a:extLst>
              <a:ext uri="{FF2B5EF4-FFF2-40B4-BE49-F238E27FC236}">
                <a16:creationId xmlns:a16="http://schemas.microsoft.com/office/drawing/2014/main" id="{24216427-64BA-1070-6B8D-4443AEBEFC6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557" r="1557"/>
          <a:stretch>
            <a:fillRect/>
          </a:stretch>
        </p:blipFill>
        <p:spPr>
          <a:xfrm>
            <a:off x="4772025" y="546883"/>
            <a:ext cx="7300110" cy="5764233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D0024B-89FD-61DD-E55A-DCDE10FF29C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AUC = </a:t>
            </a:r>
            <a:r>
              <a:rPr lang="en-US" b="1" dirty="0"/>
              <a:t>0.7566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Slightly better than Model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Stable generalization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overfitting observed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Performs well on unseen data</a:t>
            </a:r>
          </a:p>
        </p:txBody>
      </p:sp>
    </p:spTree>
    <p:extLst>
      <p:ext uri="{BB962C8B-B14F-4D97-AF65-F5344CB8AC3E}">
        <p14:creationId xmlns:p14="http://schemas.microsoft.com/office/powerpoint/2010/main" val="38181606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3DA7759-3209-4FE2-96D1-4EEDD81E9E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1460DAD-8769-4C9F-9C8C-BB0443909D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23536" y="5717905"/>
            <a:ext cx="1771609" cy="1140095"/>
          </a:xfrm>
          <a:custGeom>
            <a:avLst/>
            <a:gdLst/>
            <a:ahLst/>
            <a:cxnLst/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B94231-A860-671B-FC31-21A7FB0EF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Classification Results – Train vs Test (Model 3)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0" name="Content Placeholder 3">
            <a:extLst>
              <a:ext uri="{FF2B5EF4-FFF2-40B4-BE49-F238E27FC236}">
                <a16:creationId xmlns:a16="http://schemas.microsoft.com/office/drawing/2014/main" id="{86901635-3D3E-48CB-63B5-9DF8C66476D5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894962" y="1984443"/>
          <a:ext cx="5458838" cy="4192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964325D-1E06-B2CA-996D-C555FABB25C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98338158"/>
              </p:ext>
            </p:extLst>
          </p:nvPr>
        </p:nvGraphicFramePr>
        <p:xfrm>
          <a:off x="703182" y="1949919"/>
          <a:ext cx="4777382" cy="2788420"/>
        </p:xfrm>
        <a:graphic>
          <a:graphicData uri="http://schemas.openxmlformats.org/drawingml/2006/table">
            <a:tbl>
              <a:tblPr/>
              <a:tblGrid>
                <a:gridCol w="1819434">
                  <a:extLst>
                    <a:ext uri="{9D8B030D-6E8A-4147-A177-3AD203B41FA5}">
                      <a16:colId xmlns:a16="http://schemas.microsoft.com/office/drawing/2014/main" val="2088771880"/>
                    </a:ext>
                  </a:extLst>
                </a:gridCol>
                <a:gridCol w="1478974">
                  <a:extLst>
                    <a:ext uri="{9D8B030D-6E8A-4147-A177-3AD203B41FA5}">
                      <a16:colId xmlns:a16="http://schemas.microsoft.com/office/drawing/2014/main" val="4025689875"/>
                    </a:ext>
                  </a:extLst>
                </a:gridCol>
                <a:gridCol w="1478974">
                  <a:extLst>
                    <a:ext uri="{9D8B030D-6E8A-4147-A177-3AD203B41FA5}">
                      <a16:colId xmlns:a16="http://schemas.microsoft.com/office/drawing/2014/main" val="1362905495"/>
                    </a:ext>
                  </a:extLst>
                </a:gridCol>
              </a:tblGrid>
              <a:tr h="557684">
                <a:tc>
                  <a:txBody>
                    <a:bodyPr/>
                    <a:lstStyle/>
                    <a:p>
                      <a:r>
                        <a:rPr lang="en-US" sz="2400"/>
                        <a:t>Metric</a:t>
                      </a:r>
                    </a:p>
                  </a:txBody>
                  <a:tcPr marL="107367" marR="107367" marT="53685" marB="53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Train</a:t>
                      </a:r>
                    </a:p>
                  </a:txBody>
                  <a:tcPr marL="107367" marR="107367" marT="53685" marB="53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Test</a:t>
                      </a:r>
                    </a:p>
                  </a:txBody>
                  <a:tcPr marL="107367" marR="107367" marT="53685" marB="53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4160693"/>
                  </a:ext>
                </a:extLst>
              </a:tr>
              <a:tr h="557684">
                <a:tc>
                  <a:txBody>
                    <a:bodyPr/>
                    <a:lstStyle/>
                    <a:p>
                      <a:r>
                        <a:rPr lang="en-US" sz="2400"/>
                        <a:t>Accuracy</a:t>
                      </a:r>
                    </a:p>
                  </a:txBody>
                  <a:tcPr marL="107367" marR="107367" marT="53685" marB="53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/>
                        <a:t>68.19%</a:t>
                      </a:r>
                    </a:p>
                  </a:txBody>
                  <a:tcPr marL="107367" marR="107367" marT="53685" marB="53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/>
                        <a:t>67.46%</a:t>
                      </a:r>
                    </a:p>
                  </a:txBody>
                  <a:tcPr marL="107367" marR="107367" marT="53685" marB="53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7350280"/>
                  </a:ext>
                </a:extLst>
              </a:tr>
              <a:tr h="557684">
                <a:tc>
                  <a:txBody>
                    <a:bodyPr/>
                    <a:lstStyle/>
                    <a:p>
                      <a:r>
                        <a:rPr lang="en-US" sz="2400"/>
                        <a:t>Sensitivity</a:t>
                      </a:r>
                    </a:p>
                  </a:txBody>
                  <a:tcPr marL="107367" marR="107367" marT="53685" marB="53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 dirty="0"/>
                        <a:t>71.22%</a:t>
                      </a:r>
                    </a:p>
                  </a:txBody>
                  <a:tcPr marL="107367" marR="107367" marT="53685" marB="53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/>
                        <a:t>72.83%</a:t>
                      </a:r>
                    </a:p>
                  </a:txBody>
                  <a:tcPr marL="107367" marR="107367" marT="53685" marB="53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7858551"/>
                  </a:ext>
                </a:extLst>
              </a:tr>
              <a:tr h="557684">
                <a:tc>
                  <a:txBody>
                    <a:bodyPr/>
                    <a:lstStyle/>
                    <a:p>
                      <a:r>
                        <a:rPr lang="en-US" sz="2400"/>
                        <a:t>Specificity</a:t>
                      </a:r>
                    </a:p>
                  </a:txBody>
                  <a:tcPr marL="107367" marR="107367" marT="53685" marB="53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/>
                        <a:t>67.73%</a:t>
                      </a:r>
                    </a:p>
                  </a:txBody>
                  <a:tcPr marL="107367" marR="107367" marT="53685" marB="53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/>
                        <a:t>66.64%</a:t>
                      </a:r>
                    </a:p>
                  </a:txBody>
                  <a:tcPr marL="107367" marR="107367" marT="53685" marB="53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7921568"/>
                  </a:ext>
                </a:extLst>
              </a:tr>
              <a:tr h="557684">
                <a:tc>
                  <a:txBody>
                    <a:bodyPr/>
                    <a:lstStyle/>
                    <a:p>
                      <a:r>
                        <a:rPr lang="en-US" sz="2400"/>
                        <a:t>AUC</a:t>
                      </a:r>
                    </a:p>
                  </a:txBody>
                  <a:tcPr marL="107367" marR="107367" marT="53685" marB="53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/>
                        <a:t>0.7483</a:t>
                      </a:r>
                    </a:p>
                  </a:txBody>
                  <a:tcPr marL="107367" marR="107367" marT="53685" marB="53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 dirty="0"/>
                        <a:t>0.7566</a:t>
                      </a:r>
                    </a:p>
                  </a:txBody>
                  <a:tcPr marL="107367" marR="107367" marT="53685" marB="53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04923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33517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C0F8A4-DE2F-BD05-11DD-BAE0508C8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Naive Bayes – Model Overview</a:t>
            </a:r>
            <a:endParaRPr lang="en-UA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DCA95-5485-AD5B-9B7B-1E3A01290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Applied on the same dataset with 80/20 split</a:t>
            </a:r>
          </a:p>
          <a:p>
            <a:r>
              <a:rPr lang="en-US" dirty="0"/>
              <a:t>Used all structured features except </a:t>
            </a:r>
            <a:r>
              <a:rPr lang="en-US" dirty="0" err="1"/>
              <a:t>custid</a:t>
            </a:r>
            <a:endParaRPr lang="en-US" dirty="0"/>
          </a:p>
          <a:p>
            <a:r>
              <a:rPr lang="en-US" dirty="0"/>
              <a:t>Probabilistic model assuming feature independence</a:t>
            </a:r>
          </a:p>
          <a:p>
            <a:r>
              <a:rPr lang="en-US" dirty="0"/>
              <a:t>Fast, simple, and effective for binary classification</a:t>
            </a:r>
          </a:p>
          <a:p>
            <a:r>
              <a:rPr lang="en-US" dirty="0"/>
              <a:t>Good baseline for ML comparison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77115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5F448-E0D8-C76D-1EC5-C063E2E67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ROC Curve – Train Data (Naive Bayes)</a:t>
            </a:r>
            <a:endParaRPr lang="en-UA" dirty="0"/>
          </a:p>
        </p:txBody>
      </p:sp>
      <p:pic>
        <p:nvPicPr>
          <p:cNvPr id="6" name="Picture Placeholder 5" descr="A graph of a curve&#10;&#10;Description automatically generated">
            <a:extLst>
              <a:ext uri="{FF2B5EF4-FFF2-40B4-BE49-F238E27FC236}">
                <a16:creationId xmlns:a16="http://schemas.microsoft.com/office/drawing/2014/main" id="{D59F1B6C-21F9-CB72-4142-68A6C269DFA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557" r="1557"/>
          <a:stretch>
            <a:fillRect/>
          </a:stretch>
        </p:blipFill>
        <p:spPr>
          <a:xfrm>
            <a:off x="4992116" y="639185"/>
            <a:ext cx="7066320" cy="557963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53DA6C-6A94-D240-942F-A64ECC69B64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AUC = </a:t>
            </a:r>
            <a:r>
              <a:rPr lang="en-US" b="1" dirty="0"/>
              <a:t>0.7484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Comparable to logistic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Smooth, consistent curve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sign of overfitting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Performs well on training data</a:t>
            </a:r>
          </a:p>
        </p:txBody>
      </p:sp>
    </p:spTree>
    <p:extLst>
      <p:ext uri="{BB962C8B-B14F-4D97-AF65-F5344CB8AC3E}">
        <p14:creationId xmlns:p14="http://schemas.microsoft.com/office/powerpoint/2010/main" val="4240470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424DC-BE8A-A80F-A983-C0848BE42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 Curve – Test Data (Naive Bayes)</a:t>
            </a:r>
            <a:endParaRPr lang="en-UA" dirty="0"/>
          </a:p>
        </p:txBody>
      </p:sp>
      <p:pic>
        <p:nvPicPr>
          <p:cNvPr id="6" name="Picture Placeholder 5" descr="A graph of a curve&#10;&#10;Description automatically generated">
            <a:extLst>
              <a:ext uri="{FF2B5EF4-FFF2-40B4-BE49-F238E27FC236}">
                <a16:creationId xmlns:a16="http://schemas.microsoft.com/office/drawing/2014/main" id="{A5182625-2B43-2D41-00B1-D83C12C80BD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557" r="1557"/>
          <a:stretch>
            <a:fillRect/>
          </a:stretch>
        </p:blipFill>
        <p:spPr>
          <a:xfrm>
            <a:off x="4772025" y="587524"/>
            <a:ext cx="7197172" cy="5682952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7ED333-40D1-A3AB-CE03-C0FE8DE7D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AUC = </a:t>
            </a:r>
            <a:r>
              <a:rPr lang="en-US" b="1" dirty="0"/>
              <a:t>0.7423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Slightly lower than Model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Consistent with train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Good generalization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Balanced prediction capability</a:t>
            </a:r>
          </a:p>
        </p:txBody>
      </p:sp>
    </p:spTree>
    <p:extLst>
      <p:ext uri="{BB962C8B-B14F-4D97-AF65-F5344CB8AC3E}">
        <p14:creationId xmlns:p14="http://schemas.microsoft.com/office/powerpoint/2010/main" val="27591337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44AAFA-B2B4-6333-93A4-21E02A752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 kern="1200" dirty="0">
                <a:latin typeface="+mj-lt"/>
                <a:ea typeface="+mj-ea"/>
                <a:cs typeface="+mj-cs"/>
              </a:rPr>
              <a:t>Classification Results – Train vs Test</a:t>
            </a:r>
            <a:r>
              <a:rPr lang="uk-UA" dirty="0"/>
              <a:t> </a:t>
            </a:r>
            <a:r>
              <a:rPr lang="en-US" dirty="0"/>
              <a:t>(Naive Bayes)</a:t>
            </a:r>
            <a:endParaRPr lang="en-UA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8" name="Content Placeholder 8">
            <a:extLst>
              <a:ext uri="{FF2B5EF4-FFF2-40B4-BE49-F238E27FC236}">
                <a16:creationId xmlns:a16="http://schemas.microsoft.com/office/drawing/2014/main" id="{34ED391F-9A90-1B13-8143-E187362585A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94962" y="1984443"/>
          <a:ext cx="5458838" cy="4192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26753DFD-176E-5E79-A322-257AE9653B66}"/>
              </a:ext>
            </a:extLst>
          </p:cNvPr>
          <p:cNvGraphicFramePr>
            <a:graphicFrameLocks/>
          </p:cNvGraphicFramePr>
          <p:nvPr/>
        </p:nvGraphicFramePr>
        <p:xfrm>
          <a:off x="703182" y="1980146"/>
          <a:ext cx="4777381" cy="2727965"/>
        </p:xfrm>
        <a:graphic>
          <a:graphicData uri="http://schemas.openxmlformats.org/drawingml/2006/table">
            <a:tbl>
              <a:tblPr/>
              <a:tblGrid>
                <a:gridCol w="1822087">
                  <a:extLst>
                    <a:ext uri="{9D8B030D-6E8A-4147-A177-3AD203B41FA5}">
                      <a16:colId xmlns:a16="http://schemas.microsoft.com/office/drawing/2014/main" val="207399270"/>
                    </a:ext>
                  </a:extLst>
                </a:gridCol>
                <a:gridCol w="1477647">
                  <a:extLst>
                    <a:ext uri="{9D8B030D-6E8A-4147-A177-3AD203B41FA5}">
                      <a16:colId xmlns:a16="http://schemas.microsoft.com/office/drawing/2014/main" val="1346061279"/>
                    </a:ext>
                  </a:extLst>
                </a:gridCol>
                <a:gridCol w="1477647">
                  <a:extLst>
                    <a:ext uri="{9D8B030D-6E8A-4147-A177-3AD203B41FA5}">
                      <a16:colId xmlns:a16="http://schemas.microsoft.com/office/drawing/2014/main" val="2827383617"/>
                    </a:ext>
                  </a:extLst>
                </a:gridCol>
              </a:tblGrid>
              <a:tr h="545593">
                <a:tc>
                  <a:txBody>
                    <a:bodyPr/>
                    <a:lstStyle/>
                    <a:p>
                      <a:r>
                        <a:rPr lang="en-US" sz="2400"/>
                        <a:t>Metric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Train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Test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3903717"/>
                  </a:ext>
                </a:extLst>
              </a:tr>
              <a:tr h="545593">
                <a:tc>
                  <a:txBody>
                    <a:bodyPr/>
                    <a:lstStyle/>
                    <a:p>
                      <a:r>
                        <a:rPr lang="en-US" sz="2400"/>
                        <a:t>Accuracy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/>
                        <a:t>65.49%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/>
                        <a:t>64.3%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9526821"/>
                  </a:ext>
                </a:extLst>
              </a:tr>
              <a:tr h="545593">
                <a:tc>
                  <a:txBody>
                    <a:bodyPr/>
                    <a:lstStyle/>
                    <a:p>
                      <a:r>
                        <a:rPr lang="en-US" sz="2400"/>
                        <a:t>Sensitivity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/>
                        <a:t>71.89%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/>
                        <a:t>70.11%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9475325"/>
                  </a:ext>
                </a:extLst>
              </a:tr>
              <a:tr h="545593">
                <a:tc>
                  <a:txBody>
                    <a:bodyPr/>
                    <a:lstStyle/>
                    <a:p>
                      <a:r>
                        <a:rPr lang="en-US" sz="2400"/>
                        <a:t>Specificity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/>
                        <a:t>64.51%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/>
                        <a:t>63.42%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345392"/>
                  </a:ext>
                </a:extLst>
              </a:tr>
              <a:tr h="545593">
                <a:tc>
                  <a:txBody>
                    <a:bodyPr/>
                    <a:lstStyle/>
                    <a:p>
                      <a:r>
                        <a:rPr lang="en-US" sz="2400"/>
                        <a:t>AUC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/>
                        <a:t>0.7484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/>
                        <a:t>0.7423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0888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80306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C0F8A4-DE2F-BD05-11DD-BAE0508C8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Decision Tree – Model Summary</a:t>
            </a:r>
            <a:endParaRPr lang="en-UA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DCA95-5485-AD5B-9B7B-1E3A01290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Method: </a:t>
            </a:r>
            <a:r>
              <a:rPr lang="en-US" dirty="0" err="1"/>
              <a:t>rpart</a:t>
            </a:r>
            <a:r>
              <a:rPr lang="en-US" dirty="0"/>
              <a:t> (classification tree)</a:t>
            </a:r>
          </a:p>
          <a:p>
            <a:r>
              <a:rPr lang="en-US" dirty="0"/>
              <a:t>Target: bad (1 = default)</a:t>
            </a:r>
          </a:p>
          <a:p>
            <a:r>
              <a:rPr lang="en-US" dirty="0"/>
              <a:t>All structured features used (excluding </a:t>
            </a:r>
            <a:r>
              <a:rPr lang="en-US" dirty="0" err="1"/>
              <a:t>custid</a:t>
            </a:r>
            <a:r>
              <a:rPr lang="en-US" dirty="0"/>
              <a:t>)</a:t>
            </a:r>
          </a:p>
          <a:p>
            <a:r>
              <a:rPr lang="en-US" dirty="0"/>
              <a:t>Tree depth and complexity controlled (cp = 0.01, </a:t>
            </a:r>
            <a:r>
              <a:rPr lang="en-US" dirty="0" err="1"/>
              <a:t>minsplit</a:t>
            </a:r>
            <a:r>
              <a:rPr lang="en-US" dirty="0"/>
              <a:t> = 20)</a:t>
            </a:r>
          </a:p>
          <a:p>
            <a:r>
              <a:rPr lang="en-US" dirty="0"/>
              <a:t>Visualized with </a:t>
            </a:r>
            <a:r>
              <a:rPr lang="en-US" dirty="0" err="1"/>
              <a:t>rpart.plot</a:t>
            </a:r>
            <a:r>
              <a:rPr lang="en-US" dirty="0"/>
              <a:t>()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33714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88D3A-AC77-5CBD-BADC-5DC757DAD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 Curve – Train Data (Decision Tree)</a:t>
            </a:r>
            <a:endParaRPr lang="en-UA" dirty="0"/>
          </a:p>
        </p:txBody>
      </p:sp>
      <p:pic>
        <p:nvPicPr>
          <p:cNvPr id="6" name="Picture Placeholder 5" descr="A graph of a curve&#10;&#10;Description automatically generated">
            <a:extLst>
              <a:ext uri="{FF2B5EF4-FFF2-40B4-BE49-F238E27FC236}">
                <a16:creationId xmlns:a16="http://schemas.microsoft.com/office/drawing/2014/main" id="{E54DCCA7-322A-F1E2-FDE7-F24EB220835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557" r="1557"/>
          <a:stretch>
            <a:fillRect/>
          </a:stretch>
        </p:blipFill>
        <p:spPr>
          <a:xfrm>
            <a:off x="4804453" y="512363"/>
            <a:ext cx="7387547" cy="5833274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820A2C-8305-33DE-4992-C1119FB53A6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AUC = </a:t>
            </a:r>
            <a:r>
              <a:rPr lang="en-US" b="1" dirty="0"/>
              <a:t>0.7435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Curve is strong but less smooth than logistic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 sensitivity (~83%)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Slightly lower specificity (~61%)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Well fitted to training data</a:t>
            </a:r>
          </a:p>
        </p:txBody>
      </p:sp>
    </p:spTree>
    <p:extLst>
      <p:ext uri="{BB962C8B-B14F-4D97-AF65-F5344CB8AC3E}">
        <p14:creationId xmlns:p14="http://schemas.microsoft.com/office/powerpoint/2010/main" val="27881503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7FAC6-0A4E-ADF3-8A03-D21AD87E6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 Curve – Test Data (Decision Tree)</a:t>
            </a:r>
            <a:endParaRPr lang="en-UA" dirty="0"/>
          </a:p>
        </p:txBody>
      </p:sp>
      <p:pic>
        <p:nvPicPr>
          <p:cNvPr id="6" name="Picture Placeholder 5" descr="A graph of a curve&#10;&#10;Description automatically generated">
            <a:extLst>
              <a:ext uri="{FF2B5EF4-FFF2-40B4-BE49-F238E27FC236}">
                <a16:creationId xmlns:a16="http://schemas.microsoft.com/office/drawing/2014/main" id="{3C229F0B-20C7-E981-D8AF-4B5A74704EA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557" r="1557"/>
          <a:stretch>
            <a:fillRect/>
          </a:stretch>
        </p:blipFill>
        <p:spPr>
          <a:xfrm>
            <a:off x="5030787" y="646112"/>
            <a:ext cx="7048773" cy="5565775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05F560-57BA-2EBB-D14F-EC06B321E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AUC = </a:t>
            </a:r>
            <a:r>
              <a:rPr lang="en-US" b="1" dirty="0"/>
              <a:t>0.7381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Good generalization on test 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Sensitivity remains high (~81%)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Specificity lower (~59%)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Performance consistent with training</a:t>
            </a:r>
          </a:p>
        </p:txBody>
      </p:sp>
    </p:spTree>
    <p:extLst>
      <p:ext uri="{BB962C8B-B14F-4D97-AF65-F5344CB8AC3E}">
        <p14:creationId xmlns:p14="http://schemas.microsoft.com/office/powerpoint/2010/main" val="22349068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6BE3CC-9022-03AB-CF33-D32EFD19F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 kern="1200" dirty="0">
                <a:latin typeface="+mj-lt"/>
                <a:ea typeface="+mj-ea"/>
                <a:cs typeface="+mj-cs"/>
              </a:rPr>
              <a:t>Classification Results – Train vs Test</a:t>
            </a:r>
            <a:r>
              <a:rPr lang="uk-UA" kern="1200" dirty="0">
                <a:latin typeface="+mj-lt"/>
                <a:ea typeface="+mj-ea"/>
                <a:cs typeface="+mj-cs"/>
              </a:rPr>
              <a:t> </a:t>
            </a:r>
            <a:r>
              <a:rPr lang="en-US" dirty="0"/>
              <a:t>(Decision Tree)</a:t>
            </a:r>
            <a:endParaRPr lang="en-UA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8" name="Content Placeholder 8">
            <a:extLst>
              <a:ext uri="{FF2B5EF4-FFF2-40B4-BE49-F238E27FC236}">
                <a16:creationId xmlns:a16="http://schemas.microsoft.com/office/drawing/2014/main" id="{ADD19C0F-5F39-763C-FBA8-D123A22AC71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94962" y="1984443"/>
          <a:ext cx="5458838" cy="4192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74D97361-669F-6494-1FC1-1E6A241882EB}"/>
              </a:ext>
            </a:extLst>
          </p:cNvPr>
          <p:cNvGraphicFramePr>
            <a:graphicFrameLocks/>
          </p:cNvGraphicFramePr>
          <p:nvPr/>
        </p:nvGraphicFramePr>
        <p:xfrm>
          <a:off x="703182" y="1980146"/>
          <a:ext cx="4777381" cy="2727965"/>
        </p:xfrm>
        <a:graphic>
          <a:graphicData uri="http://schemas.openxmlformats.org/drawingml/2006/table">
            <a:tbl>
              <a:tblPr/>
              <a:tblGrid>
                <a:gridCol w="1822087">
                  <a:extLst>
                    <a:ext uri="{9D8B030D-6E8A-4147-A177-3AD203B41FA5}">
                      <a16:colId xmlns:a16="http://schemas.microsoft.com/office/drawing/2014/main" val="1165538276"/>
                    </a:ext>
                  </a:extLst>
                </a:gridCol>
                <a:gridCol w="1477647">
                  <a:extLst>
                    <a:ext uri="{9D8B030D-6E8A-4147-A177-3AD203B41FA5}">
                      <a16:colId xmlns:a16="http://schemas.microsoft.com/office/drawing/2014/main" val="2980352078"/>
                    </a:ext>
                  </a:extLst>
                </a:gridCol>
                <a:gridCol w="1477647">
                  <a:extLst>
                    <a:ext uri="{9D8B030D-6E8A-4147-A177-3AD203B41FA5}">
                      <a16:colId xmlns:a16="http://schemas.microsoft.com/office/drawing/2014/main" val="743828593"/>
                    </a:ext>
                  </a:extLst>
                </a:gridCol>
              </a:tblGrid>
              <a:tr h="545593">
                <a:tc>
                  <a:txBody>
                    <a:bodyPr/>
                    <a:lstStyle/>
                    <a:p>
                      <a:r>
                        <a:rPr lang="en-US" sz="2400"/>
                        <a:t>Metric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Train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Test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3569845"/>
                  </a:ext>
                </a:extLst>
              </a:tr>
              <a:tr h="545593">
                <a:tc>
                  <a:txBody>
                    <a:bodyPr/>
                    <a:lstStyle/>
                    <a:p>
                      <a:r>
                        <a:rPr lang="en-US" sz="2400"/>
                        <a:t>Accuracy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/>
                        <a:t>63.64%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/>
                        <a:t>61.86%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9026794"/>
                  </a:ext>
                </a:extLst>
              </a:tr>
              <a:tr h="545593">
                <a:tc>
                  <a:txBody>
                    <a:bodyPr/>
                    <a:lstStyle/>
                    <a:p>
                      <a:r>
                        <a:rPr lang="en-US" sz="2400"/>
                        <a:t>Sensitivity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/>
                        <a:t>83.38%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/>
                        <a:t>80.98%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8318543"/>
                  </a:ext>
                </a:extLst>
              </a:tr>
              <a:tr h="545593">
                <a:tc>
                  <a:txBody>
                    <a:bodyPr/>
                    <a:lstStyle/>
                    <a:p>
                      <a:r>
                        <a:rPr lang="en-US" sz="2400"/>
                        <a:t>Specificity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/>
                        <a:t>60.63%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/>
                        <a:t>58.96%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5727373"/>
                  </a:ext>
                </a:extLst>
              </a:tr>
              <a:tr h="545593">
                <a:tc>
                  <a:txBody>
                    <a:bodyPr/>
                    <a:lstStyle/>
                    <a:p>
                      <a:r>
                        <a:rPr lang="en-US" sz="2400"/>
                        <a:t>AUC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 dirty="0"/>
                        <a:t>0.7435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 dirty="0"/>
                        <a:t>0.7381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94288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99157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A958A7-CE65-9BDB-64A1-5E14C1017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Random Forest – Model Summary</a:t>
            </a:r>
            <a:endParaRPr lang="en-UA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EE544-5225-E611-1D9D-B8A46E370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Model type: Random Forest (500 trees)</a:t>
            </a:r>
          </a:p>
          <a:p>
            <a:r>
              <a:rPr lang="en-US" dirty="0"/>
              <a:t>Target: bad (1 = default)</a:t>
            </a:r>
          </a:p>
          <a:p>
            <a:r>
              <a:rPr lang="en-US" dirty="0"/>
              <a:t>Features: all structured variables (excluding </a:t>
            </a:r>
            <a:r>
              <a:rPr lang="en-US" dirty="0" err="1"/>
              <a:t>custid</a:t>
            </a:r>
            <a:r>
              <a:rPr lang="en-US" dirty="0"/>
              <a:t>)</a:t>
            </a:r>
          </a:p>
          <a:p>
            <a:r>
              <a:rPr lang="en-US" dirty="0"/>
              <a:t>Parameters: </a:t>
            </a:r>
            <a:r>
              <a:rPr lang="en-US" dirty="0" err="1"/>
              <a:t>ntree</a:t>
            </a:r>
            <a:r>
              <a:rPr lang="en-US" dirty="0"/>
              <a:t> = 500, </a:t>
            </a:r>
            <a:r>
              <a:rPr lang="en-US" dirty="0" err="1"/>
              <a:t>mtry</a:t>
            </a:r>
            <a:r>
              <a:rPr lang="en-US" dirty="0"/>
              <a:t> = 3</a:t>
            </a:r>
          </a:p>
          <a:p>
            <a:r>
              <a:rPr lang="en-US" dirty="0"/>
              <a:t>Captures complex non-linear relationships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72883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DBE92-8655-AC89-548B-9FCCBE751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 Curve – Train Data (Random Forest)</a:t>
            </a:r>
            <a:endParaRPr lang="en-UA" dirty="0"/>
          </a:p>
        </p:txBody>
      </p:sp>
      <p:pic>
        <p:nvPicPr>
          <p:cNvPr id="6" name="Picture Placeholder 5" descr="A graph of a function&#10;&#10;Description automatically generated">
            <a:extLst>
              <a:ext uri="{FF2B5EF4-FFF2-40B4-BE49-F238E27FC236}">
                <a16:creationId xmlns:a16="http://schemas.microsoft.com/office/drawing/2014/main" id="{37E6AC7B-A4DB-CF52-E53C-63DB31BDD02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557" r="1557"/>
          <a:stretch>
            <a:fillRect/>
          </a:stretch>
        </p:blipFill>
        <p:spPr>
          <a:xfrm>
            <a:off x="4772025" y="590764"/>
            <a:ext cx="7188965" cy="5676472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0999E7-7D18-A9BB-D936-D8E64D0E8CF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AUC = </a:t>
            </a:r>
            <a:r>
              <a:rPr lang="en-US" b="1" dirty="0"/>
              <a:t>1.0000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Accuracy = </a:t>
            </a:r>
            <a:r>
              <a:rPr lang="en-US" b="1" dirty="0"/>
              <a:t>100%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Sensitivity = </a:t>
            </a:r>
            <a:r>
              <a:rPr lang="en-US" b="1" dirty="0"/>
              <a:t>100%</a:t>
            </a:r>
            <a:r>
              <a:rPr lang="en-US" dirty="0"/>
              <a:t>, Specificity = </a:t>
            </a:r>
            <a:r>
              <a:rPr lang="en-US" b="1" dirty="0"/>
              <a:t>100%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Perfect fit on training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Likely overfitting</a:t>
            </a:r>
          </a:p>
          <a:p>
            <a:endParaRPr lang="en-UA" dirty="0"/>
          </a:p>
        </p:txBody>
      </p:sp>
    </p:spTree>
    <p:extLst>
      <p:ext uri="{BB962C8B-B14F-4D97-AF65-F5344CB8AC3E}">
        <p14:creationId xmlns:p14="http://schemas.microsoft.com/office/powerpoint/2010/main" val="32502833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C8D94-14D5-D489-E22C-8C46139FF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 Curve – Test Data (Random Forest)</a:t>
            </a:r>
            <a:endParaRPr lang="en-UA" dirty="0"/>
          </a:p>
        </p:txBody>
      </p:sp>
      <p:pic>
        <p:nvPicPr>
          <p:cNvPr id="6" name="Picture Placeholder 5" descr="A graph of a curve&#10;&#10;Description automatically generated">
            <a:extLst>
              <a:ext uri="{FF2B5EF4-FFF2-40B4-BE49-F238E27FC236}">
                <a16:creationId xmlns:a16="http://schemas.microsoft.com/office/drawing/2014/main" id="{D1157F58-C588-BB55-15A7-CE346997604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557" r="1557"/>
          <a:stretch>
            <a:fillRect/>
          </a:stretch>
        </p:blipFill>
        <p:spPr>
          <a:xfrm>
            <a:off x="4926333" y="593885"/>
            <a:ext cx="7181059" cy="5670229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3CBECF-C072-4172-8769-6119E9C2714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AUC = </a:t>
            </a:r>
            <a:r>
              <a:rPr lang="en-US" b="1" dirty="0"/>
              <a:t>0.7885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Accuracy = </a:t>
            </a:r>
            <a:r>
              <a:rPr lang="en-US" b="1" dirty="0"/>
              <a:t>86.81%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Sensitivity = </a:t>
            </a:r>
            <a:r>
              <a:rPr lang="en-US" b="1" dirty="0"/>
              <a:t>0.54%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Specificity = </a:t>
            </a:r>
            <a:r>
              <a:rPr lang="en-US" b="1" dirty="0"/>
              <a:t>99.92%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Model predicts most cases as non-defaulters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Severe imbalance in classification</a:t>
            </a:r>
          </a:p>
          <a:p>
            <a:endParaRPr lang="en-UA" dirty="0"/>
          </a:p>
        </p:txBody>
      </p:sp>
    </p:spTree>
    <p:extLst>
      <p:ext uri="{BB962C8B-B14F-4D97-AF65-F5344CB8AC3E}">
        <p14:creationId xmlns:p14="http://schemas.microsoft.com/office/powerpoint/2010/main" val="9156705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18">
            <a:extLst>
              <a:ext uri="{FF2B5EF4-FFF2-40B4-BE49-F238E27FC236}">
                <a16:creationId xmlns:a16="http://schemas.microsoft.com/office/drawing/2014/main" id="{4AC6B390-BC59-4F1D-A0EE-D71A92F0A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Freeform: Shape 20">
            <a:extLst>
              <a:ext uri="{FF2B5EF4-FFF2-40B4-BE49-F238E27FC236}">
                <a16:creationId xmlns:a16="http://schemas.microsoft.com/office/drawing/2014/main" id="{B6C60D79-16F1-4C4B-B7E3-7634E7069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19137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Arc 22">
            <a:extLst>
              <a:ext uri="{FF2B5EF4-FFF2-40B4-BE49-F238E27FC236}">
                <a16:creationId xmlns:a16="http://schemas.microsoft.com/office/drawing/2014/main" id="{426B127E-6498-4C77-9C9D-4553A5113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2050" y="65016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1B51B-DFF8-4966-749B-B8F238CDD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9493"/>
            <a:ext cx="5257800" cy="1325563"/>
          </a:xfrm>
        </p:spPr>
        <p:txBody>
          <a:bodyPr>
            <a:normAutofit/>
          </a:bodyPr>
          <a:lstStyle/>
          <a:p>
            <a:r>
              <a:rPr lang="en-US" sz="3000" kern="1200">
                <a:latin typeface="+mj-lt"/>
                <a:ea typeface="+mj-ea"/>
                <a:cs typeface="+mj-cs"/>
              </a:rPr>
              <a:t>Classification Results – Train vs Test</a:t>
            </a:r>
            <a:r>
              <a:rPr lang="uk-UA" sz="3000" kern="1200">
                <a:latin typeface="+mj-lt"/>
                <a:ea typeface="+mj-ea"/>
                <a:cs typeface="+mj-cs"/>
              </a:rPr>
              <a:t> </a:t>
            </a:r>
            <a:r>
              <a:rPr lang="en-US" sz="3000"/>
              <a:t>(Random Forest)</a:t>
            </a:r>
            <a:endParaRPr lang="en-UA" sz="3000"/>
          </a:p>
        </p:txBody>
      </p:sp>
      <p:graphicFrame>
        <p:nvGraphicFramePr>
          <p:cNvPr id="25" name="Content Placeholder 15">
            <a:extLst>
              <a:ext uri="{FF2B5EF4-FFF2-40B4-BE49-F238E27FC236}">
                <a16:creationId xmlns:a16="http://schemas.microsoft.com/office/drawing/2014/main" id="{DFCB6DF7-0625-8145-54A0-E20C16C883F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1" y="1984443"/>
          <a:ext cx="5257800" cy="4192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4" name="Content Placeholder 3">
            <a:extLst>
              <a:ext uri="{FF2B5EF4-FFF2-40B4-BE49-F238E27FC236}">
                <a16:creationId xmlns:a16="http://schemas.microsoft.com/office/drawing/2014/main" id="{89E15B4C-E1B0-C8A2-2594-93EA8A57E1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24063245"/>
              </p:ext>
            </p:extLst>
          </p:nvPr>
        </p:nvGraphicFramePr>
        <p:xfrm>
          <a:off x="6541053" y="1858911"/>
          <a:ext cx="4777382" cy="2967471"/>
        </p:xfrm>
        <a:graphic>
          <a:graphicData uri="http://schemas.openxmlformats.org/drawingml/2006/table">
            <a:tbl>
              <a:tblPr/>
              <a:tblGrid>
                <a:gridCol w="1762758">
                  <a:extLst>
                    <a:ext uri="{9D8B030D-6E8A-4147-A177-3AD203B41FA5}">
                      <a16:colId xmlns:a16="http://schemas.microsoft.com/office/drawing/2014/main" val="3553007371"/>
                    </a:ext>
                  </a:extLst>
                </a:gridCol>
                <a:gridCol w="1592036">
                  <a:extLst>
                    <a:ext uri="{9D8B030D-6E8A-4147-A177-3AD203B41FA5}">
                      <a16:colId xmlns:a16="http://schemas.microsoft.com/office/drawing/2014/main" val="1793936277"/>
                    </a:ext>
                  </a:extLst>
                </a:gridCol>
                <a:gridCol w="1422588">
                  <a:extLst>
                    <a:ext uri="{9D8B030D-6E8A-4147-A177-3AD203B41FA5}">
                      <a16:colId xmlns:a16="http://schemas.microsoft.com/office/drawing/2014/main" val="3467608914"/>
                    </a:ext>
                  </a:extLst>
                </a:gridCol>
              </a:tblGrid>
              <a:tr h="520109">
                <a:tc>
                  <a:txBody>
                    <a:bodyPr/>
                    <a:lstStyle/>
                    <a:p>
                      <a:r>
                        <a:rPr lang="en-US" sz="2400"/>
                        <a:t>Metric</a:t>
                      </a:r>
                    </a:p>
                  </a:txBody>
                  <a:tcPr marL="123830" marR="123830" marT="61914" marB="61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Train</a:t>
                      </a:r>
                    </a:p>
                  </a:txBody>
                  <a:tcPr marL="123830" marR="123830" marT="61914" marB="61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Test</a:t>
                      </a:r>
                    </a:p>
                  </a:txBody>
                  <a:tcPr marL="123830" marR="123830" marT="61914" marB="61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528967"/>
                  </a:ext>
                </a:extLst>
              </a:tr>
              <a:tr h="520109">
                <a:tc>
                  <a:txBody>
                    <a:bodyPr/>
                    <a:lstStyle/>
                    <a:p>
                      <a:r>
                        <a:rPr lang="en-US" sz="2400"/>
                        <a:t>Accuracy</a:t>
                      </a:r>
                    </a:p>
                  </a:txBody>
                  <a:tcPr marL="123830" marR="123830" marT="61914" marB="61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/>
                        <a:t>100.00%</a:t>
                      </a:r>
                    </a:p>
                  </a:txBody>
                  <a:tcPr marL="123830" marR="123830" marT="61914" marB="61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/>
                        <a:t>86.81%</a:t>
                      </a:r>
                    </a:p>
                  </a:txBody>
                  <a:tcPr marL="123830" marR="123830" marT="61914" marB="61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0893397"/>
                  </a:ext>
                </a:extLst>
              </a:tr>
              <a:tr h="887035">
                <a:tc>
                  <a:txBody>
                    <a:bodyPr/>
                    <a:lstStyle/>
                    <a:p>
                      <a:r>
                        <a:rPr lang="en-US" sz="2400"/>
                        <a:t>Sensitivity</a:t>
                      </a:r>
                    </a:p>
                  </a:txBody>
                  <a:tcPr marL="123830" marR="123830" marT="61914" marB="61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/>
                        <a:t>100.00%</a:t>
                      </a:r>
                    </a:p>
                  </a:txBody>
                  <a:tcPr marL="123830" marR="123830" marT="61914" marB="61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 b="1"/>
                        <a:t>0.54%</a:t>
                      </a:r>
                      <a:r>
                        <a:rPr lang="en-UA" sz="2400"/>
                        <a:t> ⚠</a:t>
                      </a:r>
                    </a:p>
                  </a:txBody>
                  <a:tcPr marL="123830" marR="123830" marT="61914" marB="61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2902224"/>
                  </a:ext>
                </a:extLst>
              </a:tr>
              <a:tr h="520109">
                <a:tc>
                  <a:txBody>
                    <a:bodyPr/>
                    <a:lstStyle/>
                    <a:p>
                      <a:r>
                        <a:rPr lang="en-US" sz="2400"/>
                        <a:t>Specificity</a:t>
                      </a:r>
                    </a:p>
                  </a:txBody>
                  <a:tcPr marL="123830" marR="123830" marT="61914" marB="61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/>
                        <a:t>100.00%</a:t>
                      </a:r>
                    </a:p>
                  </a:txBody>
                  <a:tcPr marL="123830" marR="123830" marT="61914" marB="61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/>
                        <a:t>99.92%</a:t>
                      </a:r>
                    </a:p>
                  </a:txBody>
                  <a:tcPr marL="123830" marR="123830" marT="61914" marB="61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8092729"/>
                  </a:ext>
                </a:extLst>
              </a:tr>
              <a:tr h="520109">
                <a:tc>
                  <a:txBody>
                    <a:bodyPr/>
                    <a:lstStyle/>
                    <a:p>
                      <a:r>
                        <a:rPr lang="en-US" sz="2400"/>
                        <a:t>AUC</a:t>
                      </a:r>
                    </a:p>
                  </a:txBody>
                  <a:tcPr marL="123830" marR="123830" marT="61914" marB="61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/>
                        <a:t>1.0000</a:t>
                      </a:r>
                    </a:p>
                  </a:txBody>
                  <a:tcPr marL="123830" marR="123830" marT="61914" marB="61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/>
                        <a:t>0.7885</a:t>
                      </a:r>
                    </a:p>
                  </a:txBody>
                  <a:tcPr marL="123830" marR="123830" marT="61914" marB="61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3283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43310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0">
            <a:extLst>
              <a:ext uri="{FF2B5EF4-FFF2-40B4-BE49-F238E27FC236}">
                <a16:creationId xmlns:a16="http://schemas.microsoft.com/office/drawing/2014/main" id="{4AC6B390-BC59-4F1D-A0EE-D71A92F0A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Freeform: Shape 22">
            <a:extLst>
              <a:ext uri="{FF2B5EF4-FFF2-40B4-BE49-F238E27FC236}">
                <a16:creationId xmlns:a16="http://schemas.microsoft.com/office/drawing/2014/main" id="{B6C60D79-16F1-4C4B-B7E3-7634E7069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19137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Arc 24">
            <a:extLst>
              <a:ext uri="{FF2B5EF4-FFF2-40B4-BE49-F238E27FC236}">
                <a16:creationId xmlns:a16="http://schemas.microsoft.com/office/drawing/2014/main" id="{426B127E-6498-4C77-9C9D-4553A5113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2050" y="65016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A74256-98A6-A1CF-BC7F-EC6FE07DD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9493"/>
            <a:ext cx="5257800" cy="1325563"/>
          </a:xfrm>
        </p:spPr>
        <p:txBody>
          <a:bodyPr>
            <a:normAutofit/>
          </a:bodyPr>
          <a:lstStyle/>
          <a:p>
            <a:r>
              <a:rPr lang="en-US" dirty="0"/>
              <a:t>Model Comparison – Test Data Performance</a:t>
            </a:r>
            <a:endParaRPr lang="en-UA" dirty="0"/>
          </a:p>
        </p:txBody>
      </p:sp>
      <p:sp>
        <p:nvSpPr>
          <p:cNvPr id="30" name="Content Placeholder 8">
            <a:extLst>
              <a:ext uri="{FF2B5EF4-FFF2-40B4-BE49-F238E27FC236}">
                <a16:creationId xmlns:a16="http://schemas.microsoft.com/office/drawing/2014/main" id="{166B7FAE-21D6-5618-0ED6-FCFFB184A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984443"/>
            <a:ext cx="5257800" cy="419252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200" b="1" dirty="0"/>
              <a:t>Random Forest</a:t>
            </a:r>
            <a:r>
              <a:rPr lang="en-US" sz="2200" dirty="0"/>
              <a:t> has highest AUC and accuracy, but </a:t>
            </a:r>
            <a:r>
              <a:rPr lang="en-US" sz="2200" b="1" dirty="0"/>
              <a:t>fails to detect defaulters</a:t>
            </a:r>
            <a:r>
              <a:rPr lang="en-US" sz="2200" dirty="0"/>
              <a:t> (very low sensitivity)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/>
              <a:t>Decision Tree</a:t>
            </a:r>
            <a:r>
              <a:rPr lang="en-US" sz="2200" dirty="0"/>
              <a:t> and </a:t>
            </a:r>
            <a:r>
              <a:rPr lang="en-US" sz="2200" b="1" dirty="0"/>
              <a:t>Logistic Model 2</a:t>
            </a:r>
            <a:r>
              <a:rPr lang="en-US" sz="2200" dirty="0"/>
              <a:t> have the best sensitivity → better for risk control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/>
              <a:t>Logistic Model 3</a:t>
            </a:r>
            <a:r>
              <a:rPr lang="en-US" sz="2200" dirty="0"/>
              <a:t> offers best </a:t>
            </a:r>
            <a:r>
              <a:rPr lang="en-US" sz="2200" b="1" dirty="0"/>
              <a:t>balance</a:t>
            </a:r>
            <a:r>
              <a:rPr lang="en-US" sz="2200" dirty="0"/>
              <a:t> of accuracy, sensitivity, and AUC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/>
              <a:t>Naive Bayes</a:t>
            </a:r>
            <a:r>
              <a:rPr lang="en-US" sz="2200" dirty="0"/>
              <a:t> performs consistently, slightly behind logistic models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8091EE4C-0DA3-3AE2-D224-835D0E4A6C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7911339"/>
              </p:ext>
            </p:extLst>
          </p:nvPr>
        </p:nvGraphicFramePr>
        <p:xfrm>
          <a:off x="6541053" y="1623810"/>
          <a:ext cx="4777383" cy="3437675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</a:tblPr>
              <a:tblGrid>
                <a:gridCol w="927771">
                  <a:extLst>
                    <a:ext uri="{9D8B030D-6E8A-4147-A177-3AD203B41FA5}">
                      <a16:colId xmlns:a16="http://schemas.microsoft.com/office/drawing/2014/main" val="1271995186"/>
                    </a:ext>
                  </a:extLst>
                </a:gridCol>
                <a:gridCol w="796689">
                  <a:extLst>
                    <a:ext uri="{9D8B030D-6E8A-4147-A177-3AD203B41FA5}">
                      <a16:colId xmlns:a16="http://schemas.microsoft.com/office/drawing/2014/main" val="2544641236"/>
                    </a:ext>
                  </a:extLst>
                </a:gridCol>
                <a:gridCol w="973947">
                  <a:extLst>
                    <a:ext uri="{9D8B030D-6E8A-4147-A177-3AD203B41FA5}">
                      <a16:colId xmlns:a16="http://schemas.microsoft.com/office/drawing/2014/main" val="209930243"/>
                    </a:ext>
                  </a:extLst>
                </a:gridCol>
                <a:gridCol w="1039488">
                  <a:extLst>
                    <a:ext uri="{9D8B030D-6E8A-4147-A177-3AD203B41FA5}">
                      <a16:colId xmlns:a16="http://schemas.microsoft.com/office/drawing/2014/main" val="1698416535"/>
                    </a:ext>
                  </a:extLst>
                </a:gridCol>
                <a:gridCol w="1039488">
                  <a:extLst>
                    <a:ext uri="{9D8B030D-6E8A-4147-A177-3AD203B41FA5}">
                      <a16:colId xmlns:a16="http://schemas.microsoft.com/office/drawing/2014/main" val="2679394259"/>
                    </a:ext>
                  </a:extLst>
                </a:gridCol>
              </a:tblGrid>
              <a:tr h="406115">
                <a:tc>
                  <a:txBody>
                    <a:bodyPr/>
                    <a:lstStyle/>
                    <a:p>
                      <a:r>
                        <a:rPr lang="en-US" sz="1300" b="0" cap="none" spc="0">
                          <a:solidFill>
                            <a:schemeClr val="bg1"/>
                          </a:solidFill>
                        </a:rPr>
                        <a:t>Model</a:t>
                      </a:r>
                    </a:p>
                  </a:txBody>
                  <a:tcPr marL="111538" marR="66684" marT="85799" marB="857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cap="none" spc="0">
                          <a:solidFill>
                            <a:schemeClr val="bg1"/>
                          </a:solidFill>
                        </a:rPr>
                        <a:t>AUC</a:t>
                      </a:r>
                    </a:p>
                  </a:txBody>
                  <a:tcPr marL="111538" marR="66684" marT="85799" marB="85799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cap="none" spc="0">
                          <a:solidFill>
                            <a:schemeClr val="bg1"/>
                          </a:solidFill>
                        </a:rPr>
                        <a:t>Accuracy</a:t>
                      </a:r>
                    </a:p>
                  </a:txBody>
                  <a:tcPr marL="111538" marR="66684" marT="85799" marB="85799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cap="none" spc="0">
                          <a:solidFill>
                            <a:schemeClr val="bg1"/>
                          </a:solidFill>
                        </a:rPr>
                        <a:t>Sensitivity</a:t>
                      </a:r>
                    </a:p>
                  </a:txBody>
                  <a:tcPr marL="111538" marR="66684" marT="85799" marB="85799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cap="none" spc="0">
                          <a:solidFill>
                            <a:schemeClr val="bg1"/>
                          </a:solidFill>
                        </a:rPr>
                        <a:t>Specificity</a:t>
                      </a:r>
                    </a:p>
                  </a:txBody>
                  <a:tcPr marL="111538" marR="66684" marT="85799" marB="85799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4427554"/>
                  </a:ext>
                </a:extLst>
              </a:tr>
              <a:tr h="606312">
                <a:tc>
                  <a:txBody>
                    <a:bodyPr/>
                    <a:lstStyle/>
                    <a:p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Logistic Model 2</a:t>
                      </a:r>
                    </a:p>
                  </a:txBody>
                  <a:tcPr marL="111538" marR="66684" marT="85799" marB="857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A" sz="1300" cap="none" spc="0">
                          <a:solidFill>
                            <a:schemeClr val="tx1"/>
                          </a:solidFill>
                        </a:rPr>
                        <a:t>0.7550</a:t>
                      </a:r>
                    </a:p>
                  </a:txBody>
                  <a:tcPr marL="111538" marR="66684" marT="85799" marB="857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A" sz="1300" cap="none" spc="0">
                          <a:solidFill>
                            <a:schemeClr val="tx1"/>
                          </a:solidFill>
                        </a:rPr>
                        <a:t>63.3%</a:t>
                      </a:r>
                    </a:p>
                  </a:txBody>
                  <a:tcPr marL="111538" marR="66684" marT="85799" marB="857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A" sz="1300" b="1" cap="none" spc="0">
                          <a:solidFill>
                            <a:schemeClr val="tx1"/>
                          </a:solidFill>
                        </a:rPr>
                        <a:t>79.4%</a:t>
                      </a:r>
                      <a:endParaRPr lang="en-UA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1538" marR="66684" marT="85799" marB="857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A" sz="1300" cap="none" spc="0">
                          <a:solidFill>
                            <a:schemeClr val="tx1"/>
                          </a:solidFill>
                        </a:rPr>
                        <a:t>60.9%</a:t>
                      </a:r>
                    </a:p>
                  </a:txBody>
                  <a:tcPr marL="111538" marR="66684" marT="85799" marB="857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4127960"/>
                  </a:ext>
                </a:extLst>
              </a:tr>
              <a:tr h="606312">
                <a:tc>
                  <a:txBody>
                    <a:bodyPr/>
                    <a:lstStyle/>
                    <a:p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Logistic Model 3</a:t>
                      </a:r>
                    </a:p>
                  </a:txBody>
                  <a:tcPr marL="111538" marR="66684" marT="85799" marB="857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A" sz="1300" cap="none" spc="0">
                          <a:solidFill>
                            <a:schemeClr val="tx1"/>
                          </a:solidFill>
                        </a:rPr>
                        <a:t>0.7566</a:t>
                      </a:r>
                    </a:p>
                  </a:txBody>
                  <a:tcPr marL="111538" marR="66684" marT="85799" marB="857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A" sz="1300" cap="none" spc="0">
                          <a:solidFill>
                            <a:schemeClr val="tx1"/>
                          </a:solidFill>
                        </a:rPr>
                        <a:t>67.5%</a:t>
                      </a:r>
                    </a:p>
                  </a:txBody>
                  <a:tcPr marL="111538" marR="66684" marT="85799" marB="857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A" sz="1300" cap="none" spc="0">
                          <a:solidFill>
                            <a:schemeClr val="tx1"/>
                          </a:solidFill>
                        </a:rPr>
                        <a:t>72.8%</a:t>
                      </a:r>
                    </a:p>
                  </a:txBody>
                  <a:tcPr marL="111538" marR="66684" marT="85799" marB="857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A" sz="1300" cap="none" spc="0">
                          <a:solidFill>
                            <a:schemeClr val="tx1"/>
                          </a:solidFill>
                        </a:rPr>
                        <a:t>66.6%</a:t>
                      </a:r>
                    </a:p>
                  </a:txBody>
                  <a:tcPr marL="111538" marR="66684" marT="85799" marB="857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2917542"/>
                  </a:ext>
                </a:extLst>
              </a:tr>
              <a:tr h="606312">
                <a:tc>
                  <a:txBody>
                    <a:bodyPr/>
                    <a:lstStyle/>
                    <a:p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Naive Bayes</a:t>
                      </a:r>
                    </a:p>
                  </a:txBody>
                  <a:tcPr marL="111538" marR="66684" marT="85799" marB="857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A" sz="1300" cap="none" spc="0">
                          <a:solidFill>
                            <a:schemeClr val="tx1"/>
                          </a:solidFill>
                        </a:rPr>
                        <a:t>0.7423</a:t>
                      </a:r>
                    </a:p>
                  </a:txBody>
                  <a:tcPr marL="111538" marR="66684" marT="85799" marB="857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A" sz="1300" cap="none" spc="0">
                          <a:solidFill>
                            <a:schemeClr val="tx1"/>
                          </a:solidFill>
                        </a:rPr>
                        <a:t>64.3%</a:t>
                      </a:r>
                    </a:p>
                  </a:txBody>
                  <a:tcPr marL="111538" marR="66684" marT="85799" marB="857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A" sz="1300" cap="none" spc="0">
                          <a:solidFill>
                            <a:schemeClr val="tx1"/>
                          </a:solidFill>
                        </a:rPr>
                        <a:t>70.1%</a:t>
                      </a:r>
                    </a:p>
                  </a:txBody>
                  <a:tcPr marL="111538" marR="66684" marT="85799" marB="857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A" sz="1300" cap="none" spc="0">
                          <a:solidFill>
                            <a:schemeClr val="tx1"/>
                          </a:solidFill>
                        </a:rPr>
                        <a:t>63.4%</a:t>
                      </a:r>
                    </a:p>
                  </a:txBody>
                  <a:tcPr marL="111538" marR="66684" marT="85799" marB="857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4975817"/>
                  </a:ext>
                </a:extLst>
              </a:tr>
              <a:tr h="606312">
                <a:tc>
                  <a:txBody>
                    <a:bodyPr/>
                    <a:lstStyle/>
                    <a:p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Decision Tree</a:t>
                      </a:r>
                    </a:p>
                  </a:txBody>
                  <a:tcPr marL="111538" marR="66684" marT="85799" marB="857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A" sz="1300" cap="none" spc="0">
                          <a:solidFill>
                            <a:schemeClr val="tx1"/>
                          </a:solidFill>
                        </a:rPr>
                        <a:t>0.7381</a:t>
                      </a:r>
                    </a:p>
                  </a:txBody>
                  <a:tcPr marL="111538" marR="66684" marT="85799" marB="857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A" sz="1300" cap="none" spc="0">
                          <a:solidFill>
                            <a:schemeClr val="tx1"/>
                          </a:solidFill>
                        </a:rPr>
                        <a:t>61.9%</a:t>
                      </a:r>
                    </a:p>
                  </a:txBody>
                  <a:tcPr marL="111538" marR="66684" marT="85799" marB="857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A" sz="1300" b="1" cap="none" spc="0">
                          <a:solidFill>
                            <a:schemeClr val="tx1"/>
                          </a:solidFill>
                        </a:rPr>
                        <a:t>81.0%</a:t>
                      </a:r>
                      <a:endParaRPr lang="en-UA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1538" marR="66684" marT="85799" marB="857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A" sz="1300" cap="none" spc="0">
                          <a:solidFill>
                            <a:schemeClr val="tx1"/>
                          </a:solidFill>
                        </a:rPr>
                        <a:t>59.0%</a:t>
                      </a:r>
                    </a:p>
                  </a:txBody>
                  <a:tcPr marL="111538" marR="66684" marT="85799" marB="857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3392780"/>
                  </a:ext>
                </a:extLst>
              </a:tr>
              <a:tr h="606312">
                <a:tc>
                  <a:txBody>
                    <a:bodyPr/>
                    <a:lstStyle/>
                    <a:p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Random Forest</a:t>
                      </a:r>
                    </a:p>
                  </a:txBody>
                  <a:tcPr marL="111538" marR="66684" marT="85799" marB="857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A" sz="1300" b="1" cap="none" spc="0">
                          <a:solidFill>
                            <a:schemeClr val="tx1"/>
                          </a:solidFill>
                        </a:rPr>
                        <a:t>0.7885</a:t>
                      </a:r>
                      <a:endParaRPr lang="en-UA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1538" marR="66684" marT="85799" marB="857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A" sz="1300" b="1" cap="none" spc="0">
                          <a:solidFill>
                            <a:schemeClr val="tx1"/>
                          </a:solidFill>
                        </a:rPr>
                        <a:t>86.8%</a:t>
                      </a:r>
                      <a:endParaRPr lang="en-UA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1538" marR="66684" marT="85799" marB="857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A" sz="1300" cap="none" spc="0">
                          <a:solidFill>
                            <a:schemeClr val="tx1"/>
                          </a:solidFill>
                        </a:rPr>
                        <a:t>⚠ 0.54%</a:t>
                      </a:r>
                    </a:p>
                  </a:txBody>
                  <a:tcPr marL="111538" marR="66684" marT="85799" marB="857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A" sz="1300" b="1" cap="none" spc="0">
                          <a:solidFill>
                            <a:schemeClr val="tx1"/>
                          </a:solidFill>
                        </a:rPr>
                        <a:t>99.9%</a:t>
                      </a:r>
                      <a:endParaRPr lang="en-UA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1538" marR="66684" marT="85799" marB="857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405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86835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A7BA06D-B3FF-4E91-8639-B4569AE3A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2B30C86D-5A07-48BC-9C9D-6F9A2DB1E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EF30C2-29AC-4A0D-BC0A-A679CF113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A804283-B929-4503-802F-4585376E2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48239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1087403"/>
            <a:ext cx="8191500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04F1504-431A-4D86-9091-AE7E4B33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19910" y="1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D3811F5-514E-49A4-B382-673ED228A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229605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66A0658-1CC4-4B0D-AAB7-A702286AF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785759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Arc 22">
            <a:extLst>
              <a:ext uri="{FF2B5EF4-FFF2-40B4-BE49-F238E27FC236}">
                <a16:creationId xmlns:a16="http://schemas.microsoft.com/office/drawing/2014/main" id="{C36A08F5-3B56-47C5-A371-9187BE56E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6568884" y="4203427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4E116A-8F6B-1885-F80C-315BE7130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561" y="2744662"/>
            <a:ext cx="6589707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Phase 5 – Text Analysis Results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67AD921-1CEE-4C1B-9AA3-C66D908DD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49" y="2949740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70619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98AEF-DA45-0409-F3E7-B8AB6EB3A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Feedback Words</a:t>
            </a:r>
            <a:endParaRPr lang="en-UA" dirty="0"/>
          </a:p>
        </p:txBody>
      </p:sp>
      <p:pic>
        <p:nvPicPr>
          <p:cNvPr id="5" name="Content Placeholder 4" descr="A graph with blue bars&#10;&#10;Description automatically generated">
            <a:extLst>
              <a:ext uri="{FF2B5EF4-FFF2-40B4-BE49-F238E27FC236}">
                <a16:creationId xmlns:a16="http://schemas.microsoft.com/office/drawing/2014/main" id="{696350FD-EA4D-E651-546C-00E408CF31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67157" y="1399658"/>
            <a:ext cx="6657686" cy="5093217"/>
          </a:xfrm>
        </p:spPr>
      </p:pic>
    </p:spTree>
    <p:extLst>
      <p:ext uri="{BB962C8B-B14F-4D97-AF65-F5344CB8AC3E}">
        <p14:creationId xmlns:p14="http://schemas.microsoft.com/office/powerpoint/2010/main" val="18616496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42324-8E2F-8E38-3D8B-68EBA5A40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 Cloud – Customer Feedback</a:t>
            </a:r>
            <a:endParaRPr lang="en-UA" dirty="0"/>
          </a:p>
        </p:txBody>
      </p:sp>
      <p:pic>
        <p:nvPicPr>
          <p:cNvPr id="5" name="Content Placeholder 4" descr="A close-up of words&#10;&#10;Description automatically generated">
            <a:extLst>
              <a:ext uri="{FF2B5EF4-FFF2-40B4-BE49-F238E27FC236}">
                <a16:creationId xmlns:a16="http://schemas.microsoft.com/office/drawing/2014/main" id="{3EFE4DE8-2197-2CD6-2366-DE13F9EBFF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272470"/>
            <a:ext cx="6823942" cy="5220405"/>
          </a:xfrm>
        </p:spPr>
      </p:pic>
      <p:pic>
        <p:nvPicPr>
          <p:cNvPr id="7" name="Picture 6" descr="A graph with blue and red squares&#10;&#10;Description automatically generated">
            <a:extLst>
              <a:ext uri="{FF2B5EF4-FFF2-40B4-BE49-F238E27FC236}">
                <a16:creationId xmlns:a16="http://schemas.microsoft.com/office/drawing/2014/main" id="{BEC13305-C06D-6219-34C7-F26EA69C4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90688"/>
            <a:ext cx="5559268" cy="4252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0129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DA1F35B-C8F7-4A5A-9339-7DA4D785B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B2D4AD41-40DA-4A81-92F5-B6E3BA1ED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746107">
            <a:off x="8175088" y="457951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8DF79C-9B13-323C-2009-1731B43E9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Conclusions &amp; Recommendations</a:t>
            </a:r>
            <a:br>
              <a:rPr lang="en-US" b="1" dirty="0"/>
            </a:br>
            <a:endParaRPr lang="en-UA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F46EFC8-B831-FB67-F85F-6414E842E5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5508666"/>
              </p:ext>
            </p:extLst>
          </p:nvPr>
        </p:nvGraphicFramePr>
        <p:xfrm>
          <a:off x="838200" y="1399309"/>
          <a:ext cx="9688286" cy="48708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23472401"/>
      </p:ext>
    </p:extLst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Gestalt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Festival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apesVTI" id="{C78D20FD-A872-4243-8597-B534C62538FF}" vid="{7CAFCCF9-7834-41D6-B6AB-7D225A18A4E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{087F6402-CAC7-E44E-A3E5-A84DBB6AFDDD}tf10001121_mac</Template>
  <TotalTime>895</TotalTime>
  <Words>1418</Words>
  <Application>Microsoft Macintosh PowerPoint</Application>
  <PresentationFormat>Widescreen</PresentationFormat>
  <Paragraphs>314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Arial</vt:lpstr>
      <vt:lpstr>Calibri</vt:lpstr>
      <vt:lpstr>Century Gothic</vt:lpstr>
      <vt:lpstr>ShapesVTI</vt:lpstr>
      <vt:lpstr>Credit Scoring in the Banking Sector</vt:lpstr>
      <vt:lpstr>Background</vt:lpstr>
      <vt:lpstr>Objectives</vt:lpstr>
      <vt:lpstr>Phase 1 – Data Management</vt:lpstr>
      <vt:lpstr>Data Overview</vt:lpstr>
      <vt:lpstr>Data Preparation</vt:lpstr>
      <vt:lpstr>Default Rate</vt:lpstr>
      <vt:lpstr>Phase 2 – Exploratory Data Analysis</vt:lpstr>
      <vt:lpstr>Boxplot of Key Debt Variables</vt:lpstr>
      <vt:lpstr>Numeric Variables by Default</vt:lpstr>
      <vt:lpstr>Bad Rate by Categorical Variables</vt:lpstr>
      <vt:lpstr>Bad Rate by Categorical Variables</vt:lpstr>
      <vt:lpstr>Bad Rate by Categorical Variables</vt:lpstr>
      <vt:lpstr>Bad Rate by Categorical Variables </vt:lpstr>
      <vt:lpstr>Heatmaps of Bad Rate</vt:lpstr>
      <vt:lpstr>Heatmaps of Bad Rate</vt:lpstr>
      <vt:lpstr>Phase 3,4 – Logistic Regression Modeling, ML Comparison</vt:lpstr>
      <vt:lpstr>Logistic Regression – Model 2</vt:lpstr>
      <vt:lpstr>ROC Curve – Train Data (Model 2)</vt:lpstr>
      <vt:lpstr>ROC Curve – Test Data (Model 2)</vt:lpstr>
      <vt:lpstr>Classification Results – Train vs Test</vt:lpstr>
      <vt:lpstr>Logistic Regression – Model 3 (Numeric debtinc)</vt:lpstr>
      <vt:lpstr>ROC Curve – Train Data (Model 3)</vt:lpstr>
      <vt:lpstr>ROC Curve – Test Data (Model 3)</vt:lpstr>
      <vt:lpstr>Classification Results – Train vs Test (Model 3)</vt:lpstr>
      <vt:lpstr>Naive Bayes – Model Overview</vt:lpstr>
      <vt:lpstr>ROC Curve – Train Data (Naive Bayes)</vt:lpstr>
      <vt:lpstr>ROC Curve – Test Data (Naive Bayes)</vt:lpstr>
      <vt:lpstr>Classification Results – Train vs Test (Naive Bayes)</vt:lpstr>
      <vt:lpstr>Decision Tree – Model Summary</vt:lpstr>
      <vt:lpstr>ROC Curve – Train Data (Decision Tree)</vt:lpstr>
      <vt:lpstr>ROC Curve – Test Data (Decision Tree)</vt:lpstr>
      <vt:lpstr>Classification Results – Train vs Test (Decision Tree)</vt:lpstr>
      <vt:lpstr>Random Forest – Model Summary</vt:lpstr>
      <vt:lpstr>ROC Curve – Train Data (Random Forest)</vt:lpstr>
      <vt:lpstr>ROC Curve – Test Data (Random Forest)</vt:lpstr>
      <vt:lpstr>Classification Results – Train vs Test (Random Forest)</vt:lpstr>
      <vt:lpstr>Model Comparison – Test Data Performance</vt:lpstr>
      <vt:lpstr>Phase 5 – Text Analysis Results</vt:lpstr>
      <vt:lpstr>Top Feedback Words</vt:lpstr>
      <vt:lpstr>Word Cloud – Customer Feedback</vt:lpstr>
      <vt:lpstr>Conclusions &amp; Recommendations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Scoring in the Banking Sector</dc:title>
  <dc:creator>kseniyatkachuk22@gmail.com</dc:creator>
  <cp:lastModifiedBy>kseniyatkachuk22@gmail.com</cp:lastModifiedBy>
  <cp:revision>12</cp:revision>
  <dcterms:created xsi:type="dcterms:W3CDTF">2025-06-30T18:16:14Z</dcterms:created>
  <dcterms:modified xsi:type="dcterms:W3CDTF">2026-04-23T14:19:53Z</dcterms:modified>
</cp:coreProperties>
</file>